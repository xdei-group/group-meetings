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1" r:id="rId4"/>
    <p:sldMasterId id="2147483657" r:id="rId5"/>
  </p:sldMasterIdLst>
  <p:notesMasterIdLst>
    <p:notesMasterId r:id="rId7"/>
  </p:notesMasterIdLst>
  <p:handoutMasterIdLst>
    <p:handoutMasterId r:id="rId19"/>
  </p:handoutMasterIdLst>
  <p:sldIdLst>
    <p:sldId id="511" r:id="rId6"/>
    <p:sldId id="501" r:id="rId8"/>
    <p:sldId id="553" r:id="rId9"/>
    <p:sldId id="504" r:id="rId10"/>
    <p:sldId id="540" r:id="rId11"/>
    <p:sldId id="568" r:id="rId12"/>
    <p:sldId id="575" r:id="rId13"/>
    <p:sldId id="570" r:id="rId14"/>
    <p:sldId id="571" r:id="rId15"/>
    <p:sldId id="572" r:id="rId16"/>
    <p:sldId id="573" r:id="rId17"/>
    <p:sldId id="577" r:id="rId18"/>
  </p:sldIdLst>
  <p:sldSz cx="12192000" cy="6858000"/>
  <p:notesSz cx="6400800" cy="86868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8D8"/>
    <a:srgbClr val="DDD6E5"/>
    <a:srgbClr val="D5DFEB"/>
    <a:srgbClr val="F2DCDA"/>
    <a:srgbClr val="F4CCEB"/>
    <a:srgbClr val="132646"/>
    <a:srgbClr val="D81ED4"/>
    <a:srgbClr val="FFFFFF"/>
    <a:srgbClr val="1A3AAE"/>
    <a:srgbClr val="405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29" autoAdjust="0"/>
    <p:restoredTop sz="97840" autoAdjust="0"/>
  </p:normalViewPr>
  <p:slideViewPr>
    <p:cSldViewPr snapToGrid="0">
      <p:cViewPr varScale="1">
        <p:scale>
          <a:sx n="209" d="100"/>
          <a:sy n="209" d="100"/>
        </p:scale>
        <p:origin x="96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435849"/>
          </a:xfrm>
          <a:prstGeom prst="rect">
            <a:avLst/>
          </a:prstGeom>
        </p:spPr>
        <p:txBody>
          <a:bodyPr vert="horz" lIns="86204" tIns="43102" rIns="86204" bIns="43102" rtlCol="0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625639" y="1"/>
            <a:ext cx="2773680" cy="435849"/>
          </a:xfrm>
          <a:prstGeom prst="rect">
            <a:avLst/>
          </a:prstGeom>
        </p:spPr>
        <p:txBody>
          <a:bodyPr vert="horz" lIns="86204" tIns="43102" rIns="86204" bIns="43102" rtlCol="0"/>
          <a:lstStyle>
            <a:lvl1pPr algn="r">
              <a:defRPr sz="1100"/>
            </a:lvl1pPr>
          </a:lstStyle>
          <a:p>
            <a:fld id="{0555FF2B-F1B6-4B5E-B303-C4B7126BE2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250953"/>
            <a:ext cx="2773680" cy="435848"/>
          </a:xfrm>
          <a:prstGeom prst="rect">
            <a:avLst/>
          </a:prstGeom>
        </p:spPr>
        <p:txBody>
          <a:bodyPr vert="horz" lIns="86204" tIns="43102" rIns="86204" bIns="43102" rtlCol="0" anchor="b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625639" y="8250953"/>
            <a:ext cx="2773680" cy="435848"/>
          </a:xfrm>
          <a:prstGeom prst="rect">
            <a:avLst/>
          </a:prstGeom>
        </p:spPr>
        <p:txBody>
          <a:bodyPr vert="horz" lIns="86204" tIns="43102" rIns="86204" bIns="43102" rtlCol="0" anchor="b"/>
          <a:lstStyle>
            <a:lvl1pPr algn="r">
              <a:defRPr sz="1100"/>
            </a:lvl1pPr>
          </a:lstStyle>
          <a:p>
            <a:fld id="{88421FC9-6813-476A-87F4-00B1EDF9B9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435849"/>
          </a:xfrm>
          <a:prstGeom prst="rect">
            <a:avLst/>
          </a:prstGeom>
        </p:spPr>
        <p:txBody>
          <a:bodyPr vert="horz" lIns="86204" tIns="43102" rIns="86204" bIns="43102" rtlCol="0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625639" y="1"/>
            <a:ext cx="2773680" cy="435849"/>
          </a:xfrm>
          <a:prstGeom prst="rect">
            <a:avLst/>
          </a:prstGeom>
        </p:spPr>
        <p:txBody>
          <a:bodyPr vert="horz" lIns="86204" tIns="43102" rIns="86204" bIns="43102" rtlCol="0"/>
          <a:lstStyle>
            <a:lvl1pPr algn="r">
              <a:defRPr sz="1100"/>
            </a:lvl1pPr>
          </a:lstStyle>
          <a:p>
            <a:fld id="{AE577F17-DC5B-4794-84B4-2C1BEF0B39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085850"/>
            <a:ext cx="521017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6204" tIns="43102" rIns="86204" bIns="4310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40080" y="4180522"/>
            <a:ext cx="5120640" cy="3420428"/>
          </a:xfrm>
          <a:prstGeom prst="rect">
            <a:avLst/>
          </a:prstGeom>
        </p:spPr>
        <p:txBody>
          <a:bodyPr vert="horz" lIns="86204" tIns="43102" rIns="86204" bIns="43102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250953"/>
            <a:ext cx="2773680" cy="435848"/>
          </a:xfrm>
          <a:prstGeom prst="rect">
            <a:avLst/>
          </a:prstGeom>
        </p:spPr>
        <p:txBody>
          <a:bodyPr vert="horz" lIns="86204" tIns="43102" rIns="86204" bIns="43102" rtlCol="0" anchor="b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625639" y="8250953"/>
            <a:ext cx="2773680" cy="435848"/>
          </a:xfrm>
          <a:prstGeom prst="rect">
            <a:avLst/>
          </a:prstGeom>
        </p:spPr>
        <p:txBody>
          <a:bodyPr vert="horz" lIns="86204" tIns="43102" rIns="86204" bIns="43102" rtlCol="0" anchor="b"/>
          <a:lstStyle>
            <a:lvl1pPr algn="r">
              <a:defRPr sz="1100"/>
            </a:lvl1pPr>
          </a:lstStyle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95313" y="1085850"/>
            <a:ext cx="5210175" cy="29321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0423E-972D-4D84-B636-E9380346F9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509208" y="6492876"/>
            <a:ext cx="682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AC94E1C-6DC0-4E92-BBA5-D0F177145F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4E1C-6DC0-4E92-BBA5-D0F177145F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35"/>
          <p:cNvSpPr>
            <a:spLocks noChangeArrowheads="1"/>
          </p:cNvSpPr>
          <p:nvPr userDrawn="1"/>
        </p:nvSpPr>
        <p:spPr bwMode="auto">
          <a:xfrm>
            <a:off x="0" y="6429080"/>
            <a:ext cx="12192000" cy="42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93" name="矩形 54"/>
          <p:cNvSpPr>
            <a:spLocks noChangeArrowheads="1"/>
          </p:cNvSpPr>
          <p:nvPr userDrawn="1"/>
        </p:nvSpPr>
        <p:spPr bwMode="auto">
          <a:xfrm>
            <a:off x="0" y="1"/>
            <a:ext cx="12192000" cy="631161"/>
          </a:xfrm>
          <a:prstGeom prst="rect">
            <a:avLst/>
          </a:prstGeom>
          <a:solidFill>
            <a:srgbClr val="132646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68685" cy="6293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135"/>
          <p:cNvSpPr>
            <a:spLocks noChangeArrowheads="1"/>
          </p:cNvSpPr>
          <p:nvPr userDrawn="1"/>
        </p:nvSpPr>
        <p:spPr bwMode="auto">
          <a:xfrm>
            <a:off x="0" y="6429080"/>
            <a:ext cx="12192000" cy="42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 1"/>
          <p:cNvSpPr>
            <a:spLocks noChangeArrowheads="1"/>
          </p:cNvSpPr>
          <p:nvPr userDrawn="1"/>
        </p:nvSpPr>
        <p:spPr bwMode="auto">
          <a:xfrm>
            <a:off x="0" y="502603"/>
            <a:ext cx="12192000" cy="48379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 sz="1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5"/>
          <p:cNvSpPr>
            <a:spLocks noChangeArrowheads="1"/>
          </p:cNvSpPr>
          <p:nvPr userDrawn="1"/>
        </p:nvSpPr>
        <p:spPr bwMode="auto">
          <a:xfrm>
            <a:off x="8798985" y="133350"/>
            <a:ext cx="79798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绪论</a:t>
            </a:r>
            <a:endParaRPr lang="zh-CN" altLang="zh-CN" sz="1800"/>
          </a:p>
        </p:txBody>
      </p:sp>
      <p:sp>
        <p:nvSpPr>
          <p:cNvPr id="10" name="矩形 7"/>
          <p:cNvSpPr>
            <a:spLocks noChangeArrowheads="1"/>
          </p:cNvSpPr>
          <p:nvPr userDrawn="1"/>
        </p:nvSpPr>
        <p:spPr bwMode="auto">
          <a:xfrm>
            <a:off x="9643534" y="176213"/>
            <a:ext cx="117051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200" b="1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文献综述</a:t>
            </a:r>
            <a:endParaRPr lang="zh-CN" altLang="zh-CN" sz="1800"/>
          </a:p>
        </p:txBody>
      </p:sp>
      <p:sp>
        <p:nvSpPr>
          <p:cNvPr id="11" name="矩形 8"/>
          <p:cNvSpPr>
            <a:spLocks noChangeArrowheads="1"/>
          </p:cNvSpPr>
          <p:nvPr userDrawn="1"/>
        </p:nvSpPr>
        <p:spPr bwMode="auto">
          <a:xfrm>
            <a:off x="10860618" y="161925"/>
            <a:ext cx="1174749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200" b="1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研究内容</a:t>
            </a:r>
            <a:endParaRPr lang="zh-CN" altLang="zh-CN" sz="1800"/>
          </a:p>
        </p:txBody>
      </p:sp>
      <p:sp>
        <p:nvSpPr>
          <p:cNvPr id="14" name="任意多边形 11"/>
          <p:cNvSpPr>
            <a:spLocks noChangeArrowheads="1"/>
          </p:cNvSpPr>
          <p:nvPr userDrawn="1"/>
        </p:nvSpPr>
        <p:spPr bwMode="auto">
          <a:xfrm>
            <a:off x="9021233" y="0"/>
            <a:ext cx="355600" cy="228600"/>
          </a:xfrm>
          <a:custGeom>
            <a:avLst/>
            <a:gdLst>
              <a:gd name="T0" fmla="*/ 0 w 266008"/>
              <a:gd name="T1" fmla="*/ 0 h 229317"/>
              <a:gd name="T2" fmla="*/ 266008 w 266008"/>
              <a:gd name="T3" fmla="*/ 0 h 229317"/>
              <a:gd name="T4" fmla="*/ 133004 w 266008"/>
              <a:gd name="T5" fmla="*/ 229317 h 229317"/>
              <a:gd name="T6" fmla="*/ 0 w 266008"/>
              <a:gd name="T7" fmla="*/ 0 h 229317"/>
              <a:gd name="T8" fmla="*/ 0 60000 65536"/>
              <a:gd name="T9" fmla="*/ 0 60000 65536"/>
              <a:gd name="T10" fmla="*/ 0 60000 65536"/>
              <a:gd name="T11" fmla="*/ 0 60000 65536"/>
              <a:gd name="T12" fmla="*/ 0 w 266008"/>
              <a:gd name="T13" fmla="*/ 0 h 229317"/>
              <a:gd name="T14" fmla="*/ 266008 w 266008"/>
              <a:gd name="T15" fmla="*/ 229317 h 229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008" h="229317">
                <a:moveTo>
                  <a:pt x="0" y="0"/>
                </a:moveTo>
                <a:lnTo>
                  <a:pt x="266008" y="0"/>
                </a:lnTo>
                <a:lnTo>
                  <a:pt x="133004" y="229317"/>
                </a:lnTo>
                <a:lnTo>
                  <a:pt x="0" y="0"/>
                </a:lnTo>
                <a:close/>
              </a:path>
            </a:pathLst>
          </a:custGeom>
          <a:solidFill>
            <a:srgbClr val="16A28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zh-CN" sz="1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文本占位符 3"/>
          <p:cNvSpPr txBox="1">
            <a:spLocks noChangeArrowheads="1"/>
          </p:cNvSpPr>
          <p:nvPr userDrawn="1"/>
        </p:nvSpPr>
        <p:spPr bwMode="auto">
          <a:xfrm>
            <a:off x="600672" y="529290"/>
            <a:ext cx="518160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1326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 </a:t>
            </a:r>
            <a:endParaRPr lang="zh-CN" altLang="en-US" sz="2800" b="1" dirty="0">
              <a:solidFill>
                <a:srgbClr val="132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54"/>
          <p:cNvSpPr>
            <a:spLocks noChangeArrowheads="1"/>
          </p:cNvSpPr>
          <p:nvPr userDrawn="1"/>
        </p:nvSpPr>
        <p:spPr bwMode="auto">
          <a:xfrm>
            <a:off x="0" y="1"/>
            <a:ext cx="12192000" cy="502812"/>
          </a:xfrm>
          <a:prstGeom prst="rect">
            <a:avLst/>
          </a:prstGeom>
          <a:solidFill>
            <a:srgbClr val="132646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3" y="523875"/>
            <a:ext cx="717176" cy="435628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8791667" y="-21489"/>
            <a:ext cx="341228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西安电子科技大学      </a:t>
            </a:r>
            <a:r>
              <a:rPr lang="zh-CN" altLang="en-US" sz="1200" b="0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计算机科学与技术学院</a:t>
            </a:r>
            <a:endParaRPr lang="en-US" altLang="zh-CN" sz="1200" b="0" baseline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b="0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陕西省智能人机交互与可穿戴技术重点实验室</a:t>
            </a:r>
            <a:endParaRPr lang="en-US" altLang="zh-CN" sz="1200" b="0" baseline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35"/>
          <p:cNvSpPr>
            <a:spLocks noChangeArrowheads="1"/>
          </p:cNvSpPr>
          <p:nvPr userDrawn="1"/>
        </p:nvSpPr>
        <p:spPr bwMode="auto">
          <a:xfrm>
            <a:off x="0" y="6429080"/>
            <a:ext cx="12192000" cy="42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 1"/>
          <p:cNvSpPr>
            <a:spLocks noChangeArrowheads="1"/>
          </p:cNvSpPr>
          <p:nvPr userDrawn="1"/>
        </p:nvSpPr>
        <p:spPr bwMode="auto">
          <a:xfrm>
            <a:off x="0" y="502603"/>
            <a:ext cx="12192000" cy="48379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 sz="1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5"/>
          <p:cNvSpPr>
            <a:spLocks noChangeArrowheads="1"/>
          </p:cNvSpPr>
          <p:nvPr userDrawn="1"/>
        </p:nvSpPr>
        <p:spPr bwMode="auto">
          <a:xfrm>
            <a:off x="8725097" y="133350"/>
            <a:ext cx="79798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绪论</a:t>
            </a:r>
            <a:endParaRPr lang="zh-CN" altLang="zh-CN" sz="1800"/>
          </a:p>
        </p:txBody>
      </p:sp>
      <p:sp>
        <p:nvSpPr>
          <p:cNvPr id="9" name="矩形 7"/>
          <p:cNvSpPr>
            <a:spLocks noChangeArrowheads="1"/>
          </p:cNvSpPr>
          <p:nvPr userDrawn="1"/>
        </p:nvSpPr>
        <p:spPr bwMode="auto">
          <a:xfrm>
            <a:off x="9569646" y="176213"/>
            <a:ext cx="117051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200" b="1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文献综述</a:t>
            </a:r>
            <a:endParaRPr lang="zh-CN" altLang="zh-CN" sz="1800"/>
          </a:p>
        </p:txBody>
      </p:sp>
      <p:sp>
        <p:nvSpPr>
          <p:cNvPr id="10" name="矩形 8"/>
          <p:cNvSpPr>
            <a:spLocks noChangeArrowheads="1"/>
          </p:cNvSpPr>
          <p:nvPr userDrawn="1"/>
        </p:nvSpPr>
        <p:spPr bwMode="auto">
          <a:xfrm>
            <a:off x="10786730" y="161925"/>
            <a:ext cx="1174749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200" b="1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研究内容</a:t>
            </a:r>
            <a:endParaRPr lang="zh-CN" altLang="zh-CN" sz="1800"/>
          </a:p>
        </p:txBody>
      </p:sp>
      <p:sp>
        <p:nvSpPr>
          <p:cNvPr id="11" name="任意多边形 11"/>
          <p:cNvSpPr>
            <a:spLocks noChangeArrowheads="1"/>
          </p:cNvSpPr>
          <p:nvPr userDrawn="1"/>
        </p:nvSpPr>
        <p:spPr bwMode="auto">
          <a:xfrm>
            <a:off x="8947345" y="0"/>
            <a:ext cx="355600" cy="228600"/>
          </a:xfrm>
          <a:custGeom>
            <a:avLst/>
            <a:gdLst>
              <a:gd name="T0" fmla="*/ 0 w 266008"/>
              <a:gd name="T1" fmla="*/ 0 h 229317"/>
              <a:gd name="T2" fmla="*/ 266008 w 266008"/>
              <a:gd name="T3" fmla="*/ 0 h 229317"/>
              <a:gd name="T4" fmla="*/ 133004 w 266008"/>
              <a:gd name="T5" fmla="*/ 229317 h 229317"/>
              <a:gd name="T6" fmla="*/ 0 w 266008"/>
              <a:gd name="T7" fmla="*/ 0 h 229317"/>
              <a:gd name="T8" fmla="*/ 0 60000 65536"/>
              <a:gd name="T9" fmla="*/ 0 60000 65536"/>
              <a:gd name="T10" fmla="*/ 0 60000 65536"/>
              <a:gd name="T11" fmla="*/ 0 60000 65536"/>
              <a:gd name="T12" fmla="*/ 0 w 266008"/>
              <a:gd name="T13" fmla="*/ 0 h 229317"/>
              <a:gd name="T14" fmla="*/ 266008 w 266008"/>
              <a:gd name="T15" fmla="*/ 229317 h 229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008" h="229317">
                <a:moveTo>
                  <a:pt x="0" y="0"/>
                </a:moveTo>
                <a:lnTo>
                  <a:pt x="266008" y="0"/>
                </a:lnTo>
                <a:lnTo>
                  <a:pt x="133004" y="229317"/>
                </a:lnTo>
                <a:lnTo>
                  <a:pt x="0" y="0"/>
                </a:lnTo>
                <a:close/>
              </a:path>
            </a:pathLst>
          </a:custGeom>
          <a:solidFill>
            <a:srgbClr val="16A28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zh-CN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zh-CN" sz="1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占位符 3"/>
          <p:cNvSpPr txBox="1">
            <a:spLocks noChangeArrowheads="1"/>
          </p:cNvSpPr>
          <p:nvPr userDrawn="1"/>
        </p:nvSpPr>
        <p:spPr bwMode="auto">
          <a:xfrm>
            <a:off x="600672" y="565150"/>
            <a:ext cx="518160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CN" altLang="en-US" sz="2800" dirty="0"/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3" y="523875"/>
            <a:ext cx="717176" cy="435628"/>
          </a:xfrm>
          <a:prstGeom prst="rect">
            <a:avLst/>
          </a:prstGeom>
        </p:spPr>
      </p:pic>
      <p:sp>
        <p:nvSpPr>
          <p:cNvPr id="33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509208" y="6492876"/>
            <a:ext cx="6827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AC94E1C-6DC0-4E92-BBA5-D0F177145F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矩形 54"/>
          <p:cNvSpPr>
            <a:spLocks noChangeArrowheads="1"/>
          </p:cNvSpPr>
          <p:nvPr userDrawn="1"/>
        </p:nvSpPr>
        <p:spPr bwMode="auto">
          <a:xfrm>
            <a:off x="0" y="1"/>
            <a:ext cx="12192000" cy="502812"/>
          </a:xfrm>
          <a:prstGeom prst="rect">
            <a:avLst/>
          </a:prstGeom>
          <a:solidFill>
            <a:srgbClr val="132646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791667" y="-21489"/>
            <a:ext cx="341228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西安电子科技大学      </a:t>
            </a:r>
            <a:r>
              <a:rPr lang="zh-CN" altLang="en-US" sz="1200" b="0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计算机科学与技术学院</a:t>
            </a:r>
            <a:endParaRPr lang="en-US" altLang="zh-CN" sz="1200" b="0" baseline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b="0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陕西省智能人机交互与可穿戴技术重点实验室</a:t>
            </a:r>
            <a:endParaRPr lang="en-US" altLang="zh-CN" sz="1200" b="0" baseline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35"/>
          <p:cNvSpPr>
            <a:spLocks noChangeArrowheads="1"/>
          </p:cNvSpPr>
          <p:nvPr userDrawn="1"/>
        </p:nvSpPr>
        <p:spPr bwMode="auto">
          <a:xfrm>
            <a:off x="0" y="6429080"/>
            <a:ext cx="12192000" cy="42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93" name="矩形 54"/>
          <p:cNvSpPr>
            <a:spLocks noChangeArrowheads="1"/>
          </p:cNvSpPr>
          <p:nvPr userDrawn="1"/>
        </p:nvSpPr>
        <p:spPr bwMode="auto">
          <a:xfrm>
            <a:off x="0" y="1"/>
            <a:ext cx="12192000" cy="631161"/>
          </a:xfrm>
          <a:prstGeom prst="rect">
            <a:avLst/>
          </a:prstGeom>
          <a:solidFill>
            <a:srgbClr val="132646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68685" cy="6293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458960" y="881380"/>
            <a:ext cx="26149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IROS 2026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2271395"/>
            <a:ext cx="11953875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 txBox="1">
            <a:spLocks noChangeArrowheads="1"/>
          </p:cNvSpPr>
          <p:nvPr/>
        </p:nvSpPr>
        <p:spPr bwMode="auto">
          <a:xfrm>
            <a:off x="10796" y="43726"/>
            <a:ext cx="7018217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PART1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Abstract</a:t>
            </a:r>
            <a:r>
              <a:rPr kumimoji="1" lang="zh-CN" altLang="en-US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kumimoji="1" lang="zh-CN" altLang="en-US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kumimoji="1" lang="en-US" altLang="zh-CN" sz="28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3"/>
          <p:cNvSpPr txBox="1">
            <a:spLocks noChangeArrowheads="1"/>
          </p:cNvSpPr>
          <p:nvPr/>
        </p:nvSpPr>
        <p:spPr bwMode="auto">
          <a:xfrm>
            <a:off x="562927" y="539411"/>
            <a:ext cx="1201246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795" y="1104900"/>
            <a:ext cx="6343650" cy="1455420"/>
            <a:chOff x="1777" y="2226"/>
            <a:chExt cx="8707" cy="1885"/>
          </a:xfrm>
        </p:grpSpPr>
        <p:sp>
          <p:nvSpPr>
            <p:cNvPr id="8" name="矩形 7"/>
            <p:cNvSpPr/>
            <p:nvPr/>
          </p:nvSpPr>
          <p:spPr>
            <a:xfrm>
              <a:off x="2105" y="3515"/>
              <a:ext cx="8379" cy="59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just" hangingPunct="0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29" y="2226"/>
              <a:ext cx="3318" cy="5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kumimoji="1" lang="en-US" altLang="zh-CN" sz="2400" b="1" spc="3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Motivation</a:t>
              </a:r>
              <a:endParaRPr kumimoji="1" lang="zh-CN" altLang="en-US" sz="2400" b="1" spc="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777" y="2342"/>
              <a:ext cx="339" cy="33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40360" y="3952240"/>
            <a:ext cx="275336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l"/>
            <a:r>
              <a:rPr kumimoji="1" lang="en-US" altLang="zh-CN" sz="2400" b="1" spc="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Contributions</a:t>
            </a:r>
            <a:endParaRPr kumimoji="1" lang="zh-CN" altLang="en-US" sz="2400" b="1" spc="3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-3810" y="4062129"/>
            <a:ext cx="344716" cy="261757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220" y="1737995"/>
            <a:ext cx="5912485" cy="37331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34340" y="1565275"/>
            <a:ext cx="543560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视觉信息在四足机器人 </a:t>
            </a:r>
            <a:r>
              <a:rPr lang="en-US" altLang="zh-CN" sz="1600"/>
              <a:t>locomotion </a:t>
            </a:r>
            <a:r>
              <a:rPr lang="zh-CN" altLang="en-US" sz="1600"/>
              <a:t>中虽然重要，但极易受到干扰（如遮挡、反光、光照变化），导致控制策略不稳定甚至失效。</a:t>
            </a:r>
            <a:endParaRPr lang="zh-CN" altLang="en-US" sz="1600"/>
          </a:p>
          <a:p>
            <a:r>
              <a:rPr lang="zh-CN" altLang="en-US" sz="1600"/>
              <a:t>现有方法往往将视觉与本体感觉强行融合，当视觉信号不可靠时，系统无法有效退回到本体感觉，从而引发运动失败。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受动物运动控制机制启发：动物在运动中以本体感觉为稳定 </a:t>
            </a:r>
            <a:r>
              <a:rPr lang="en-US" altLang="zh-CN" sz="1600">
                <a:sym typeface="+mn-ea"/>
              </a:rPr>
              <a:t>backbone，</a:t>
            </a:r>
            <a:r>
              <a:rPr lang="zh-CN" altLang="en-US" sz="1600">
                <a:sym typeface="+mn-ea"/>
              </a:rPr>
              <a:t>视觉作为选择性补充，在</a:t>
            </a:r>
            <a:r>
              <a:rPr lang="zh-CN" altLang="en-US" sz="1600">
                <a:sym typeface="+mn-ea"/>
              </a:rPr>
              <a:t>视觉可靠时用于地形感知和避障，不可靠时则依赖本体感觉维持基本运动。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434340" y="4412615"/>
            <a:ext cx="55524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1.</a:t>
            </a:r>
            <a:r>
              <a:rPr lang="zh-CN" altLang="en-US" sz="1600"/>
              <a:t>设计</a:t>
            </a:r>
            <a:r>
              <a:rPr lang="zh-CN" altLang="en-US" sz="1600"/>
              <a:t>了一种模态分离、选择性融合的控制框架，在保留视觉优势的同时，大幅提升系统在视觉干扰下的鲁棒性和安全性。</a:t>
            </a:r>
            <a:endParaRPr lang="zh-CN" altLang="en-US" sz="1600"/>
          </a:p>
          <a:p>
            <a:r>
              <a:rPr lang="en-US" altLang="zh-CN" sz="1600"/>
              <a:t>2.</a:t>
            </a:r>
            <a:r>
              <a:rPr lang="zh-CN" altLang="en-US" sz="1600"/>
              <a:t>显式模态分离设计：</a:t>
            </a:r>
            <a:r>
              <a:rPr lang="en-US" altLang="zh-CN" sz="1600"/>
              <a:t>Kinesthetic Module</a:t>
            </a:r>
            <a:r>
              <a:rPr lang="zh-CN" altLang="en-US" sz="1600"/>
              <a:t>处理本体感觉信号，提供稳定的运动 ，</a:t>
            </a:r>
            <a:r>
              <a:rPr lang="en-US" altLang="zh-CN" sz="1600"/>
              <a:t>Visuospatial Module</a:t>
            </a:r>
            <a:r>
              <a:rPr lang="zh-CN" altLang="en-US" sz="1600"/>
              <a:t>处理视觉信息，结合记忆增强 </a:t>
            </a:r>
            <a:r>
              <a:rPr lang="en-US" altLang="zh-CN" sz="1600"/>
              <a:t>Transformer（MemTransformer）</a:t>
            </a:r>
            <a:r>
              <a:rPr lang="zh-CN" altLang="en-US" sz="1600"/>
              <a:t>进行地形推理。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>
            <a:spLocks noChangeArrowheads="1"/>
          </p:cNvSpPr>
          <p:nvPr/>
        </p:nvSpPr>
        <p:spPr bwMode="auto">
          <a:xfrm>
            <a:off x="10797" y="43726"/>
            <a:ext cx="518160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PART2 Method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/data/user/work/pdf_page4_img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11910" y="1049655"/>
            <a:ext cx="9098915" cy="3865245"/>
          </a:xfrm>
          <a:prstGeom prst="rect">
            <a:avLst/>
          </a:prstGeom>
        </p:spPr>
      </p:pic>
      <p:sp>
        <p:nvSpPr>
          <p:cNvPr id="27" name="Shape 2"/>
          <p:cNvSpPr/>
          <p:nvPr/>
        </p:nvSpPr>
        <p:spPr>
          <a:xfrm>
            <a:off x="335280" y="5528945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280" y="5528945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本体感知 o_t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1706880" y="5757545"/>
            <a:ext cx="411480" cy="27432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7" name="Text 7"/>
          <p:cNvSpPr/>
          <p:nvPr/>
        </p:nvSpPr>
        <p:spPr>
          <a:xfrm>
            <a:off x="2072640" y="5638673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10"/>
          <p:cNvSpPr/>
          <p:nvPr/>
        </p:nvSpPr>
        <p:spPr>
          <a:xfrm>
            <a:off x="2282825" y="514731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8E7"/>
          </a:solidFill>
          <a:ln w="25400">
            <a:solidFill>
              <a:srgbClr val="C9A227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11"/>
          <p:cNvSpPr/>
          <p:nvPr/>
        </p:nvSpPr>
        <p:spPr>
          <a:xfrm>
            <a:off x="2282825" y="5147310"/>
            <a:ext cx="3474720" cy="54864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10" name="Text 12"/>
          <p:cNvSpPr/>
          <p:nvPr/>
        </p:nvSpPr>
        <p:spPr>
          <a:xfrm>
            <a:off x="2465705" y="5238750"/>
            <a:ext cx="3108960" cy="228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运动觉模块  Kinesthetic</a:t>
            </a:r>
            <a:endParaRPr lang="en-US" sz="1300" b="1" dirty="0">
              <a:solidFill>
                <a:srgbClr val="8B6914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1" name="Text 14"/>
          <p:cNvSpPr/>
          <p:nvPr/>
        </p:nvSpPr>
        <p:spPr>
          <a:xfrm>
            <a:off x="2465705" y="5490845"/>
            <a:ext cx="3271520" cy="42481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输出: v̂(线速度), f̂(接触力), ô_{t+1}(观测预测)</a:t>
            </a:r>
            <a:endParaRPr lang="en-US" sz="1200" dirty="0">
              <a:solidFill>
                <a:srgbClr val="6B7280"/>
              </a:solidFill>
            </a:endParaRPr>
          </a:p>
        </p:txBody>
      </p:sp>
      <p:sp>
        <p:nvSpPr>
          <p:cNvPr id="12" name="Shape 15"/>
          <p:cNvSpPr/>
          <p:nvPr/>
        </p:nvSpPr>
        <p:spPr>
          <a:xfrm>
            <a:off x="2465705" y="598855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A227"/>
          </a:solidFill>
        </p:spPr>
      </p:sp>
      <p:sp>
        <p:nvSpPr>
          <p:cNvPr id="37" name="Text 16"/>
          <p:cNvSpPr/>
          <p:nvPr/>
        </p:nvSpPr>
        <p:spPr>
          <a:xfrm>
            <a:off x="2465705" y="5988558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★ 可靠骨干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16" name="Shape 4"/>
          <p:cNvSpPr/>
          <p:nvPr/>
        </p:nvSpPr>
        <p:spPr>
          <a:xfrm>
            <a:off x="6158865" y="545592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6158865" y="5455920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深度图 d_{t-2:t}</a:t>
            </a:r>
            <a:endParaRPr lang="en-US" sz="1200" dirty="0"/>
          </a:p>
        </p:txBody>
      </p:sp>
      <p:sp>
        <p:nvSpPr>
          <p:cNvPr id="18" name="Shape 8"/>
          <p:cNvSpPr/>
          <p:nvPr/>
        </p:nvSpPr>
        <p:spPr>
          <a:xfrm>
            <a:off x="7525385" y="5684520"/>
            <a:ext cx="411480" cy="27432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9" name="Text 9"/>
          <p:cNvSpPr/>
          <p:nvPr/>
        </p:nvSpPr>
        <p:spPr>
          <a:xfrm>
            <a:off x="7850505" y="5549138"/>
            <a:ext cx="27432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▶</a:t>
            </a:r>
            <a:endParaRPr lang="en-US" sz="1200" dirty="0"/>
          </a:p>
        </p:txBody>
      </p:sp>
      <p:sp>
        <p:nvSpPr>
          <p:cNvPr id="42" name="Shape 17"/>
          <p:cNvSpPr/>
          <p:nvPr/>
        </p:nvSpPr>
        <p:spPr>
          <a:xfrm>
            <a:off x="8124825" y="5100955"/>
            <a:ext cx="3931920" cy="1335405"/>
          </a:xfrm>
          <a:prstGeom prst="roundRect">
            <a:avLst>
              <a:gd name="adj" fmla="val 5128"/>
            </a:avLst>
          </a:prstGeom>
          <a:solidFill>
            <a:srgbClr val="F0F1F3"/>
          </a:solidFill>
          <a:ln w="25400">
            <a:solidFill>
              <a:srgbClr val="5B6B7A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18"/>
          <p:cNvSpPr/>
          <p:nvPr/>
        </p:nvSpPr>
        <p:spPr>
          <a:xfrm>
            <a:off x="8124825" y="5110480"/>
            <a:ext cx="3931920" cy="54864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44" name="Text 19"/>
          <p:cNvSpPr/>
          <p:nvPr/>
        </p:nvSpPr>
        <p:spPr>
          <a:xfrm>
            <a:off x="8307705" y="5252720"/>
            <a:ext cx="3566160" cy="2286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D4A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视觉空间模块  Visuospatial</a:t>
            </a:r>
            <a:endParaRPr lang="en-US" sz="1300" b="1" dirty="0">
              <a:solidFill>
                <a:srgbClr val="3D4A5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8307705" y="5622290"/>
            <a:ext cx="3566160" cy="2011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输出: ŝ(高程图), F̂(足端地形) → z_vis</a:t>
            </a:r>
            <a:endParaRPr lang="en-US" sz="1200" dirty="0">
              <a:solidFill>
                <a:srgbClr val="6B7280"/>
              </a:solidFill>
            </a:endParaRPr>
          </a:p>
        </p:txBody>
      </p:sp>
      <p:sp>
        <p:nvSpPr>
          <p:cNvPr id="55" name="Shape 30"/>
          <p:cNvSpPr/>
          <p:nvPr/>
        </p:nvSpPr>
        <p:spPr>
          <a:xfrm>
            <a:off x="8307705" y="6015355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5B6B7A"/>
          </a:solidFill>
        </p:spPr>
      </p:sp>
      <p:sp>
        <p:nvSpPr>
          <p:cNvPr id="56" name="Text 31"/>
          <p:cNvSpPr/>
          <p:nvPr/>
        </p:nvSpPr>
        <p:spPr>
          <a:xfrm>
            <a:off x="8307705" y="6015355"/>
            <a:ext cx="210312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地形感知 · 选择性融合</a:t>
            </a:r>
            <a:endParaRPr lang="en-US" sz="1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>
            <a:spLocks noChangeArrowheads="1"/>
          </p:cNvSpPr>
          <p:nvPr/>
        </p:nvSpPr>
        <p:spPr bwMode="auto">
          <a:xfrm>
            <a:off x="10797" y="43726"/>
            <a:ext cx="518160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PART2 Method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750" y="973455"/>
            <a:ext cx="6163310" cy="2546985"/>
          </a:xfrm>
          <a:prstGeom prst="rect">
            <a:avLst/>
          </a:prstGeom>
        </p:spPr>
      </p:pic>
      <p:pic>
        <p:nvPicPr>
          <p:cNvPr id="4" name="Image 0" descr="/data/user/work/pdf_page4_img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41750" y="3599815"/>
            <a:ext cx="6277610" cy="266636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22910" y="1456055"/>
            <a:ext cx="1884045" cy="685800"/>
          </a:xfrm>
          <a:prstGeom prst="rect">
            <a:avLst/>
          </a:prstGeom>
          <a:solidFill>
            <a:srgbClr val="F0F7FA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422275" y="1456055"/>
            <a:ext cx="2006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dirty="0"/>
              <a:t>传统方法：例如</a:t>
            </a:r>
            <a:r>
              <a:rPr lang="en-US" altLang="zh-CN" sz="1600" dirty="0"/>
              <a:t>PIE</a:t>
            </a:r>
            <a:endParaRPr lang="en-US" altLang="zh-CN" sz="1600" dirty="0"/>
          </a:p>
        </p:txBody>
      </p:sp>
      <p:sp>
        <p:nvSpPr>
          <p:cNvPr id="9" name="Shape 2"/>
          <p:cNvSpPr/>
          <p:nvPr/>
        </p:nvSpPr>
        <p:spPr>
          <a:xfrm>
            <a:off x="422910" y="3801745"/>
            <a:ext cx="1884045" cy="685800"/>
          </a:xfrm>
          <a:prstGeom prst="rect">
            <a:avLst/>
          </a:prstGeom>
          <a:solidFill>
            <a:srgbClr val="F0F7FA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422910" y="3801745"/>
            <a:ext cx="188404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dirty="0"/>
              <a:t>本文方法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34620" y="2813050"/>
            <a:ext cx="284988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本体信息和视觉信息一起处理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195580" y="5139690"/>
            <a:ext cx="284988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本体信息和视觉信息分开处理</a:t>
            </a:r>
            <a:endParaRPr lang="zh-CN" altLang="en-US" sz="160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3810" y="3510280"/>
            <a:ext cx="12193270" cy="196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Result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326390" y="527685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0F7FA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5"/>
          <p:cNvSpPr/>
          <p:nvPr/>
        </p:nvSpPr>
        <p:spPr>
          <a:xfrm>
            <a:off x="326390" y="5276850"/>
            <a:ext cx="11183112" cy="6400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5" name="Text 6"/>
          <p:cNvSpPr/>
          <p:nvPr/>
        </p:nvSpPr>
        <p:spPr>
          <a:xfrm>
            <a:off x="600710" y="5350002"/>
            <a:ext cx="2286000" cy="2011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分析结论</a:t>
            </a:r>
            <a:endParaRPr lang="en-US" sz="1100" b="1" dirty="0">
              <a:solidFill>
                <a:srgbClr val="065A82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00710" y="555117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8A5F"/>
                </a:solidFill>
              </a:rPr>
              <a:t>• KiVi (Ours) </a:t>
            </a:r>
            <a:r>
              <a:rPr lang="en-US" sz="1200" dirty="0">
                <a:solidFill>
                  <a:srgbClr val="374151"/>
                </a:solidFill>
              </a:rPr>
              <a:t>功率极低且稳定；</a:t>
            </a:r>
            <a:r>
              <a:rPr lang="en-US" sz="1200" b="1" dirty="0">
                <a:solidFill>
                  <a:srgbClr val="C2410C"/>
                </a:solidFill>
              </a:rPr>
              <a:t>w/o Kin. </a:t>
            </a:r>
            <a:r>
              <a:rPr lang="en-US" sz="1200" dirty="0">
                <a:solidFill>
                  <a:srgbClr val="374151"/>
                </a:solidFill>
              </a:rPr>
              <a:t>剧烈波动(峰值~500) → 运动觉模块是关键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• 模态分离设计使视觉失效时自动回退本体感知</a:t>
            </a:r>
            <a:endParaRPr lang="en-US" sz="1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645" y="1040130"/>
            <a:ext cx="7144385" cy="4170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11509375" y="6492875"/>
            <a:ext cx="682625" cy="365125"/>
          </a:xfrm>
        </p:spPr>
        <p:txBody>
          <a:bodyPr/>
          <a:p>
            <a:fld id="{3AC94E1C-6DC0-4E92-BBA5-D0F177145F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Result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219200" y="6036082"/>
            <a:ext cx="1828800" cy="1828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真实世界部署 (5类场景)</a:t>
            </a:r>
            <a:endParaRPr lang="en-US" sz="1100" b="1" dirty="0">
              <a:solidFill>
                <a:srgbClr val="6B7280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" y="1065530"/>
            <a:ext cx="4631055" cy="48787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210" y="1273175"/>
            <a:ext cx="6038850" cy="283845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592445" y="4697730"/>
            <a:ext cx="5132070" cy="777240"/>
          </a:xfrm>
          <a:prstGeom prst="roundRect">
            <a:avLst>
              <a:gd name="adj" fmla="val 11765"/>
            </a:avLst>
          </a:prstGeom>
          <a:solidFill>
            <a:srgbClr val="F0F7FA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5"/>
          <p:cNvSpPr/>
          <p:nvPr/>
        </p:nvSpPr>
        <p:spPr>
          <a:xfrm>
            <a:off x="5592445" y="4697730"/>
            <a:ext cx="5132070" cy="76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5" name="Text 6"/>
          <p:cNvSpPr/>
          <p:nvPr/>
        </p:nvSpPr>
        <p:spPr>
          <a:xfrm>
            <a:off x="5866765" y="4841240"/>
            <a:ext cx="1049655" cy="2012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分析结论</a:t>
            </a:r>
            <a:endParaRPr lang="en-US" sz="1400" b="1" dirty="0">
              <a:solidFill>
                <a:srgbClr val="065A82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866765" y="4972050"/>
            <a:ext cx="486854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400" dirty="0"/>
              <a:t>在视觉失效时仍能退化到盲走策略的水平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47240"/>
            <a:ext cx="12192000" cy="27628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458960" y="881380"/>
            <a:ext cx="26149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 2026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 txBox="1">
            <a:spLocks noChangeArrowheads="1"/>
          </p:cNvSpPr>
          <p:nvPr/>
        </p:nvSpPr>
        <p:spPr bwMode="auto">
          <a:xfrm>
            <a:off x="10796" y="43726"/>
            <a:ext cx="7018217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PART1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Abstract</a:t>
            </a:r>
            <a:r>
              <a:rPr kumimoji="1" lang="zh-CN" altLang="en-US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kumimoji="1" lang="zh-CN" altLang="en-US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8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kumimoji="1" lang="en-US" altLang="zh-CN" sz="28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3"/>
          <p:cNvSpPr txBox="1">
            <a:spLocks noChangeArrowheads="1"/>
          </p:cNvSpPr>
          <p:nvPr/>
        </p:nvSpPr>
        <p:spPr bwMode="auto">
          <a:xfrm>
            <a:off x="562927" y="539411"/>
            <a:ext cx="1201246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795" y="1104900"/>
            <a:ext cx="6343650" cy="1455420"/>
            <a:chOff x="1777" y="2226"/>
            <a:chExt cx="8707" cy="1885"/>
          </a:xfrm>
        </p:grpSpPr>
        <p:sp>
          <p:nvSpPr>
            <p:cNvPr id="8" name="矩形 7"/>
            <p:cNvSpPr/>
            <p:nvPr/>
          </p:nvSpPr>
          <p:spPr>
            <a:xfrm>
              <a:off x="2105" y="3515"/>
              <a:ext cx="8379" cy="59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just" hangingPunct="0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29" y="2226"/>
              <a:ext cx="3318" cy="5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kumimoji="1" lang="en-US" altLang="zh-CN" sz="2400" b="1" spc="3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Motivation</a:t>
              </a:r>
              <a:endParaRPr kumimoji="1" lang="zh-CN" altLang="en-US" sz="2400" b="1" spc="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777" y="2342"/>
              <a:ext cx="339" cy="33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40360" y="3952240"/>
            <a:ext cx="275336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l"/>
            <a:r>
              <a:rPr kumimoji="1" lang="en-US" altLang="zh-CN" sz="2400" b="1" spc="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Contributions</a:t>
            </a:r>
            <a:endParaRPr kumimoji="1" lang="zh-CN" altLang="en-US" sz="2400" b="1" spc="3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-3810" y="4062129"/>
            <a:ext cx="344716" cy="261757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4855" y="1632585"/>
            <a:ext cx="5097145" cy="31889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1605" y="1565275"/>
            <a:ext cx="67252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让四足机器人同时具备技能多样性和地形适应能力，往往需要复杂的奖励工程设计，模仿学习可以减轻这一负担，但是</a:t>
            </a:r>
            <a:r>
              <a:rPr lang="zh-CN" altLang="en-US">
                <a:sym typeface="+mn-ea"/>
              </a:rPr>
              <a:t>依赖大量专家数据集，而复杂地形的专家数据集稀缺。</a:t>
            </a:r>
            <a:br>
              <a:rPr lang="zh-CN" altLang="en-US"/>
            </a:br>
            <a:r>
              <a:rPr lang="zh-CN" altLang="en-US"/>
              <a:t>受到动画的启发：动画师只需指定少量关键姿态，在它们之间进行插值，从而消除了手动设置每一帧的需要。于是作者把关键帧作为目标，结合自模仿学习，减少了对专家数据集的</a:t>
            </a:r>
            <a:r>
              <a:rPr lang="zh-CN" altLang="en-US"/>
              <a:t>依赖。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410" y="4557395"/>
            <a:ext cx="66344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提出 </a:t>
            </a:r>
            <a:r>
              <a:rPr lang="en-US" altLang="zh-CN"/>
              <a:t>KiRAS </a:t>
            </a:r>
            <a:r>
              <a:rPr lang="zh-CN" altLang="en-US"/>
              <a:t>端到端框架，</a:t>
            </a:r>
            <a:r>
              <a:rPr lang="zh-CN" altLang="en-US"/>
              <a:t>通过关键帧引导的自模仿学习，在一个策略上具备多种</a:t>
            </a:r>
            <a:r>
              <a:rPr lang="zh-CN" altLang="en-US"/>
              <a:t>技能。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设计 </a:t>
            </a:r>
            <a:r>
              <a:rPr lang="en-US" altLang="zh-CN"/>
              <a:t>Premium Trajectory Selector </a:t>
            </a:r>
            <a:r>
              <a:rPr lang="zh-CN" altLang="en-US"/>
              <a:t>与 </a:t>
            </a:r>
            <a:r>
              <a:rPr lang="en-US" altLang="zh-CN"/>
              <a:t>SIL </a:t>
            </a:r>
            <a:r>
              <a:rPr lang="zh-CN" altLang="en-US"/>
              <a:t>机制，根据累计回报和与关键帧轨迹的</a:t>
            </a:r>
            <a:r>
              <a:rPr lang="zh-CN" altLang="en-US"/>
              <a:t>相似度筛选优质轨迹，进行</a:t>
            </a:r>
            <a:r>
              <a:rPr lang="zh-CN" altLang="en-US"/>
              <a:t>自模仿学习。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引入环境上下文估计器与多评论家架构，提出技能初始化技术，稳定训练，</a:t>
            </a:r>
            <a:r>
              <a:rPr lang="zh-CN" altLang="en-US"/>
              <a:t>加速收敛。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>
            <a:spLocks noChangeArrowheads="1"/>
          </p:cNvSpPr>
          <p:nvPr/>
        </p:nvSpPr>
        <p:spPr bwMode="auto">
          <a:xfrm>
            <a:off x="10797" y="43726"/>
            <a:ext cx="5181600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PART2 Method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1042670"/>
            <a:ext cx="8761730" cy="3379470"/>
          </a:xfrm>
          <a:prstGeom prst="rect">
            <a:avLst/>
          </a:prstGeom>
        </p:spPr>
      </p:pic>
      <p:sp>
        <p:nvSpPr>
          <p:cNvPr id="15" name="Shape 3"/>
          <p:cNvSpPr/>
          <p:nvPr>
            <p:custDataLst>
              <p:tags r:id="rId2"/>
            </p:custDataLst>
          </p:nvPr>
        </p:nvSpPr>
        <p:spPr>
          <a:xfrm>
            <a:off x="502920" y="481732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8E7"/>
          </a:solidFill>
          <a:effectLst>
            <a:outerShdw blurRad="381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4"/>
          <p:cNvSpPr/>
          <p:nvPr>
            <p:custDataLst>
              <p:tags r:id="rId3"/>
            </p:custDataLst>
          </p:nvPr>
        </p:nvSpPr>
        <p:spPr>
          <a:xfrm>
            <a:off x="502920" y="4817322"/>
            <a:ext cx="2606040" cy="54864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21" name="Text 5"/>
          <p:cNvSpPr/>
          <p:nvPr>
            <p:custDataLst>
              <p:tags r:id="rId4"/>
            </p:custDataLst>
          </p:nvPr>
        </p:nvSpPr>
        <p:spPr>
          <a:xfrm>
            <a:off x="640080" y="490876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SIL 自模仿学习</a:t>
            </a:r>
            <a:endParaRPr lang="en-US" sz="1200" dirty="0"/>
          </a:p>
        </p:txBody>
      </p:sp>
      <p:sp>
        <p:nvSpPr>
          <p:cNvPr id="22" name="Text 6"/>
          <p:cNvSpPr/>
          <p:nvPr>
            <p:custDataLst>
              <p:tags r:id="rId5"/>
            </p:custDataLst>
          </p:nvPr>
        </p:nvSpPr>
        <p:spPr>
          <a:xfrm>
            <a:off x="640080" y="5183082"/>
            <a:ext cx="23317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8B6914"/>
                </a:solidFill>
              </a:rPr>
              <a:t>Premium Trajectory Selector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选取高回报且DTW匹配关键帧的轨迹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强化成功实例，无需专家数据</a:t>
            </a:r>
            <a:endParaRPr lang="en-US" sz="1200" dirty="0"/>
          </a:p>
        </p:txBody>
      </p:sp>
      <p:sp>
        <p:nvSpPr>
          <p:cNvPr id="23" name="Shape 7"/>
          <p:cNvSpPr/>
          <p:nvPr>
            <p:custDataLst>
              <p:tags r:id="rId6"/>
            </p:custDataLst>
          </p:nvPr>
        </p:nvSpPr>
        <p:spPr>
          <a:xfrm>
            <a:off x="3291840" y="481732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1F3"/>
          </a:solidFill>
          <a:effectLst>
            <a:outerShdw blurRad="381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8"/>
          <p:cNvSpPr/>
          <p:nvPr>
            <p:custDataLst>
              <p:tags r:id="rId7"/>
            </p:custDataLst>
          </p:nvPr>
        </p:nvSpPr>
        <p:spPr>
          <a:xfrm>
            <a:off x="3291840" y="4817322"/>
            <a:ext cx="2606040" cy="54864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25" name="Text 9"/>
          <p:cNvSpPr/>
          <p:nvPr>
            <p:custDataLst>
              <p:tags r:id="rId8"/>
            </p:custDataLst>
          </p:nvPr>
        </p:nvSpPr>
        <p:spPr>
          <a:xfrm>
            <a:off x="3429000" y="490876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MuC 多评论家</a:t>
            </a:r>
            <a:endParaRPr lang="en-US" sz="1200" dirty="0"/>
          </a:p>
        </p:txBody>
      </p:sp>
      <p:sp>
        <p:nvSpPr>
          <p:cNvPr id="26" name="Text 10"/>
          <p:cNvSpPr/>
          <p:nvPr>
            <p:custDataLst>
              <p:tags r:id="rId9"/>
            </p:custDataLst>
          </p:nvPr>
        </p:nvSpPr>
        <p:spPr>
          <a:xfrm>
            <a:off x="3429000" y="5183082"/>
            <a:ext cx="23317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D4A5A"/>
                </a:solidFill>
              </a:rPr>
              <a:t>Task Critic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任务奖励值估计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D4A5A"/>
                </a:solidFill>
              </a:rPr>
              <a:t>Imitation Critic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模仿奖励值估计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</p:txBody>
      </p:sp>
      <p:sp>
        <p:nvSpPr>
          <p:cNvPr id="28" name="Shape 11"/>
          <p:cNvSpPr/>
          <p:nvPr>
            <p:custDataLst>
              <p:tags r:id="rId10"/>
            </p:custDataLst>
          </p:nvPr>
        </p:nvSpPr>
        <p:spPr>
          <a:xfrm>
            <a:off x="6080760" y="481732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8F5DC"/>
          </a:solidFill>
          <a:effectLst>
            <a:outerShdw blurRad="381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12"/>
          <p:cNvSpPr/>
          <p:nvPr>
            <p:custDataLst>
              <p:tags r:id="rId11"/>
            </p:custDataLst>
          </p:nvPr>
        </p:nvSpPr>
        <p:spPr>
          <a:xfrm>
            <a:off x="6080760" y="4817322"/>
            <a:ext cx="2606040" cy="54864"/>
          </a:xfrm>
          <a:prstGeom prst="rect">
            <a:avLst/>
          </a:prstGeom>
          <a:solidFill>
            <a:srgbClr val="4A8A2A"/>
          </a:solidFill>
        </p:spPr>
      </p:sp>
      <p:sp>
        <p:nvSpPr>
          <p:cNvPr id="31" name="Text 13"/>
          <p:cNvSpPr/>
          <p:nvPr>
            <p:custDataLst>
              <p:tags r:id="rId12"/>
            </p:custDataLst>
          </p:nvPr>
        </p:nvSpPr>
        <p:spPr>
          <a:xfrm>
            <a:off x="6217920" y="490876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A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ECE 环境上下文估计器</a:t>
            </a:r>
            <a:endParaRPr lang="en-US" sz="1200" dirty="0"/>
          </a:p>
        </p:txBody>
      </p:sp>
      <p:sp>
        <p:nvSpPr>
          <p:cNvPr id="32" name="Text 14"/>
          <p:cNvSpPr/>
          <p:nvPr>
            <p:custDataLst>
              <p:tags r:id="rId13"/>
            </p:custDataLst>
          </p:nvPr>
        </p:nvSpPr>
        <p:spPr>
          <a:xfrm>
            <a:off x="6217920" y="5183082"/>
            <a:ext cx="23317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从本体感知历史编码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隐变量 zt = [v̂t, zlat_t]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v̂t: 线速度估计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zlat: 残余运动上下文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地形感知能力来源</a:t>
            </a:r>
            <a:endParaRPr lang="en-US" sz="1200" dirty="0"/>
          </a:p>
        </p:txBody>
      </p:sp>
      <p:sp>
        <p:nvSpPr>
          <p:cNvPr id="33" name="Shape 15"/>
          <p:cNvSpPr/>
          <p:nvPr/>
        </p:nvSpPr>
        <p:spPr>
          <a:xfrm>
            <a:off x="8869680" y="481732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CE4EC"/>
          </a:solidFill>
          <a:effectLst>
            <a:outerShdw blurRad="381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16"/>
          <p:cNvSpPr/>
          <p:nvPr/>
        </p:nvSpPr>
        <p:spPr>
          <a:xfrm>
            <a:off x="8869680" y="4817322"/>
            <a:ext cx="2606040" cy="54864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35" name="Text 17"/>
          <p:cNvSpPr/>
          <p:nvPr/>
        </p:nvSpPr>
        <p:spPr>
          <a:xfrm>
            <a:off x="9006840" y="490876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Skill Init 技能初始化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9006840" y="5183082"/>
            <a:ext cx="23317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71C1C"/>
                </a:solidFill>
              </a:rPr>
              <a:t>基于熟练度采样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p(Skill=i) ∝ 1 - proficiency_i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过采样未掌握技能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保留已习得行为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防止灾难性遗忘</a:t>
            </a:r>
            <a:endParaRPr lang="en-US" sz="12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7615" y="1644650"/>
            <a:ext cx="3353435" cy="135064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59240" y="3107055"/>
            <a:ext cx="2861945" cy="64389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9522460" y="1279525"/>
            <a:ext cx="213614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优质轨迹选择器</a:t>
            </a:r>
            <a:endParaRPr lang="zh-CN" altLang="en-US" sz="1600"/>
          </a:p>
        </p:txBody>
      </p:sp>
      <p:cxnSp>
        <p:nvCxnSpPr>
          <p:cNvPr id="41" name="直接箭头连接符 40"/>
          <p:cNvCxnSpPr/>
          <p:nvPr/>
        </p:nvCxnSpPr>
        <p:spPr>
          <a:xfrm flipV="1">
            <a:off x="4881245" y="2620645"/>
            <a:ext cx="4346575" cy="1240790"/>
          </a:xfrm>
          <a:prstGeom prst="straightConnector1">
            <a:avLst/>
          </a:prstGeom>
          <a:ln w="31750" cap="rnd">
            <a:solidFill>
              <a:schemeClr val="accent1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Result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35" y="1046480"/>
            <a:ext cx="5461635" cy="35858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185" y="4591050"/>
            <a:ext cx="6296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dirty="0">
                <a:solidFill>
                  <a:schemeClr val="tx1"/>
                </a:solidFill>
                <a:sym typeface="+mn-ea"/>
              </a:rPr>
              <a:t>消融与对比实验热力图 (C=余弦相似度, S=台阶成功率, D=离散落脚点成功率)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67665" y="4897755"/>
            <a:ext cx="9771380" cy="1454785"/>
          </a:xfrm>
          <a:prstGeom prst="roundRect">
            <a:avLst>
              <a:gd name="adj" fmla="val 3721"/>
            </a:avLst>
          </a:prstGeom>
          <a:solidFill>
            <a:srgbClr val="F7F9FA"/>
          </a:solidFill>
          <a:effectLst>
            <a:outerShdw blurRad="381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7665" y="4876800"/>
            <a:ext cx="9771380" cy="76200"/>
          </a:xfrm>
          <a:prstGeom prst="rect">
            <a:avLst/>
          </a:prstGeom>
          <a:solidFill>
            <a:srgbClr val="0F5C6E"/>
          </a:solidFill>
        </p:spPr>
      </p:sp>
      <p:sp>
        <p:nvSpPr>
          <p:cNvPr id="10" name="Text 6"/>
          <p:cNvSpPr/>
          <p:nvPr/>
        </p:nvSpPr>
        <p:spPr>
          <a:xfrm>
            <a:off x="641985" y="4971415"/>
            <a:ext cx="2397125" cy="1949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分析结论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1985" y="5303520"/>
            <a:ext cx="9267190" cy="9258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7D32"/>
                </a:solidFill>
              </a:rPr>
              <a:t>① KiRAS (Ours) </a:t>
            </a:r>
            <a:r>
              <a:rPr lang="en-US" sz="1200" dirty="0">
                <a:solidFill>
                  <a:srgbClr val="333333"/>
                </a:solidFill>
              </a:rPr>
              <a:t>在所有指标上取得最优或接近最优，模仿相似度媲美Cassi但无需专家数据集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5100"/>
                </a:solidFill>
              </a:rPr>
              <a:t>② w/o MuC </a:t>
            </a:r>
            <a:r>
              <a:rPr lang="en-US" sz="1200" dirty="0">
                <a:solidFill>
                  <a:srgbClr val="333333"/>
                </a:solidFill>
              </a:rPr>
              <a:t>策略卡在静态关键帧，无法学习动态抬腿，台阶表现骤降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5100"/>
                </a:solidFill>
              </a:rPr>
              <a:t>③ w/o ECE </a:t>
            </a:r>
            <a:r>
              <a:rPr lang="en-US" sz="1200" dirty="0">
                <a:solidFill>
                  <a:srgbClr val="333333"/>
                </a:solidFill>
              </a:rPr>
              <a:t>失去本体感知地形</a:t>
            </a:r>
            <a:r>
              <a:rPr lang="zh-CN" altLang="en-US" sz="1200" dirty="0">
                <a:solidFill>
                  <a:srgbClr val="333333"/>
                </a:solidFill>
              </a:rPr>
              <a:t>的能力</a:t>
            </a:r>
            <a:r>
              <a:rPr lang="en-US" sz="1200" dirty="0">
                <a:solidFill>
                  <a:srgbClr val="333333"/>
                </a:solidFill>
              </a:rPr>
              <a:t>，复杂地形失败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5100"/>
                </a:solidFill>
              </a:rPr>
              <a:t>④ w/o Skill Init </a:t>
            </a:r>
            <a:r>
              <a:rPr lang="en-US" sz="1200" dirty="0">
                <a:solidFill>
                  <a:srgbClr val="333333"/>
                </a:solidFill>
              </a:rPr>
              <a:t>5种技能</a:t>
            </a:r>
            <a:r>
              <a:rPr lang="zh-CN" altLang="en-US" sz="1200" dirty="0">
                <a:solidFill>
                  <a:srgbClr val="333333"/>
                </a:solidFill>
              </a:rPr>
              <a:t>退化</a:t>
            </a:r>
            <a:r>
              <a:rPr lang="en-US" sz="1200" dirty="0">
                <a:solidFill>
                  <a:srgbClr val="333333"/>
                </a:solidFill>
              </a:rPr>
              <a:t>为几乎相同的步态，关键帧失效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5C6E"/>
                </a:solidFill>
              </a:rPr>
              <a:t>⑤ 采样概率: </a:t>
            </a:r>
            <a:r>
              <a:rPr lang="zh-CN" altLang="en-US" sz="1200" dirty="0">
                <a:solidFill>
                  <a:srgbClr val="333333"/>
                </a:solidFill>
              </a:rPr>
              <a:t>技能初始化技术能够根据技能难度动态调整训练资源，优先提升弱技能，同时保持所有技能不遗忘</a:t>
            </a:r>
            <a:endParaRPr lang="zh-CN" altLang="en-US" sz="1200" dirty="0">
              <a:solidFill>
                <a:srgbClr val="333333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245" y="1301750"/>
            <a:ext cx="5801995" cy="2616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4146647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 技能采样概率演化 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11509375" y="6492875"/>
            <a:ext cx="682625" cy="365125"/>
          </a:xfrm>
        </p:spPr>
        <p:txBody>
          <a:bodyPr/>
          <a:p>
            <a:fld id="{3AC94E1C-6DC0-4E92-BBA5-D0F177145F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0" name="文本占位符 3"/>
          <p:cNvSpPr txBox="1">
            <a:spLocks noChangeArrowheads="1"/>
          </p:cNvSpPr>
          <p:nvPr/>
        </p:nvSpPr>
        <p:spPr bwMode="auto">
          <a:xfrm>
            <a:off x="587972" y="543115"/>
            <a:ext cx="10956328" cy="43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Result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1931035"/>
            <a:ext cx="5848350" cy="137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60" y="1869440"/>
            <a:ext cx="5151120" cy="18865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66265" y="3449320"/>
            <a:ext cx="3292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不同技能穿越不同地形时的成功率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6993255" y="3959860"/>
            <a:ext cx="44323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关键帧和专家数据集的</a:t>
            </a:r>
            <a:r>
              <a:rPr lang="en-US" altLang="zh-CN" sz="1400"/>
              <a:t>DTW </a:t>
            </a:r>
            <a:r>
              <a:rPr lang="zh-CN" altLang="en-US" sz="1400"/>
              <a:t>距离和余弦相似度比较</a:t>
            </a:r>
            <a:endParaRPr lang="zh-CN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54453" y="2846104"/>
            <a:ext cx="5683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zh-CN" altLang="en-US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2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3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4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5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6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7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8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9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10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11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12.xml><?xml version="1.0" encoding="utf-8"?>
<p:tagLst xmlns:p="http://schemas.openxmlformats.org/presentationml/2006/main">
  <p:tag name="KSO_WM_DIAGRAM_VIRTUALLY_FRAME" val="{&quot;height&quot;:126.00000000000004,&quot;left&quot;:39.6,&quot;top&quot;:379.3166929133858,&quot;width&quot;:644.4}"/>
</p:tagLst>
</file>

<file path=ppt/tags/tag13.xml><?xml version="1.0" encoding="utf-8"?>
<p:tagLst xmlns:p="http://schemas.openxmlformats.org/presentationml/2006/main">
  <p:tag name="commondata" val="eyJoZGlkIjoiNTJmOWNkNTBiZDBiOWNhNWE5ZTRjODRlNzUxMTRlYTUifQ=="/>
  <p:tag name="resource_record_key" val="{&quot;29&quot;:[50053313,50000159,50000283,50052700,50052696,50053246]}"/>
</p:tagLst>
</file>

<file path=ppt/theme/theme1.xml><?xml version="1.0" encoding="utf-8"?>
<a:theme xmlns:a="http://schemas.openxmlformats.org/drawingml/2006/main" name="封皮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封尾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1803</Words>
  <Application>WPS 演示</Application>
  <PresentationFormat>宽屏</PresentationFormat>
  <Paragraphs>150</Paragraphs>
  <Slides>12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微软雅黑</vt:lpstr>
      <vt:lpstr>Georgia</vt:lpstr>
      <vt:lpstr>Georgia</vt:lpstr>
      <vt:lpstr>Georgia</vt:lpstr>
      <vt:lpstr>Cambria Math</vt:lpstr>
      <vt:lpstr>Cambria Math</vt:lpstr>
      <vt:lpstr>Cambria Math</vt:lpstr>
      <vt:lpstr>Arial Unicode MS</vt:lpstr>
      <vt:lpstr>等线</vt:lpstr>
      <vt:lpstr>Calibri</vt:lpstr>
      <vt:lpstr>封皮​​</vt:lpstr>
      <vt:lpstr>目录</vt:lpstr>
      <vt:lpstr>内容</vt:lpstr>
      <vt:lpstr>封尾​​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Dizi</dc:creator>
  <cp:lastModifiedBy>AKL...</cp:lastModifiedBy>
  <cp:revision>1849</cp:revision>
  <cp:lastPrinted>2016-09-05T07:18:00Z</cp:lastPrinted>
  <dcterms:created xsi:type="dcterms:W3CDTF">2016-06-29T09:16:00Z</dcterms:created>
  <dcterms:modified xsi:type="dcterms:W3CDTF">2026-09-17T12:58:31Z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41A270C636F5420698B8A6B9CE495882_12</vt:lpwstr>
  </property>
  <property fmtid="{D5CDD505-2E9C-101B-9397-08002B2CF9AE}" pid="3" name="KSOProductBuildVer">
    <vt:lpwstr>2052-12.1.0.28505</vt:lpwstr>
  </property>
</Properties>
</file>