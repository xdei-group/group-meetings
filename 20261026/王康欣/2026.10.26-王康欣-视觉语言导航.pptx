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1149" r:id="rId2"/>
    <p:sldId id="1142" r:id="rId3"/>
    <p:sldId id="1159" r:id="rId4"/>
    <p:sldId id="1155" r:id="rId5"/>
    <p:sldId id="1145" r:id="rId6"/>
    <p:sldId id="1166" r:id="rId7"/>
    <p:sldId id="1167" r:id="rId8"/>
    <p:sldId id="1168" r:id="rId9"/>
    <p:sldId id="1169" r:id="rId10"/>
    <p:sldId id="1151" r:id="rId11"/>
    <p:sldId id="1170" r:id="rId12"/>
    <p:sldId id="1171" r:id="rId13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梁 潇" initials="梁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1F25"/>
    <a:srgbClr val="F2C712"/>
    <a:srgbClr val="FFFFFF"/>
    <a:srgbClr val="A52329"/>
    <a:srgbClr val="B0252A"/>
    <a:srgbClr val="7591F7"/>
    <a:srgbClr val="FFE699"/>
    <a:srgbClr val="F4B183"/>
    <a:srgbClr val="BDD7EE"/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1" autoAdjust="0"/>
    <p:restoredTop sz="79260" autoAdjust="0"/>
  </p:normalViewPr>
  <p:slideViewPr>
    <p:cSldViewPr snapToGrid="0">
      <p:cViewPr varScale="1">
        <p:scale>
          <a:sx n="66" d="100"/>
          <a:sy n="66" d="100"/>
        </p:scale>
        <p:origin x="1330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33E6AA-4E7D-4382-ADEE-DD2A4610FAE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ED207-AFB7-4372-9A65-FCEEDFF85EA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F2896-C5E8-9D42-A9A1-E0D59BC6C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4B3BC9-3D38-B3D3-772F-2EBF3E77A3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AFD681-6F4E-F0F8-E4AB-58408C4568A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cvpr 2026 </a:t>
            </a:r>
            <a:r>
              <a:rPr lang="zh-CN" altLang="en-US"/>
              <a:t>用于长期记忆的上下文压缩技术（清华 阿里）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5635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A38C6-D737-1FE9-AA6E-CFDA7B7A6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A525626-4C46-0599-5AC7-EFA3F390CD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9972A4-E702-8389-DB4E-B65C5C85E58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它的任务基准是 </a:t>
            </a:r>
            <a:r>
              <a:rPr lang="en-US" altLang="zh-CN" b="1"/>
              <a:t>GOAT-Bench</a:t>
            </a:r>
            <a:r>
              <a:rPr lang="zh-CN" altLang="en-US"/>
              <a:t>，要求</a:t>
            </a:r>
            <a:r>
              <a:rPr lang="en-US" altLang="zh-CN"/>
              <a:t>agent</a:t>
            </a:r>
            <a:r>
              <a:rPr lang="zh-CN" altLang="en-US"/>
              <a:t>在一个未知场景下，连续完成多个导航目标，允许复用前面积累的环境经验，允许多模态的输入</a:t>
            </a:r>
            <a:endParaRPr lang="en-US" altLang="zh-C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/>
              <a:t>所以，如何构造、更新和复用环境经验，是终身导航的一个核心问题</a:t>
            </a:r>
            <a:endParaRPr lang="en-US" altLang="zh-CN" b="1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>
                <a:solidFill>
                  <a:srgbClr val="002060"/>
                </a:solidFill>
              </a:rPr>
              <a:t>HM3D-OVON </a:t>
            </a:r>
            <a:r>
              <a:rPr lang="zh-CN" altLang="en-US" sz="1200" b="0">
                <a:solidFill>
                  <a:srgbClr val="002060"/>
                </a:solidFill>
              </a:rPr>
              <a:t>基准就是 </a:t>
            </a:r>
            <a:r>
              <a:rPr lang="en-US" altLang="zh-CN" sz="1200"/>
              <a:t>agent </a:t>
            </a:r>
            <a:r>
              <a:rPr lang="zh-CN" altLang="zh-CN" sz="1200"/>
              <a:t>在真实扫描的室内环境中，根据自由文本自主探索，寻找训练阶段不一定见过的目标</a:t>
            </a:r>
            <a:r>
              <a:rPr lang="zh-CN" altLang="en-US" sz="1200"/>
              <a:t>；</a:t>
            </a:r>
            <a:endParaRPr lang="en-US" altLang="zh-CN" sz="120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/>
              <a:t>本文主要针对 </a:t>
            </a:r>
            <a:r>
              <a:rPr lang="en-US" altLang="zh-CN" sz="1200" b="1"/>
              <a:t>GOAT-Bench </a:t>
            </a:r>
            <a:r>
              <a:rPr lang="zh-CN" altLang="en-US" sz="1200" b="1"/>
              <a:t>记忆</a:t>
            </a:r>
            <a:r>
              <a:rPr lang="zh-CN" altLang="en-US" sz="1200" b="0"/>
              <a:t>这方面进行创新。</a:t>
            </a:r>
            <a:endParaRPr lang="en-US" altLang="zh-CN" sz="1200" b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现有方法一般有两种，一个是显式建图，一个是隐式训练。显式建图方法一般依赖复杂的检测、分割等感知流水线，鲁棒性差；用大量历史图像训练一个端到端模型，需要消耗大量</a:t>
            </a:r>
            <a:r>
              <a:rPr lang="en-US" altLang="zh-CN"/>
              <a:t>token</a:t>
            </a:r>
            <a:r>
              <a:rPr lang="zh-CN" altLang="en-US"/>
              <a:t>，而且长历史也难以输入到</a:t>
            </a:r>
            <a:r>
              <a:rPr lang="en-US" altLang="zh-CN"/>
              <a:t>vlm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i="1"/>
              <a:t>所以，本文针对这个痛点做出的贡献是</a:t>
            </a:r>
            <a:r>
              <a:rPr lang="zh-CN" altLang="en-US"/>
              <a:t>：构建了面向长期导航的压缩图像记忆，联合视觉语言与导航决策，将原本</a:t>
            </a:r>
            <a:r>
              <a:rPr lang="zh-CN" altLang="en-US" b="1"/>
              <a:t>每张图的</a:t>
            </a:r>
            <a:r>
              <a:rPr lang="en-US" altLang="zh-CN" b="1"/>
              <a:t>500</a:t>
            </a:r>
            <a:r>
              <a:rPr lang="zh-CN" altLang="en-US" b="1"/>
              <a:t>多</a:t>
            </a:r>
            <a:r>
              <a:rPr lang="en-US" altLang="zh-CN" b="1"/>
              <a:t>token</a:t>
            </a:r>
            <a:r>
              <a:rPr lang="zh-CN" altLang="en-US" b="1"/>
              <a:t>压缩到</a:t>
            </a:r>
            <a:r>
              <a:rPr lang="en-US" altLang="zh-CN" b="1"/>
              <a:t>30</a:t>
            </a:r>
            <a:r>
              <a:rPr lang="zh-CN" altLang="en-US" b="1"/>
              <a:t>个</a:t>
            </a:r>
            <a:r>
              <a:rPr lang="en-US" altLang="zh-CN" b="1"/>
              <a:t>token</a:t>
            </a:r>
            <a:r>
              <a:rPr lang="zh-CN" altLang="en-US"/>
              <a:t>，进而增加了上下文长度；并且，用三个轻量模块构建了即插即用的通用视觉</a:t>
            </a:r>
            <a:r>
              <a:rPr lang="en-US" altLang="zh-CN"/>
              <a:t>Tokenizer</a:t>
            </a:r>
            <a:r>
              <a:rPr lang="zh-CN" altLang="en-US"/>
              <a:t>（分词器）。在这两个基准上都取得了</a:t>
            </a:r>
            <a:r>
              <a:rPr lang="en-US" altLang="zh-CN"/>
              <a:t>sota</a:t>
            </a:r>
            <a:r>
              <a:rPr lang="zh-CN" altLang="en-US"/>
              <a:t>成果。</a:t>
            </a:r>
            <a:endParaRPr lang="en-US" altLang="zh-C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如图是它的运行机制，</a:t>
            </a:r>
            <a:r>
              <a:rPr lang="en-US" altLang="zh-CN"/>
              <a:t>agent </a:t>
            </a:r>
            <a:r>
              <a:rPr lang="zh-CN" altLang="en-US"/>
              <a:t>在沿途每个关键位置拍摄一组图像作为历史，经过压缩形成长期视觉记忆，探索过程中，如果输入目标在记忆中出现过，就查询记忆（粉色），否则就逐步探索（蓝色）</a:t>
            </a:r>
          </a:p>
        </p:txBody>
      </p:sp>
    </p:spTree>
    <p:extLst>
      <p:ext uri="{BB962C8B-B14F-4D97-AF65-F5344CB8AC3E}">
        <p14:creationId xmlns:p14="http://schemas.microsoft.com/office/powerpoint/2010/main" val="3001322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92509-A7CC-1024-F69C-066135801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B37BEA-04F5-74E9-F60D-25DB691422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03500E-E12D-ADBD-37CA-EA35B5F9582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0"/>
              <a:t>这是本文方法框架， 历史图像送进视觉压缩编码器，</a:t>
            </a:r>
            <a:r>
              <a:rPr lang="en-US" altLang="zh-CN" b="0"/>
              <a:t>DINOv3 VIT</a:t>
            </a:r>
            <a:r>
              <a:rPr lang="zh-CN" altLang="en-US" b="0"/>
              <a:t>把图像切块，对每个块提取特征向量；像素下采样把相邻</a:t>
            </a:r>
            <a:r>
              <a:rPr lang="en-US" altLang="zh-CN" b="0"/>
              <a:t>2×2</a:t>
            </a:r>
            <a:r>
              <a:rPr lang="zh-CN" altLang="en-US" b="0"/>
              <a:t>四个位置打包摞一起，降低分辨率、增加通道维度，</a:t>
            </a:r>
            <a:r>
              <a:rPr lang="zh-CN" altLang="en-US" sz="1200"/>
              <a:t>特征数变为原来的</a:t>
            </a:r>
            <a:r>
              <a:rPr lang="en-US" altLang="zh-CN" sz="1200"/>
              <a:t>1/4</a:t>
            </a:r>
            <a:r>
              <a:rPr lang="zh-CN" altLang="en-US" b="0"/>
              <a:t>；</a:t>
            </a:r>
            <a:r>
              <a:rPr lang="en-US" altLang="zh-CN" b="0"/>
              <a:t>3×3</a:t>
            </a:r>
            <a:r>
              <a:rPr lang="zh-CN" altLang="en-US" b="0"/>
              <a:t>卷积融合上一步的局部特征，</a:t>
            </a:r>
            <a:r>
              <a:rPr lang="zh-CN" altLang="en-US" sz="1200"/>
              <a:t>每个特征长度调整为 </a:t>
            </a:r>
            <a:r>
              <a:rPr lang="en-US" altLang="zh-CN" sz="1200"/>
              <a:t>1280 </a:t>
            </a:r>
            <a:r>
              <a:rPr lang="zh-CN" altLang="en-US" sz="1200" b="1"/>
              <a:t>方便 </a:t>
            </a:r>
            <a:r>
              <a:rPr lang="en-US" altLang="zh-CN" sz="1200" b="1"/>
              <a:t>qwen </a:t>
            </a:r>
            <a:r>
              <a:rPr lang="zh-CN" altLang="en-US" sz="1200" b="1"/>
              <a:t>模型做处理</a:t>
            </a:r>
            <a:r>
              <a:rPr lang="zh-CN" altLang="en-US" sz="1200"/>
              <a:t>；再归一化，重复</a:t>
            </a:r>
            <a:r>
              <a:rPr lang="en-US" altLang="zh-CN" sz="1200"/>
              <a:t>N</a:t>
            </a:r>
            <a:r>
              <a:rPr lang="zh-CN" altLang="en-US" sz="1200"/>
              <a:t>次，直到把 每张图片由</a:t>
            </a:r>
            <a:r>
              <a:rPr lang="en-US" altLang="zh-CN" sz="1200"/>
              <a:t>598 tokens </a:t>
            </a:r>
            <a:r>
              <a:rPr lang="zh-CN" altLang="en-US" sz="1200"/>
              <a:t>压缩到 </a:t>
            </a:r>
            <a:r>
              <a:rPr lang="en-US" altLang="zh-CN" sz="1200"/>
              <a:t>30 tokens.</a:t>
            </a:r>
          </a:p>
          <a:p>
            <a:endParaRPr lang="en-US" altLang="zh-CN" sz="1200"/>
          </a:p>
          <a:p>
            <a:r>
              <a:rPr lang="zh-CN" altLang="en-US" sz="1200" b="0"/>
              <a:t>图像压缩完成后，不同图像组之间插入相机位姿 </a:t>
            </a:r>
            <a:r>
              <a:rPr lang="en-US" altLang="zh-CN" sz="1200" b="0"/>
              <a:t>token</a:t>
            </a:r>
            <a:r>
              <a:rPr lang="zh-CN" altLang="en-US" sz="1200" b="0"/>
              <a:t>，最右侧拼接当前指令 </a:t>
            </a:r>
            <a:r>
              <a:rPr lang="en-US" altLang="zh-CN" sz="1200" b="0"/>
              <a:t>token</a:t>
            </a:r>
            <a:r>
              <a:rPr lang="zh-CN" altLang="en-US" sz="1200" b="0"/>
              <a:t>（</a:t>
            </a:r>
            <a:r>
              <a:rPr lang="en-US" altLang="zh-CN" sz="1200" b="0"/>
              <a:t>go to the pictures</a:t>
            </a:r>
            <a:r>
              <a:rPr lang="zh-CN" altLang="en-US" sz="1200" b="0"/>
              <a:t>然后停下）</a:t>
            </a:r>
            <a:endParaRPr lang="en-US" altLang="zh-CN" sz="1200" b="0"/>
          </a:p>
          <a:p>
            <a:r>
              <a:rPr lang="zh-CN" altLang="en-US" b="0"/>
              <a:t>随后把相机位姿</a:t>
            </a:r>
            <a:r>
              <a:rPr lang="en-US" altLang="zh-CN" b="0"/>
              <a:t>+</a:t>
            </a:r>
            <a:r>
              <a:rPr lang="zh-CN" altLang="en-US" b="0"/>
              <a:t>历史记忆</a:t>
            </a:r>
            <a:r>
              <a:rPr lang="en-US" altLang="zh-CN" b="0"/>
              <a:t>+</a:t>
            </a:r>
            <a:r>
              <a:rPr lang="zh-CN" altLang="en-US" b="0"/>
              <a:t>当前指令三种特征一起输入到 </a:t>
            </a:r>
            <a:r>
              <a:rPr lang="en-US" altLang="zh-CN" b="0"/>
              <a:t>qwen </a:t>
            </a:r>
            <a:r>
              <a:rPr lang="zh-CN" altLang="en-US" b="0"/>
              <a:t>做注意力计算，由于</a:t>
            </a:r>
            <a:r>
              <a:rPr lang="en-US" altLang="zh-CN" b="0"/>
              <a:t>kv</a:t>
            </a:r>
            <a:r>
              <a:rPr lang="zh-CN" altLang="en-US" b="0"/>
              <a:t>包含位姿这个位置信息，所以注意力可以计算得到目标位置特征，最后回答出 </a:t>
            </a:r>
            <a:r>
              <a:rPr lang="en-US" altLang="zh-CN" b="0"/>
              <a:t>picture </a:t>
            </a:r>
            <a:r>
              <a:rPr lang="zh-CN" altLang="en-US" b="0"/>
              <a:t>的位置</a:t>
            </a:r>
            <a:endParaRPr lang="en-US" altLang="zh-CN" b="0"/>
          </a:p>
        </p:txBody>
      </p:sp>
    </p:spTree>
    <p:extLst>
      <p:ext uri="{BB962C8B-B14F-4D97-AF65-F5344CB8AC3E}">
        <p14:creationId xmlns:p14="http://schemas.microsoft.com/office/powerpoint/2010/main" val="530370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6E2B5-7776-AD3C-0957-AD027C873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9DB3A2-1C69-70D6-D64D-4E8AD48EF5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D7D8C1-52B1-E39C-8A48-64127FF437C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在 </a:t>
            </a:r>
            <a:r>
              <a:rPr lang="en-US" altLang="zh-CN"/>
              <a:t>GOAT-Bench </a:t>
            </a:r>
            <a:r>
              <a:rPr lang="zh-CN" altLang="en-US"/>
              <a:t>和 </a:t>
            </a:r>
            <a:r>
              <a:rPr lang="en-US" altLang="zh-CN"/>
              <a:t>HM3D-OVON </a:t>
            </a:r>
            <a:r>
              <a:rPr lang="zh-CN" altLang="en-US"/>
              <a:t>两个基准上超越当前 </a:t>
            </a:r>
            <a:r>
              <a:rPr lang="en-US" altLang="zh-CN"/>
              <a:t>sota </a:t>
            </a:r>
            <a:r>
              <a:rPr lang="zh-CN" altLang="en-US"/>
              <a:t>方法</a:t>
            </a:r>
          </a:p>
        </p:txBody>
      </p:sp>
    </p:spTree>
    <p:extLst>
      <p:ext uri="{BB962C8B-B14F-4D97-AF65-F5344CB8AC3E}">
        <p14:creationId xmlns:p14="http://schemas.microsoft.com/office/powerpoint/2010/main" val="664787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CBF2E-CA8A-FB44-11BC-5CFD07F04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08CC13D-32E7-EB7D-2754-DEC3A36C32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09B0F5-D956-21F9-CD8E-F0247F23130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消融实验</a:t>
            </a:r>
            <a:endParaRPr lang="en-US" altLang="zh-CN"/>
          </a:p>
          <a:p>
            <a:r>
              <a:rPr lang="zh-CN" altLang="en-US"/>
              <a:t>验证了压缩倍数和每组保存历史图像个数对性能的影响，结果是</a:t>
            </a:r>
            <a:r>
              <a:rPr lang="en-US" altLang="zh-CN"/>
              <a:t>4</a:t>
            </a:r>
            <a:r>
              <a:rPr lang="zh-CN" altLang="en-US"/>
              <a:t>倍压缩下，每组保存</a:t>
            </a:r>
            <a:r>
              <a:rPr lang="en-US" altLang="zh-CN"/>
              <a:t>100</a:t>
            </a:r>
            <a:r>
              <a:rPr lang="zh-CN" altLang="en-US"/>
              <a:t>张效果最好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5881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8E73E-29BD-E11F-FEF0-748216E9B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9755526-EA30-573A-82FC-E8961C2B50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25A465-82E7-317E-E2B7-1BF016DAFD3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ICRA 2026  </a:t>
            </a:r>
            <a:r>
              <a:rPr lang="zh-CN" altLang="en-US"/>
              <a:t>题目是“用</a:t>
            </a:r>
            <a:r>
              <a:rPr lang="zh-CN" altLang="en-US" b="1"/>
              <a:t>慢速</a:t>
            </a:r>
            <a:r>
              <a:rPr lang="en-US" altLang="zh-CN" b="1"/>
              <a:t>LLM</a:t>
            </a:r>
            <a:r>
              <a:rPr lang="zh-CN" altLang="en-US"/>
              <a:t>与</a:t>
            </a:r>
            <a:r>
              <a:rPr lang="zh-CN" altLang="en-US" b="1"/>
              <a:t>快速属性图对齐</a:t>
            </a:r>
            <a:r>
              <a:rPr lang="zh-CN" altLang="en-US"/>
              <a:t>实现高效的零样本导航”</a:t>
            </a:r>
            <a:br>
              <a:rPr lang="en-US" altLang="zh-CN"/>
            </a:br>
            <a:r>
              <a:rPr lang="zh-CN" altLang="en-US"/>
              <a:t>主要</a:t>
            </a:r>
            <a:r>
              <a:rPr lang="zh-CN" altLang="zh-CN"/>
              <a:t>解决</a:t>
            </a:r>
            <a:r>
              <a:rPr lang="zh-CN" altLang="en-US"/>
              <a:t>的是</a:t>
            </a:r>
            <a:r>
              <a:rPr lang="zh-CN" altLang="zh-CN"/>
              <a:t>大模型导航耗时过长问题</a:t>
            </a:r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4977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7BA14-BFE4-B413-60CB-95B5AC2B9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C8FD74-85A7-46BE-F55E-F713B09AC9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5CC4F5-E2A4-D8CD-96DA-A76430DAD20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本文采用</a:t>
            </a:r>
            <a:r>
              <a:rPr lang="en-US" altLang="zh-CN"/>
              <a:t>R2R</a:t>
            </a:r>
            <a:r>
              <a:rPr lang="zh-CN" altLang="en-US"/>
              <a:t>、</a:t>
            </a:r>
            <a:r>
              <a:rPr lang="en-US" altLang="zh-CN"/>
              <a:t>REVERIE</a:t>
            </a:r>
            <a:r>
              <a:rPr lang="zh-CN" altLang="en-US"/>
              <a:t>两个基准数据集，任务是给</a:t>
            </a:r>
            <a:r>
              <a:rPr lang="en-US" altLang="zh-CN"/>
              <a:t>agent</a:t>
            </a:r>
            <a:r>
              <a:rPr lang="zh-CN" altLang="en-US"/>
              <a:t>输入自然语言导航指令，</a:t>
            </a:r>
            <a:r>
              <a:rPr lang="en-US" altLang="zh-CN"/>
              <a:t>agent</a:t>
            </a:r>
            <a:r>
              <a:rPr lang="zh-CN" altLang="en-US"/>
              <a:t>靠自身视觉感知自主走到目标位置。</a:t>
            </a:r>
            <a:endParaRPr lang="en-US" altLang="zh-C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现有</a:t>
            </a:r>
            <a:r>
              <a:rPr lang="en-US" altLang="zh-CN"/>
              <a:t>zero-shot</a:t>
            </a:r>
            <a:r>
              <a:rPr lang="zh-CN" altLang="en-US"/>
              <a:t>主要是通过观察建图，在图上逐步进行模型推理，会导致高延迟和高计算成本。</a:t>
            </a:r>
            <a:endParaRPr lang="en-US" altLang="zh-C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本文灵感来源于人类认知机制，意思是人类要前往一个目的地时，不会每走一步都进行深度思考，而是提前在脑海中规划路线，然后快速行动，直到迷路或者和想象中不一致才重新思考。</a:t>
            </a:r>
            <a:endParaRPr lang="en-US" altLang="zh-C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本文贡献是：</a:t>
            </a:r>
            <a:r>
              <a:rPr lang="en-US" altLang="zh-CN"/>
              <a:t>123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9719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76763-A814-2506-FBAA-723954B8F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A9D81F-2026-7E3D-3E2A-381B6F08F1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3B8BDF-E2ED-BAE8-D1A1-58A753E5F55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zh-CN"/>
              <a:t>Prompt Manager</a:t>
            </a:r>
            <a:b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记录当前导航指令：</a:t>
            </a:r>
            <a:r>
              <a:rPr lang="zh-CN" altLang="zh-CN"/>
              <a:t>向前走，经过床，从门出去，最后到圆桌处停下。</a:t>
            </a:r>
            <a:endParaRPr lang="en-US" altLang="zh-CN"/>
          </a:p>
          <a:p>
            <a:r>
              <a:rPr lang="zh-CN" altLang="en-US" b="0"/>
              <a:t>同时维护</a:t>
            </a:r>
            <a:r>
              <a:rPr lang="en-US" altLang="zh-CN" b="0"/>
              <a:t>agent</a:t>
            </a:r>
            <a:r>
              <a:rPr lang="zh-CN" altLang="en-US" b="1"/>
              <a:t>已经看到的物体图</a:t>
            </a:r>
            <a:r>
              <a:rPr lang="zh-CN" altLang="en-US" b="0"/>
              <a:t>以及</a:t>
            </a:r>
            <a:r>
              <a:rPr lang="zh-CN" altLang="en-US" b="1"/>
              <a:t>已经完成的历史目标</a:t>
            </a:r>
            <a:r>
              <a:rPr lang="zh-CN" altLang="en-US" b="0"/>
              <a:t>，所有这些信息将被送给</a:t>
            </a:r>
            <a:r>
              <a:rPr lang="en-US" altLang="zh-CN" b="0"/>
              <a:t>LLM</a:t>
            </a:r>
          </a:p>
          <a:p>
            <a:endParaRPr lang="en-US" altLang="zh-CN" b="0"/>
          </a:p>
          <a:p>
            <a:r>
              <a:rPr lang="zh-CN" altLang="zh-CN"/>
              <a:t>Slow LLM Planner</a:t>
            </a:r>
            <a:r>
              <a:rPr lang="en-US" altLang="zh-CN"/>
              <a:t> </a:t>
            </a:r>
            <a:r>
              <a:rPr lang="zh-CN" altLang="en-US"/>
              <a:t>→ </a:t>
            </a:r>
            <a:r>
              <a:rPr lang="en-US" altLang="zh-CN"/>
              <a:t>Response Parser</a:t>
            </a:r>
          </a:p>
          <a:p>
            <a:r>
              <a:rPr lang="zh-CN" altLang="en-US"/>
              <a:t>慢</a:t>
            </a:r>
            <a:r>
              <a:rPr lang="en-US" altLang="zh-CN"/>
              <a:t>LLM</a:t>
            </a:r>
            <a:r>
              <a:rPr lang="zh-CN" altLang="en-US"/>
              <a:t>规划期输出三类结果：</a:t>
            </a:r>
            <a:endParaRPr lang="en-US" altLang="zh-CN"/>
          </a:p>
          <a:p>
            <a:r>
              <a:rPr lang="zh-CN" altLang="en-US" b="0"/>
              <a:t>①</a:t>
            </a:r>
            <a:r>
              <a:rPr lang="zh-CN" altLang="en-US" b="1"/>
              <a:t>想象的物体图序列</a:t>
            </a:r>
            <a:r>
              <a:rPr lang="zh-CN" altLang="en-US" b="0"/>
              <a:t>：</a:t>
            </a:r>
            <a:r>
              <a:rPr lang="en-US" altLang="zh-CN" b="0"/>
              <a:t>step1</a:t>
            </a:r>
            <a:r>
              <a:rPr lang="zh-CN" altLang="en-US" b="0"/>
              <a:t>目标是床，附近可能有台灯</a:t>
            </a:r>
            <a:r>
              <a:rPr lang="en-US" altLang="zh-CN" b="0"/>
              <a:t>…</a:t>
            </a:r>
            <a:r>
              <a:rPr lang="zh-CN" altLang="en-US" b="0"/>
              <a:t>；</a:t>
            </a:r>
            <a:r>
              <a:rPr lang="en-US" altLang="zh-CN" b="0"/>
              <a:t>step2</a:t>
            </a:r>
            <a:r>
              <a:rPr lang="zh-CN" altLang="en-US" b="0"/>
              <a:t>目标是门，附近可能有桌子等等，将这些想想的物体建造一个想象图</a:t>
            </a:r>
            <a:endParaRPr lang="en-US" altLang="zh-CN" b="0"/>
          </a:p>
          <a:p>
            <a:pPr rtl="0"/>
            <a:r>
              <a:rPr lang="zh-CN" altLang="en-US" b="0"/>
              <a:t>②</a:t>
            </a:r>
            <a:r>
              <a:rPr lang="zh-CN" altLang="en-US" b="1"/>
              <a:t>目标物体</a:t>
            </a:r>
            <a:r>
              <a:rPr lang="en-US" altLang="zh-CN" b="1"/>
              <a:t>+</a:t>
            </a:r>
            <a:r>
              <a:rPr lang="zh-CN" altLang="en-US" b="1"/>
              <a:t>动作技能序列</a:t>
            </a:r>
            <a:r>
              <a:rPr lang="zh-CN" altLang="en-US" b="0"/>
              <a:t>：</a:t>
            </a:r>
            <a:r>
              <a:rPr lang="zh-CN" alt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[bed, approach</a:t>
            </a:r>
            <a:r>
              <a:rPr lang="en-US" alt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zh-CN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靠近</a:t>
            </a:r>
            <a:r>
              <a:rPr lang="en-US" alt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zh-CN" alt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]</a:t>
            </a:r>
            <a:r>
              <a:rPr lang="en-US" alt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en-US" sz="12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床要执行</a:t>
            </a:r>
            <a:r>
              <a:rPr lang="zh-CN" altLang="en-US" sz="1200" b="1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靠近</a:t>
            </a:r>
            <a:r>
              <a:rPr lang="zh-CN" altLang="en-US" sz="1200" kern="120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的动作</a:t>
            </a:r>
            <a:r>
              <a:rPr lang="zh-CN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、</a:t>
            </a:r>
            <a:r>
              <a:rPr lang="zh-CN" alt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[door, through]</a:t>
            </a:r>
            <a:r>
              <a:rPr lang="zh-CN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门要执行</a:t>
            </a:r>
            <a:r>
              <a:rPr lang="zh-CN" altLang="en-US"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穿过</a:t>
            </a:r>
            <a:r>
              <a:rPr lang="zh-CN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的动作</a:t>
            </a:r>
            <a:endParaRPr lang="zh-CN" altLang="zh-CN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/>
              <a:t>③</a:t>
            </a:r>
            <a:r>
              <a:rPr lang="zh-CN" altLang="en-US" b="1"/>
              <a:t>最终目标物</a:t>
            </a:r>
            <a:r>
              <a:rPr lang="zh-CN" altLang="en-US" b="0"/>
              <a:t>：到达圆桌 </a:t>
            </a:r>
            <a:r>
              <a:rPr lang="zh-CN" alt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round table</a:t>
            </a:r>
            <a:r>
              <a:rPr lang="zh-CN" altLang="en-US"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，任务结束</a:t>
            </a:r>
            <a:endParaRPr lang="en-US" altLang="zh-CN" sz="12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strike="sngStrike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p.s. </a:t>
            </a:r>
            <a:r>
              <a:rPr lang="zh-CN" altLang="en-US" sz="1200" b="0" strike="sngStrike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想象图不是</a:t>
            </a:r>
            <a:r>
              <a:rPr lang="en-US" altLang="zh-CN" sz="1200" b="0" strike="sngStrike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img</a:t>
            </a:r>
            <a:r>
              <a:rPr lang="zh-CN" altLang="en-US" sz="1200" b="0" strike="sngStrike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照片，是结构化物体关系图</a:t>
            </a:r>
            <a:endParaRPr lang="en-US" altLang="zh-CN" sz="1200" b="0" strike="sngStrike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/>
              <a:t>Fast Reactive Navigator</a:t>
            </a:r>
            <a:endParaRPr lang="en-US" altLang="zh-C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/>
              <a:t>慢</a:t>
            </a:r>
            <a:r>
              <a:rPr lang="en-US" altLang="zh-CN"/>
              <a:t>LLM</a:t>
            </a:r>
            <a:r>
              <a:rPr lang="zh-CN" altLang="en-US"/>
              <a:t>思考结束后，快导航器执行两个动作：</a:t>
            </a:r>
            <a:endParaRPr lang="en-US" altLang="zh-C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①</a:t>
            </a:r>
            <a:r>
              <a:rPr lang="zh-CN" altLang="zh-CN" b="1"/>
              <a:t>Graph Build</a:t>
            </a:r>
            <a:r>
              <a:rPr lang="zh-CN" altLang="en-US" b="1"/>
              <a:t>（建图）</a:t>
            </a:r>
            <a:r>
              <a:rPr lang="zh-CN" altLang="en-US"/>
              <a:t>：通过当前</a:t>
            </a:r>
            <a:r>
              <a:rPr lang="en-US" altLang="zh-CN"/>
              <a:t>RGB-D</a:t>
            </a:r>
            <a:r>
              <a:rPr lang="zh-CN" altLang="en-US"/>
              <a:t>观测</a:t>
            </a:r>
            <a:r>
              <a:rPr lang="zh-CN" altLang="zh-CN"/>
              <a:t>，</a:t>
            </a:r>
            <a:r>
              <a:rPr lang="zh-CN" altLang="en-US"/>
              <a:t>维护这个已经观察到的物体图</a:t>
            </a:r>
            <a:endParaRPr lang="en-US" altLang="zh-C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②</a:t>
            </a:r>
            <a:r>
              <a:rPr lang="zh-CN" altLang="zh-CN" b="1"/>
              <a:t>Execution</a:t>
            </a:r>
            <a:r>
              <a:rPr lang="zh-CN" altLang="en-US" b="1"/>
              <a:t>（执行）</a:t>
            </a:r>
            <a:r>
              <a:rPr lang="zh-CN" altLang="en-US"/>
              <a:t>：</a:t>
            </a:r>
            <a:r>
              <a:rPr lang="zh-CN" altLang="zh-CN"/>
              <a:t>把</a:t>
            </a:r>
            <a:r>
              <a:rPr lang="en-US" altLang="zh-CN"/>
              <a:t>LLM</a:t>
            </a:r>
            <a:r>
              <a:rPr lang="zh-CN" altLang="en-US"/>
              <a:t>给出的</a:t>
            </a:r>
            <a:r>
              <a:rPr lang="en-US" altLang="zh-CN"/>
              <a:t>skill</a:t>
            </a:r>
            <a:r>
              <a:rPr lang="zh-CN" altLang="zh-CN"/>
              <a:t>变成底层动作</a:t>
            </a:r>
            <a:endParaRPr lang="en-US" altLang="zh-C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/>
              <a:t>Slow-Fast Bridge</a:t>
            </a:r>
            <a:endParaRPr lang="en-US" altLang="zh-CN"/>
          </a:p>
          <a:p>
            <a:pPr rtl="0"/>
            <a:r>
              <a:rPr lang="en-US" alt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zh-CN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中间橙色</a:t>
            </a:r>
            <a:r>
              <a:rPr lang="en-US" alt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zh-CN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对比 </a:t>
            </a:r>
            <a:r>
              <a:rPr lang="zh-CN" alt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当前实际看到的图 Gp</a:t>
            </a:r>
            <a:r>
              <a:rPr lang="en-US" alt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zh-CN" alt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慢脑想象的图 Gi</a:t>
            </a:r>
            <a:r>
              <a:rPr lang="zh-CN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，计算</a:t>
            </a:r>
            <a:r>
              <a:rPr lang="en-US" alt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Ct = </a:t>
            </a:r>
            <a:r>
              <a:rPr lang="zh-CN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当前图和想象图的匹配置信度，</a:t>
            </a:r>
            <a:endParaRPr lang="en-US" altLang="zh-CN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zh-CN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置信度大于阈值，执行导航动作，小于阈值就唤醒</a:t>
            </a:r>
            <a:r>
              <a:rPr lang="en-US" altLang="zh-C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LLM</a:t>
            </a:r>
            <a:r>
              <a:rPr lang="zh-CN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重新规划。</a:t>
            </a:r>
            <a:endParaRPr lang="en-US" altLang="zh-CN" sz="12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CN" altLang="zh-CN"/>
              <a:t>这个过程是异步的。</a:t>
            </a:r>
          </a:p>
          <a:p>
            <a:r>
              <a:rPr lang="zh-CN" altLang="zh-CN"/>
              <a:t>也就是说，快脑可以持续运行，慢脑只在需要时启动。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4534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F71C9-6430-1380-02FA-815E6CE50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546BEC3-B34E-6766-D24F-08429C347B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8FC585-2251-2177-4B7D-FB6C27B028A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如图展示了慢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的思考过程</a:t>
            </a:r>
            <a:b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左：终点识别器，从自然语言指令里识别一个最终目标（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sink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水槽）</a:t>
            </a:r>
            <a:endParaRPr lang="en-US" altLang="zh-CN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中：策略分析器，根据完整指令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、已经完成的目标历史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、当前</a:t>
            </a:r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已经观察到的物体图 </a:t>
            </a:r>
            <a:r>
              <a:rPr lang="en-US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，输出自然语言规划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Rt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、当前子目标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、当前技能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skt</a:t>
            </a:r>
          </a:p>
          <a:p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右：子目标链生成器，把上一步的文字计划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Rt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转换成结构化格式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目标物体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动作技能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zh-CN" altLang="en-U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想象物体图</a:t>
            </a:r>
            <a:r>
              <a:rPr lang="en-US" altLang="zh-CN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  <a:b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zh-CN" altLang="en-US" b="0"/>
          </a:p>
        </p:txBody>
      </p:sp>
    </p:spTree>
    <p:extLst>
      <p:ext uri="{BB962C8B-B14F-4D97-AF65-F5344CB8AC3E}">
        <p14:creationId xmlns:p14="http://schemas.microsoft.com/office/powerpoint/2010/main" val="3380385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534A2-FA3A-6F3A-30FE-E82FE70B9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871D4B-6D41-94D0-CCA3-D4C812DB5A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AF6F54-8B32-3D28-3265-2B5D135BA38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/>
              <a:t>左边是机器人真实看到的图</a:t>
            </a:r>
            <a:r>
              <a:rPr lang="zh-CN" altLang="en-US"/>
              <a:t>：星型结构，</a:t>
            </a:r>
            <a:r>
              <a:rPr lang="zh-CN" altLang="zh-CN"/>
              <a:t>中心节点是当前时间点，周围连接当前看到的物体</a:t>
            </a:r>
            <a:r>
              <a:rPr lang="zh-CN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；</a:t>
            </a:r>
            <a:r>
              <a:rPr lang="zh-CN" altLang="zh-CN"/>
              <a:t>右边是 LLM 想象的图</a:t>
            </a:r>
            <a:r>
              <a:rPr lang="en-US" altLang="zh-CN"/>
              <a:t>…</a:t>
            </a:r>
            <a:endParaRPr lang="en-US" altLang="zh-CN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/>
              <a:t>用两个矩阵 </a:t>
            </a:r>
            <a:r>
              <a:rPr lang="en-US" altLang="zh-CN" b="0"/>
              <a:t>P</a:t>
            </a:r>
            <a:r>
              <a:rPr lang="zh-CN" altLang="en-US" b="0"/>
              <a:t>、</a:t>
            </a:r>
            <a:r>
              <a:rPr lang="en-US" altLang="zh-CN" b="0"/>
              <a:t>Q</a:t>
            </a:r>
            <a:r>
              <a:rPr lang="zh-CN" altLang="en-US" b="0"/>
              <a:t>表示图之间的匹配关系  </a:t>
            </a:r>
            <a:endParaRPr lang="en-US" altLang="zh-CN" b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/>
              <a:t>P 矩阵</a:t>
            </a:r>
            <a:r>
              <a:rPr lang="zh-CN" altLang="en-US"/>
              <a:t>表示两个图时间上的匹配关系，</a:t>
            </a:r>
            <a:r>
              <a:rPr lang="en-US" altLang="zh-CN"/>
              <a:t>Q </a:t>
            </a:r>
            <a:r>
              <a:rPr lang="zh-CN" altLang="en-US"/>
              <a:t>矩阵表示两个图时间与物体上的匹配关系。</a:t>
            </a:r>
            <a:endParaRPr lang="en-US" altLang="zh-CN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/>
              <a:t>这两个矩阵，分别衡量两个图时间结构、物体属性关系的一直车高度，最后计算置信度。</a:t>
            </a:r>
            <a:r>
              <a:rPr lang="zh-CN" altLang="en-US" sz="1200"/>
              <a:t>两图越一致，ψu、ψa 就越大，置信度就越大，</a:t>
            </a:r>
            <a:r>
              <a:rPr lang="en-US" altLang="zh-CN" sz="1200"/>
              <a:t>….</a:t>
            </a:r>
            <a:endParaRPr lang="en-US" altLang="zh-CN" b="0"/>
          </a:p>
        </p:txBody>
      </p:sp>
    </p:spTree>
    <p:extLst>
      <p:ext uri="{BB962C8B-B14F-4D97-AF65-F5344CB8AC3E}">
        <p14:creationId xmlns:p14="http://schemas.microsoft.com/office/powerpoint/2010/main" val="23841482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94766-7000-FE53-63EE-CABA96741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4C2B23-F647-6CC3-6B03-F6724092D7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B3BA23-B72D-6461-7774-06D5513599B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b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SF-Nav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：每一步都调用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</a:t>
            </a:r>
          </a:p>
          <a:p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SFCo-Nav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：快慢协同（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开销最小，且性能和最优的相差不大）</a:t>
            </a:r>
            <a:b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V-Tok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L-Tok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U-Tok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：视觉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、语言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、总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</a:t>
            </a:r>
            <a:endParaRPr lang="zh-CN" altLang="en-US" b="0"/>
          </a:p>
        </p:txBody>
      </p:sp>
    </p:spTree>
    <p:extLst>
      <p:ext uri="{BB962C8B-B14F-4D97-AF65-F5344CB8AC3E}">
        <p14:creationId xmlns:p14="http://schemas.microsoft.com/office/powerpoint/2010/main" val="37012652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2E7A4-73AE-C5A1-265D-8213F08F8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36F447-79DA-E8FA-6338-A7ACDBD89A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E05ED8-E03B-05B9-DE39-120FECE8AE9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sz="1200"/>
              <a:t>AstraNav-Memory </a:t>
            </a:r>
            <a:r>
              <a:rPr lang="zh-CN" altLang="en-US" sz="1200"/>
              <a:t>收益主要来自记忆压缩后更长的记忆上下文，创新性</a:t>
            </a:r>
            <a:r>
              <a:rPr lang="en-US" altLang="zh-CN" sz="1200"/>
              <a:t>×</a:t>
            </a:r>
            <a:endParaRPr lang="zh-CN" altLang="en-US" b="0"/>
          </a:p>
        </p:txBody>
      </p:sp>
    </p:spTree>
    <p:extLst>
      <p:ext uri="{BB962C8B-B14F-4D97-AF65-F5344CB8AC3E}">
        <p14:creationId xmlns:p14="http://schemas.microsoft.com/office/powerpoint/2010/main" val="865537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a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0214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58900"/>
            <a:ext cx="9144000" cy="2151062"/>
          </a:xfrm>
        </p:spPr>
        <p:txBody>
          <a:bodyPr anchor="b"/>
          <a:lstStyle>
            <a:lvl1pPr algn="ctr"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5C51EB4-024F-40A9-819D-7A4DC650EB86}" type="datetime1">
              <a:rPr lang="zh-CN" altLang="en-US" smtClean="0"/>
              <a:t>2026/10/26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西安电子科技大学 </a:t>
            </a:r>
            <a:r>
              <a:rPr lang="en-US" altLang="zh-CN" dirty="0"/>
              <a:t>2024</a:t>
            </a:r>
            <a:r>
              <a:rPr lang="zh-CN" altLang="en-US" dirty="0"/>
              <a:t>年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5FD2935-3C16-4AC6-B30B-C27A764FC0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a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448800" y="0"/>
            <a:ext cx="2743200" cy="68103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母版标题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135187"/>
            <a:ext cx="10515600" cy="4041775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F06EEF3-B451-4891-B341-24F4EE6282BB}" type="datetime1">
              <a:rPr lang="zh-CN" altLang="en-US" smtClean="0"/>
              <a:t>2026/10/26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西安电子科技大学 </a:t>
            </a:r>
            <a:r>
              <a:rPr lang="en-US" altLang="zh-CN" dirty="0"/>
              <a:t>2024</a:t>
            </a:r>
            <a:r>
              <a:rPr lang="zh-CN" altLang="en-US" dirty="0"/>
              <a:t>年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5FD2935-3C16-4AC6-B30B-C27A764FC0E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内容占位符 2"/>
          <p:cNvSpPr>
            <a:spLocks noGrp="1"/>
          </p:cNvSpPr>
          <p:nvPr>
            <p:ph idx="13"/>
          </p:nvPr>
        </p:nvSpPr>
        <p:spPr>
          <a:xfrm>
            <a:off x="838200" y="999829"/>
            <a:ext cx="10515600" cy="1044871"/>
          </a:xfrm>
          <a:ln>
            <a:solidFill>
              <a:schemeClr val="tx1"/>
            </a:solidFill>
          </a:ln>
        </p:spPr>
        <p:txBody>
          <a:bodyPr anchor="ctr"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n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0749" y="34513"/>
            <a:ext cx="3093991" cy="82879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a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2133600"/>
            <a:ext cx="5181600" cy="404336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2133600"/>
            <a:ext cx="5181600" cy="404336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757414A-1A05-41D1-801E-C1543F9FF735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西安电子科技大学 </a:t>
            </a:r>
            <a:r>
              <a:rPr lang="en-US" altLang="zh-CN" dirty="0"/>
              <a:t>2024</a:t>
            </a:r>
            <a:r>
              <a:rPr lang="zh-CN" altLang="en-US" dirty="0"/>
              <a:t>年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5FD2935-3C16-4AC6-B30B-C27A764FC0E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6" name="标题 1"/>
          <p:cNvSpPr>
            <a:spLocks noGrp="1"/>
          </p:cNvSpPr>
          <p:nvPr>
            <p:ph type="title" hasCustomPrompt="1"/>
          </p:nvPr>
        </p:nvSpPr>
        <p:spPr>
          <a:xfrm>
            <a:off x="9448800" y="0"/>
            <a:ext cx="2743200" cy="68103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母版标题</a:t>
            </a:r>
          </a:p>
        </p:txBody>
      </p:sp>
      <p:sp>
        <p:nvSpPr>
          <p:cNvPr id="2" name="内容占位符 2"/>
          <p:cNvSpPr>
            <a:spLocks noGrp="1"/>
          </p:cNvSpPr>
          <p:nvPr>
            <p:ph idx="13"/>
          </p:nvPr>
        </p:nvSpPr>
        <p:spPr>
          <a:xfrm>
            <a:off x="838200" y="999829"/>
            <a:ext cx="10515600" cy="1044871"/>
          </a:xfrm>
          <a:ln>
            <a:solidFill>
              <a:schemeClr val="tx1"/>
            </a:solidFill>
          </a:ln>
        </p:spPr>
        <p:txBody>
          <a:bodyPr anchor="ctr"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n"/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0749" y="34513"/>
            <a:ext cx="3093991" cy="82879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a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04901"/>
            <a:ext cx="10515600" cy="507206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3B4869A-3D9C-4837-AD78-EB6164639115}" type="datetime1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西安电子科技大学 </a:t>
            </a:r>
            <a:r>
              <a:rPr lang="en-US" altLang="zh-CN" dirty="0"/>
              <a:t>2024</a:t>
            </a:r>
            <a:r>
              <a:rPr lang="zh-CN" altLang="en-US" dirty="0"/>
              <a:t>年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5FD2935-3C16-4AC6-B30B-C27A764FC0E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 hasCustomPrompt="1"/>
          </p:nvPr>
        </p:nvSpPr>
        <p:spPr>
          <a:xfrm>
            <a:off x="9448800" y="0"/>
            <a:ext cx="2743200" cy="68103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母版标题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0749" y="34513"/>
            <a:ext cx="3093991" cy="82879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C103C-FDA1-4DDA-B81B-30CF0FC38EB4}" type="datetime1">
              <a:rPr lang="zh-CN" altLang="en-US" smtClean="0"/>
              <a:t>2026/10/26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西安电子科技大学 </a:t>
            </a:r>
            <a:r>
              <a:rPr lang="en-US" altLang="zh-CN" dirty="0"/>
              <a:t>2024</a:t>
            </a:r>
            <a:r>
              <a:rPr lang="zh-CN" altLang="en-US" dirty="0"/>
              <a:t>年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D2935-3C16-4AC6-B30B-C27A764FC0E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4869C-3006-BBA3-DC63-C9ABAE0A7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6D949F3A-069E-92E2-0C0C-91A27EE03DBB}"/>
              </a:ext>
            </a:extLst>
          </p:cNvPr>
          <p:cNvSpPr txBox="1"/>
          <p:nvPr/>
        </p:nvSpPr>
        <p:spPr>
          <a:xfrm>
            <a:off x="5371450" y="4304837"/>
            <a:ext cx="14490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/>
              <a:t>CVPR 2026</a:t>
            </a:r>
            <a:endParaRPr lang="zh-CN" altLang="en-US" b="1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1D1CCDB-60DB-DCD7-DEC9-9A51FA785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390" y="2034103"/>
            <a:ext cx="8107219" cy="2169009"/>
          </a:xfrm>
          <a:prstGeom prst="rect">
            <a:avLst/>
          </a:prstGeom>
        </p:spPr>
      </p:pic>
      <p:sp>
        <p:nvSpPr>
          <p:cNvPr id="2" name="日期占位符 3">
            <a:extLst>
              <a:ext uri="{FF2B5EF4-FFF2-40B4-BE49-F238E27FC236}">
                <a16:creationId xmlns:a16="http://schemas.microsoft.com/office/drawing/2014/main" id="{40033F80-3D9C-FAC8-14AB-B13738FA4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5C51EB4-024F-40A9-819D-7A4DC650EB86}" type="datetime1">
              <a:rPr lang="zh-CN" altLang="en-US" smtClean="0"/>
              <a:t>2026/10/26</a:t>
            </a:fld>
            <a:r>
              <a:rPr lang="zh-CN" altLang="en-US"/>
              <a:t>      汇报人：王康欣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2B45D76-F6D2-F83F-7CB5-8A1E12F8E41A}"/>
              </a:ext>
            </a:extLst>
          </p:cNvPr>
          <p:cNvSpPr txBox="1"/>
          <p:nvPr/>
        </p:nvSpPr>
        <p:spPr>
          <a:xfrm>
            <a:off x="2707888" y="4674169"/>
            <a:ext cx="67762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阿里巴巴  清华大学  北京大学</a:t>
            </a:r>
          </a:p>
        </p:txBody>
      </p:sp>
    </p:spTree>
    <p:extLst>
      <p:ext uri="{BB962C8B-B14F-4D97-AF65-F5344CB8AC3E}">
        <p14:creationId xmlns:p14="http://schemas.microsoft.com/office/powerpoint/2010/main" val="1555673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3D426-3228-9F86-6231-B169BADEC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A2DD3-BCFF-9503-79D1-252005C9F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5759" y="0"/>
            <a:ext cx="2534920" cy="680720"/>
          </a:xfrm>
        </p:spPr>
        <p:txBody>
          <a:bodyPr>
            <a:normAutofit/>
          </a:bodyPr>
          <a:lstStyle/>
          <a:p>
            <a:r>
              <a:rPr lang="en-US" altLang="zh-CN" sz="2800">
                <a:sym typeface="+mn-ea"/>
              </a:rPr>
              <a:t>Introduction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013C4E3-9360-FD75-4865-358960C4236B}"/>
              </a:ext>
            </a:extLst>
          </p:cNvPr>
          <p:cNvSpPr txBox="1"/>
          <p:nvPr/>
        </p:nvSpPr>
        <p:spPr>
          <a:xfrm>
            <a:off x="465608" y="922960"/>
            <a:ext cx="11548592" cy="1990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b="1"/>
              <a:t>背景</a:t>
            </a:r>
            <a:endParaRPr lang="en-US" altLang="zh-CN" b="1"/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rgbClr val="002060"/>
                </a:solidFill>
              </a:rPr>
              <a:t>GOAT-Bench</a:t>
            </a:r>
            <a:r>
              <a:rPr lang="zh-CN" altLang="en-US" sz="1600">
                <a:solidFill>
                  <a:srgbClr val="002060"/>
                </a:solidFill>
              </a:rPr>
              <a:t>（</a:t>
            </a:r>
            <a:r>
              <a:rPr lang="en-US" altLang="zh-CN" sz="1600">
                <a:solidFill>
                  <a:srgbClr val="002060"/>
                </a:solidFill>
              </a:rPr>
              <a:t>CVPR2024</a:t>
            </a:r>
            <a:r>
              <a:rPr lang="zh-CN" altLang="en-US" sz="1600">
                <a:solidFill>
                  <a:srgbClr val="002060"/>
                </a:solidFill>
              </a:rPr>
              <a:t>）</a:t>
            </a:r>
            <a:r>
              <a:rPr lang="zh-CN" altLang="en-US" sz="1600"/>
              <a:t>：</a:t>
            </a:r>
            <a:r>
              <a:rPr lang="en-US" altLang="zh-CN" sz="1600"/>
              <a:t>agent </a:t>
            </a:r>
            <a:r>
              <a:rPr lang="zh-CN" altLang="en-US" sz="1600"/>
              <a:t>在同一未知场景内，连续完成多个导航目标，允许复用前面子任务获得的环境经验，允许多模态输入（目标类别、语言描述、目标图像）；</a:t>
            </a:r>
            <a:endParaRPr lang="en-US" altLang="zh-CN" sz="1600"/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zh-CN" sz="1600" b="1">
                <a:solidFill>
                  <a:srgbClr val="002060"/>
                </a:solidFill>
              </a:rPr>
              <a:t>HM3D-OVON</a:t>
            </a:r>
            <a:r>
              <a:rPr lang="zh-CN" altLang="en-US" sz="1600"/>
              <a:t>（</a:t>
            </a:r>
            <a:r>
              <a:rPr lang="en-US" altLang="zh-CN" sz="1600"/>
              <a:t>IROS2024</a:t>
            </a:r>
            <a:r>
              <a:rPr lang="zh-CN" altLang="en-US" sz="1600"/>
              <a:t>）：</a:t>
            </a:r>
            <a:r>
              <a:rPr lang="en-US" altLang="zh-CN" sz="1600"/>
              <a:t>agent </a:t>
            </a:r>
            <a:r>
              <a:rPr lang="zh-CN" altLang="zh-CN" sz="1600"/>
              <a:t>在真实扫描的室内环境中，根据自由文本自主探索，寻找训练阶段不一定见过的目标</a:t>
            </a:r>
            <a:r>
              <a:rPr lang="zh-CN" altLang="en-US" sz="1600"/>
              <a:t>；</a:t>
            </a:r>
            <a:endParaRPr lang="en-US" altLang="zh-CN" sz="1600"/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现有</a:t>
            </a:r>
            <a:r>
              <a:rPr lang="zh-CN" altLang="en-US" sz="1600">
                <a:solidFill>
                  <a:srgbClr val="951F25"/>
                </a:solidFill>
              </a:rPr>
              <a:t>显式建图</a:t>
            </a:r>
            <a:r>
              <a:rPr lang="zh-CN" altLang="en-US" sz="1600"/>
              <a:t>方法依赖复杂的感知流水线，易受上游检测、分割、</a:t>
            </a:r>
            <a:r>
              <a:rPr lang="en-US" altLang="zh-CN" sz="1600"/>
              <a:t>3D</a:t>
            </a:r>
            <a:r>
              <a:rPr lang="zh-CN" altLang="en-US" sz="1600"/>
              <a:t>重建错误的影响，鲁棒性差；</a:t>
            </a:r>
            <a:endParaRPr lang="en-US" altLang="zh-CN" sz="1600"/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rgbClr val="951F25"/>
                </a:solidFill>
              </a:rPr>
              <a:t>隐式记忆</a:t>
            </a:r>
            <a:r>
              <a:rPr lang="zh-CN" altLang="en-US" sz="1600"/>
              <a:t>需要用大量历史图像训练一个端到端模型，需要消耗大量</a:t>
            </a:r>
            <a:r>
              <a:rPr lang="en-US" altLang="zh-CN" sz="1600"/>
              <a:t> token</a:t>
            </a:r>
            <a:r>
              <a:rPr lang="zh-CN" altLang="en-US" sz="1600"/>
              <a:t>，且长历史无法输入到</a:t>
            </a:r>
            <a:r>
              <a:rPr lang="en-US" altLang="zh-CN" sz="1600"/>
              <a:t>VLM</a:t>
            </a:r>
            <a:r>
              <a:rPr lang="zh-CN" altLang="en-US" sz="1600"/>
              <a:t>。</a:t>
            </a:r>
            <a:endParaRPr lang="en-US" altLang="zh-CN" sz="160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0EA2BB-54B5-1B0D-9F9F-A26445EDF3FF}"/>
              </a:ext>
            </a:extLst>
          </p:cNvPr>
          <p:cNvSpPr txBox="1"/>
          <p:nvPr/>
        </p:nvSpPr>
        <p:spPr>
          <a:xfrm>
            <a:off x="7597782" y="2973740"/>
            <a:ext cx="4082656" cy="3273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b="1"/>
              <a:t>贡献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构建</a:t>
            </a:r>
            <a:r>
              <a:rPr lang="zh-CN" altLang="en-US" sz="1600">
                <a:solidFill>
                  <a:srgbClr val="951F25"/>
                </a:solidFill>
              </a:rPr>
              <a:t>面向</a:t>
            </a:r>
            <a:r>
              <a:rPr lang="zh-CN" altLang="zh-CN" sz="1600">
                <a:solidFill>
                  <a:srgbClr val="951F25"/>
                </a:solidFill>
              </a:rPr>
              <a:t>长期导航的压缩图像记忆</a:t>
            </a:r>
            <a:r>
              <a:rPr lang="zh-CN" altLang="en-US" sz="1600"/>
              <a:t>，联合视觉、语言与导航决策，每帧约 </a:t>
            </a:r>
            <a:r>
              <a:rPr lang="en-US" altLang="zh-CN" sz="1600"/>
              <a:t>30 tokens</a:t>
            </a:r>
            <a:r>
              <a:rPr lang="zh-CN" altLang="en-US" sz="1600"/>
              <a:t>，使上下文图像从几十张扩展到几百张；</a:t>
            </a:r>
            <a:endParaRPr lang="en-US" altLang="zh-CN" sz="1600"/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使用</a:t>
            </a:r>
            <a:r>
              <a:rPr lang="zh-CN" altLang="zh-CN" sz="1600"/>
              <a:t>冻结的 DINOv3 + PixelUnshuffle、卷积等轻量模块</a:t>
            </a:r>
            <a:r>
              <a:rPr lang="zh-CN" altLang="en-US" sz="1600"/>
              <a:t>，构建即插即用的</a:t>
            </a:r>
            <a:r>
              <a:rPr lang="zh-CN" altLang="en-US" sz="1600">
                <a:solidFill>
                  <a:srgbClr val="951F25"/>
                </a:solidFill>
              </a:rPr>
              <a:t>通用视觉 </a:t>
            </a:r>
            <a:r>
              <a:rPr lang="en-US" altLang="zh-CN" sz="1600">
                <a:solidFill>
                  <a:srgbClr val="951F25"/>
                </a:solidFill>
              </a:rPr>
              <a:t>Tokenizer</a:t>
            </a:r>
            <a:r>
              <a:rPr lang="zh-CN" altLang="en-US" sz="1600"/>
              <a:t>；</a:t>
            </a:r>
            <a:endParaRPr lang="en-US" altLang="zh-CN" sz="1600"/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在 </a:t>
            </a:r>
            <a:r>
              <a:rPr lang="en-US" altLang="zh-CN" sz="1600"/>
              <a:t>GOAT-Bench </a:t>
            </a:r>
            <a:r>
              <a:rPr lang="zh-CN" altLang="en-US" sz="1600"/>
              <a:t>和 </a:t>
            </a:r>
            <a:r>
              <a:rPr lang="en-US" altLang="zh-CN" sz="1600"/>
              <a:t>HM3D-OVON </a:t>
            </a:r>
            <a:r>
              <a:rPr lang="zh-CN" altLang="en-US" sz="1600"/>
              <a:t>上取得 </a:t>
            </a:r>
            <a:r>
              <a:rPr lang="en-US" altLang="zh-CN" sz="1600"/>
              <a:t>sota</a:t>
            </a:r>
            <a:r>
              <a:rPr lang="zh-CN" altLang="en-US" sz="1600"/>
              <a:t>。</a:t>
            </a:r>
            <a:endParaRPr lang="en-US" altLang="zh-CN" sz="160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4249451-4DF2-E69E-2659-6FB6872349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08" y="2973740"/>
            <a:ext cx="7030758" cy="334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521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738C8-435C-983B-2094-D098AF7DC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71EC39-0AEE-021E-8498-9108F3A6F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5759" y="0"/>
            <a:ext cx="2534920" cy="680720"/>
          </a:xfrm>
        </p:spPr>
        <p:txBody>
          <a:bodyPr>
            <a:normAutofit/>
          </a:bodyPr>
          <a:lstStyle/>
          <a:p>
            <a:r>
              <a:rPr lang="en-US" altLang="zh-CN" sz="2800">
                <a:sym typeface="+mn-ea"/>
              </a:rPr>
              <a:t>Framework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63F78E-3C50-47D5-170D-AF7DD7BFE601}"/>
              </a:ext>
            </a:extLst>
          </p:cNvPr>
          <p:cNvSpPr txBox="1"/>
          <p:nvPr/>
        </p:nvSpPr>
        <p:spPr>
          <a:xfrm>
            <a:off x="1069108" y="5725337"/>
            <a:ext cx="6823941" cy="394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ts val="2500"/>
              </a:lnSpc>
            </a:pPr>
            <a:r>
              <a:rPr lang="zh-CN" altLang="en-US" b="1">
                <a:solidFill>
                  <a:schemeClr val="accent2"/>
                </a:solidFill>
              </a:rPr>
              <a:t>相机位姿 </a:t>
            </a:r>
            <a:r>
              <a:rPr lang="en-US" altLang="zh-CN" b="1">
                <a:solidFill>
                  <a:schemeClr val="accent2"/>
                </a:solidFill>
              </a:rPr>
              <a:t>token </a:t>
            </a:r>
            <a:r>
              <a:rPr lang="en-US" altLang="zh-CN" b="1">
                <a:solidFill>
                  <a:srgbClr val="0070C0"/>
                </a:solidFill>
              </a:rPr>
              <a:t>+ </a:t>
            </a:r>
            <a:r>
              <a:rPr lang="zh-CN" altLang="en-US" b="1">
                <a:solidFill>
                  <a:srgbClr val="0070C0"/>
                </a:solidFill>
              </a:rPr>
              <a:t>压缩后每张图 </a:t>
            </a:r>
            <a:r>
              <a:rPr lang="en-US" altLang="zh-CN" b="1">
                <a:solidFill>
                  <a:srgbClr val="0070C0"/>
                </a:solidFill>
              </a:rPr>
              <a:t>30 tokens + </a:t>
            </a:r>
            <a:r>
              <a:rPr lang="zh-CN" altLang="en-US" b="1">
                <a:solidFill>
                  <a:srgbClr val="00B050"/>
                </a:solidFill>
              </a:rPr>
              <a:t>当前指令 </a:t>
            </a:r>
            <a:r>
              <a:rPr lang="en-US" altLang="zh-CN" b="1">
                <a:solidFill>
                  <a:srgbClr val="00B050"/>
                </a:solidFill>
              </a:rPr>
              <a:t>token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81294AE-DA5F-A414-F979-9F83314DCFCB}"/>
              </a:ext>
            </a:extLst>
          </p:cNvPr>
          <p:cNvSpPr txBox="1"/>
          <p:nvPr/>
        </p:nvSpPr>
        <p:spPr>
          <a:xfrm>
            <a:off x="9099335" y="5033529"/>
            <a:ext cx="2534920" cy="394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ts val="2500"/>
              </a:lnSpc>
            </a:pPr>
            <a:r>
              <a:rPr lang="zh-CN" altLang="en-US" sz="1600"/>
              <a:t>切块，提取特征</a:t>
            </a:r>
            <a:endParaRPr lang="en-US" altLang="zh-CN" sz="16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6E67C36-CE23-EE21-F240-B0F33446BD6F}"/>
              </a:ext>
            </a:extLst>
          </p:cNvPr>
          <p:cNvSpPr txBox="1"/>
          <p:nvPr/>
        </p:nvSpPr>
        <p:spPr>
          <a:xfrm>
            <a:off x="8667065" y="3996667"/>
            <a:ext cx="3399461" cy="102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ts val="2500"/>
              </a:lnSpc>
            </a:pPr>
            <a:r>
              <a:rPr lang="zh-CN" altLang="en-US" sz="1600"/>
              <a:t>像素下采样，将 </a:t>
            </a:r>
            <a:r>
              <a:rPr lang="en-US" altLang="zh-CN" sz="1600"/>
              <a:t>2×2 </a:t>
            </a:r>
            <a:r>
              <a:rPr lang="zh-CN" altLang="en-US" sz="1600"/>
              <a:t>邻域的像素移动到四个通道中，特征数变为原来的</a:t>
            </a:r>
            <a:r>
              <a:rPr lang="en-US" altLang="zh-CN" sz="1600"/>
              <a:t>1/4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2FBAF49-25F8-C371-F83D-DA34FCA37D16}"/>
              </a:ext>
            </a:extLst>
          </p:cNvPr>
          <p:cNvSpPr txBox="1"/>
          <p:nvPr/>
        </p:nvSpPr>
        <p:spPr>
          <a:xfrm>
            <a:off x="8770291" y="2173429"/>
            <a:ext cx="3099492" cy="708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ts val="2500"/>
              </a:lnSpc>
            </a:pPr>
            <a:r>
              <a:rPr lang="zh-CN" altLang="en-US" sz="1600"/>
              <a:t>重复 </a:t>
            </a:r>
            <a:r>
              <a:rPr lang="en-US" altLang="zh-CN" sz="1600"/>
              <a:t>N </a:t>
            </a:r>
            <a:r>
              <a:rPr lang="zh-CN" altLang="en-US" sz="1600"/>
              <a:t>次，每张图由 </a:t>
            </a:r>
            <a:r>
              <a:rPr lang="en-US" altLang="zh-CN" sz="1600"/>
              <a:t>598 tokens </a:t>
            </a:r>
            <a:r>
              <a:rPr lang="zh-CN" altLang="en-US" sz="1600"/>
              <a:t>压缩为 </a:t>
            </a:r>
            <a:r>
              <a:rPr lang="en-US" altLang="zh-CN" sz="1600"/>
              <a:t>30 tokens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C51D9A-D82D-5C30-521C-A3B659DBCA79}"/>
              </a:ext>
            </a:extLst>
          </p:cNvPr>
          <p:cNvSpPr txBox="1"/>
          <p:nvPr/>
        </p:nvSpPr>
        <p:spPr>
          <a:xfrm>
            <a:off x="8573548" y="3085048"/>
            <a:ext cx="3399461" cy="708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ts val="2500"/>
              </a:lnSpc>
            </a:pPr>
            <a:r>
              <a:rPr lang="en-US" altLang="zh-CN" sz="1600"/>
              <a:t>3×3 </a:t>
            </a:r>
            <a:r>
              <a:rPr lang="zh-CN" altLang="en-US" sz="1600"/>
              <a:t>卷积，融合上一步局部特征，每个特征长度调整为 </a:t>
            </a:r>
            <a:r>
              <a:rPr lang="en-US" altLang="zh-CN" sz="1600"/>
              <a:t>1280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B40B9FF-4C6D-D0EB-8488-4B1AEF073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92" y="1903210"/>
            <a:ext cx="8282939" cy="362378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1176B69-8D84-C4EC-6BE9-63DF33C77EC7}"/>
              </a:ext>
            </a:extLst>
          </p:cNvPr>
          <p:cNvSpPr txBox="1"/>
          <p:nvPr/>
        </p:nvSpPr>
        <p:spPr>
          <a:xfrm>
            <a:off x="5926237" y="1055510"/>
            <a:ext cx="4224760" cy="102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ts val="2500"/>
              </a:lnSpc>
            </a:pPr>
            <a:r>
              <a:rPr lang="en-US" altLang="zh-CN" sz="1600"/>
              <a:t>Qwen2.5-VL-ViT</a:t>
            </a:r>
            <a:r>
              <a:rPr lang="zh-CN" altLang="en-US" sz="1600"/>
              <a:t>： 改变 </a:t>
            </a:r>
            <a:r>
              <a:rPr lang="en-US" altLang="zh-CN" sz="1600"/>
              <a:t>token </a:t>
            </a:r>
            <a:r>
              <a:rPr lang="zh-CN" altLang="en-US" sz="1600"/>
              <a:t>内部特征表达，翻译成 </a:t>
            </a:r>
            <a:r>
              <a:rPr lang="en-US" altLang="zh-CN" sz="1600"/>
              <a:t>Qwen2.5-VL-3B </a:t>
            </a:r>
            <a:r>
              <a:rPr lang="zh-CN" altLang="en-US" sz="1600"/>
              <a:t>熟悉的视觉语言特征</a:t>
            </a:r>
            <a:endParaRPr lang="en-US" altLang="zh-CN" sz="16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660ED4-C553-FD1D-5412-A35F93207091}"/>
              </a:ext>
            </a:extLst>
          </p:cNvPr>
          <p:cNvSpPr txBox="1"/>
          <p:nvPr/>
        </p:nvSpPr>
        <p:spPr>
          <a:xfrm>
            <a:off x="574811" y="1388806"/>
            <a:ext cx="4224760" cy="102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ts val="2500"/>
              </a:lnSpc>
            </a:pPr>
            <a:r>
              <a:rPr lang="en-US" altLang="zh-CN" sz="1600"/>
              <a:t>Qwen2.5-VL-3B </a:t>
            </a:r>
            <a:r>
              <a:rPr lang="zh-CN" altLang="en-US" sz="1600"/>
              <a:t>注意力：</a:t>
            </a:r>
            <a:endParaRPr lang="en-US" altLang="zh-CN" sz="1600"/>
          </a:p>
          <a:p>
            <a:pPr lvl="1">
              <a:lnSpc>
                <a:spcPts val="2500"/>
              </a:lnSpc>
            </a:pPr>
            <a:r>
              <a:rPr lang="en-US" altLang="zh-CN" sz="1600"/>
              <a:t>    Q</a:t>
            </a:r>
            <a:r>
              <a:rPr lang="zh-CN" altLang="en-US" sz="1600"/>
              <a:t>：指令目标特征</a:t>
            </a:r>
            <a:endParaRPr lang="en-US" altLang="zh-CN" sz="1600"/>
          </a:p>
          <a:p>
            <a:pPr lvl="1">
              <a:lnSpc>
                <a:spcPts val="2500"/>
              </a:lnSpc>
            </a:pPr>
            <a:r>
              <a:rPr lang="en-US" altLang="zh-CN" sz="1600"/>
              <a:t>    KV</a:t>
            </a:r>
            <a:r>
              <a:rPr lang="zh-CN" altLang="en-US" sz="1600"/>
              <a:t>：位姿</a:t>
            </a:r>
            <a:r>
              <a:rPr lang="en-US" altLang="zh-CN" sz="1600"/>
              <a:t>+</a:t>
            </a:r>
            <a:r>
              <a:rPr lang="zh-CN" altLang="en-US" sz="1600"/>
              <a:t>历史图像特征</a:t>
            </a:r>
            <a:endParaRPr lang="en-US" altLang="zh-CN" sz="1600"/>
          </a:p>
        </p:txBody>
      </p:sp>
    </p:spTree>
    <p:extLst>
      <p:ext uri="{BB962C8B-B14F-4D97-AF65-F5344CB8AC3E}">
        <p14:creationId xmlns:p14="http://schemas.microsoft.com/office/powerpoint/2010/main" val="4277149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6F9F9-FEE8-06B8-DAD2-F4F4EEB66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415C9B-7C45-8DAB-EBC5-91D0EEE43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5759" y="0"/>
            <a:ext cx="2534920" cy="680720"/>
          </a:xfrm>
        </p:spPr>
        <p:txBody>
          <a:bodyPr>
            <a:normAutofit/>
          </a:bodyPr>
          <a:lstStyle/>
          <a:p>
            <a:r>
              <a:rPr lang="en-US" altLang="zh-CN" sz="2800">
                <a:sym typeface="+mn-ea"/>
              </a:rPr>
              <a:t>Experiments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CFA879A-C397-A578-DF42-EA051C401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859" y="991804"/>
            <a:ext cx="7177791" cy="557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099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445C8-02F4-6DD7-D25B-F2454A327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425A5-995A-0B51-82BA-835BE1E5B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5759" y="0"/>
            <a:ext cx="2534920" cy="680720"/>
          </a:xfrm>
        </p:spPr>
        <p:txBody>
          <a:bodyPr>
            <a:normAutofit/>
          </a:bodyPr>
          <a:lstStyle/>
          <a:p>
            <a:r>
              <a:rPr lang="en-US" altLang="zh-CN" sz="2800">
                <a:sym typeface="+mn-ea"/>
              </a:rPr>
              <a:t>Experiments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9C8B24C-ED65-6B4E-AEE6-EC0317610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673" y="2122605"/>
            <a:ext cx="4666618" cy="22829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80ADF31-DE85-0537-0219-A2704067A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873" y="2168878"/>
            <a:ext cx="4532327" cy="224937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7649B93-6E05-F78A-E338-B9C4F396E591}"/>
              </a:ext>
            </a:extLst>
          </p:cNvPr>
          <p:cNvSpPr txBox="1"/>
          <p:nvPr/>
        </p:nvSpPr>
        <p:spPr>
          <a:xfrm>
            <a:off x="3515982" y="5141374"/>
            <a:ext cx="4224760" cy="387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ts val="2500"/>
              </a:lnSpc>
            </a:pPr>
            <a:r>
              <a:rPr lang="zh-CN" altLang="en-US" sz="1600"/>
              <a:t>消融：保存历史帧数</a:t>
            </a:r>
            <a:r>
              <a:rPr lang="en-US" altLang="zh-CN" sz="1600"/>
              <a:t>100</a:t>
            </a:r>
            <a:r>
              <a:rPr lang="zh-CN" altLang="en-US" sz="1600"/>
              <a:t>、压缩倍数</a:t>
            </a:r>
            <a:r>
              <a:rPr lang="en-US" altLang="zh-CN" sz="160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09727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EF369-3970-F130-3BC5-7861A71E4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A2924E-17C2-E7FC-8A42-ECCEA778E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51EB4-024F-40A9-819D-7A4DC650EB86}" type="datetime1">
              <a:rPr lang="zh-CN" altLang="en-US" smtClean="0"/>
              <a:t>2026/10/26</a:t>
            </a:fld>
            <a:r>
              <a:rPr lang="zh-CN" altLang="en-US"/>
              <a:t>      汇报人：王康欣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B6528B9-48A0-1CCF-3788-172B8A2ABD49}"/>
              </a:ext>
            </a:extLst>
          </p:cNvPr>
          <p:cNvSpPr txBox="1"/>
          <p:nvPr/>
        </p:nvSpPr>
        <p:spPr>
          <a:xfrm>
            <a:off x="5439409" y="3877358"/>
            <a:ext cx="131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ICRA 2026</a:t>
            </a:r>
            <a:endParaRPr lang="zh-CN" altLang="en-US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03EE104-6887-9932-C7F8-D56B068F7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255951"/>
            <a:ext cx="7772457" cy="140018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5B5B070-66BD-F1A8-34FC-AD8E7429A214}"/>
              </a:ext>
            </a:extLst>
          </p:cNvPr>
          <p:cNvSpPr txBox="1"/>
          <p:nvPr/>
        </p:nvSpPr>
        <p:spPr>
          <a:xfrm>
            <a:off x="2707888" y="4338247"/>
            <a:ext cx="67762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上海交通大学</a:t>
            </a:r>
          </a:p>
        </p:txBody>
      </p:sp>
    </p:spTree>
    <p:extLst>
      <p:ext uri="{BB962C8B-B14F-4D97-AF65-F5344CB8AC3E}">
        <p14:creationId xmlns:p14="http://schemas.microsoft.com/office/powerpoint/2010/main" val="3759271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4B7E0-1901-6409-E462-04F18FF91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BDAC86-9A7E-58E8-A50A-0B03C2321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5759" y="0"/>
            <a:ext cx="2534920" cy="680720"/>
          </a:xfrm>
        </p:spPr>
        <p:txBody>
          <a:bodyPr>
            <a:normAutofit/>
          </a:bodyPr>
          <a:lstStyle/>
          <a:p>
            <a:r>
              <a:rPr lang="en-US" altLang="zh-CN" sz="2800">
                <a:sym typeface="+mn-ea"/>
              </a:rPr>
              <a:t>Introduction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D65EFA0-A517-6A4D-FCE5-BEC195AD3C4E}"/>
              </a:ext>
            </a:extLst>
          </p:cNvPr>
          <p:cNvSpPr txBox="1"/>
          <p:nvPr/>
        </p:nvSpPr>
        <p:spPr>
          <a:xfrm>
            <a:off x="785560" y="1177345"/>
            <a:ext cx="10479340" cy="1521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b="1"/>
              <a:t>研究背景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rgbClr val="002060"/>
                </a:solidFill>
              </a:rPr>
              <a:t>任务：</a:t>
            </a:r>
            <a:r>
              <a:rPr lang="zh-CN" altLang="zh-CN" sz="1600"/>
              <a:t> </a:t>
            </a:r>
            <a:r>
              <a:rPr lang="zh-CN" altLang="en-US" sz="1600" b="1">
                <a:solidFill>
                  <a:srgbClr val="002060"/>
                </a:solidFill>
              </a:rPr>
              <a:t>视觉语言导航，让 </a:t>
            </a:r>
            <a:r>
              <a:rPr lang="en-US" altLang="zh-CN" sz="1600" b="1">
                <a:solidFill>
                  <a:srgbClr val="002060"/>
                </a:solidFill>
              </a:rPr>
              <a:t>agent </a:t>
            </a:r>
            <a:r>
              <a:rPr lang="zh-CN" altLang="zh-CN" sz="1600" b="1">
                <a:solidFill>
                  <a:srgbClr val="002060"/>
                </a:solidFill>
              </a:rPr>
              <a:t>听懂自然语言指令，靠自身视觉感知自主走到目标位置</a:t>
            </a:r>
            <a:r>
              <a:rPr lang="zh-CN" altLang="en-US" sz="1600" b="1">
                <a:solidFill>
                  <a:srgbClr val="002060"/>
                </a:solidFill>
              </a:rPr>
              <a:t>；</a:t>
            </a:r>
            <a:endParaRPr lang="en-US" altLang="zh-CN" sz="1600" b="1">
              <a:solidFill>
                <a:srgbClr val="00206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600">
                <a:solidFill>
                  <a:schemeClr val="accent1">
                    <a:lumMod val="50000"/>
                  </a:schemeClr>
                </a:solidFill>
              </a:rPr>
              <a:t>      </a:t>
            </a:r>
            <a:r>
              <a:rPr lang="zh-CN" altLang="zh-CN" sz="1600">
                <a:solidFill>
                  <a:schemeClr val="accent1">
                    <a:lumMod val="50000"/>
                  </a:schemeClr>
                </a:solidFill>
              </a:rPr>
              <a:t>R2R</a:t>
            </a:r>
            <a:r>
              <a:rPr lang="zh-CN" altLang="en-US" sz="1600">
                <a:solidFill>
                  <a:schemeClr val="accent1">
                    <a:lumMod val="50000"/>
                  </a:schemeClr>
                </a:solidFill>
              </a:rPr>
              <a:t>（逐步指令指引）、</a:t>
            </a:r>
            <a:r>
              <a:rPr lang="en-US" altLang="zh-CN" sz="1600">
                <a:solidFill>
                  <a:schemeClr val="accent1">
                    <a:lumMod val="50000"/>
                  </a:schemeClr>
                </a:solidFill>
              </a:rPr>
              <a:t> REVERIE</a:t>
            </a:r>
            <a:r>
              <a:rPr lang="zh-CN" altLang="en-US" sz="1600">
                <a:solidFill>
                  <a:schemeClr val="accent1">
                    <a:lumMod val="50000"/>
                  </a:schemeClr>
                </a:solidFill>
              </a:rPr>
              <a:t>（高层目标描述，无逐步引导）</a:t>
            </a:r>
            <a:endParaRPr lang="en-US" altLang="zh-CN" sz="1600" b="1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现有</a:t>
            </a:r>
            <a:r>
              <a:rPr lang="en-US" altLang="zh-CN" sz="1600"/>
              <a:t>Zero-shot</a:t>
            </a:r>
            <a:r>
              <a:rPr lang="zh-CN" altLang="en-US" sz="1600"/>
              <a:t>方法：通过观察建图，在图上逐步进行</a:t>
            </a:r>
            <a:r>
              <a:rPr lang="en-US" altLang="zh-CN" sz="1600"/>
              <a:t>VLM-LLM</a:t>
            </a:r>
            <a:r>
              <a:rPr lang="zh-CN" altLang="en-US" sz="1600"/>
              <a:t>推理</a:t>
            </a:r>
            <a:r>
              <a:rPr lang="en-US" altLang="zh-CN" sz="1600"/>
              <a:t>——</a:t>
            </a:r>
            <a:r>
              <a:rPr lang="zh-CN" altLang="en-US" sz="1600" b="1"/>
              <a:t>高延迟、高计算成本</a:t>
            </a:r>
            <a:r>
              <a:rPr lang="zh-CN" altLang="en-US" sz="1600"/>
              <a:t>；</a:t>
            </a:r>
            <a:endParaRPr lang="en-US" altLang="zh-CN" sz="1600"/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本文灵感：人类认知机制</a:t>
            </a:r>
            <a:r>
              <a:rPr lang="en-US" altLang="zh-CN" sz="1600"/>
              <a:t>——</a:t>
            </a:r>
            <a:r>
              <a:rPr lang="zh-CN" altLang="en-US" sz="1600" b="1"/>
              <a:t>慢思考、快行动</a:t>
            </a:r>
            <a:r>
              <a:rPr lang="zh-CN" altLang="en-US" sz="1600"/>
              <a:t>。</a:t>
            </a:r>
            <a:endParaRPr lang="en-US" altLang="zh-CN" sz="16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ED800DE-1C26-1583-11C2-0BAEDCAD0212}"/>
              </a:ext>
            </a:extLst>
          </p:cNvPr>
          <p:cNvSpPr txBox="1"/>
          <p:nvPr/>
        </p:nvSpPr>
        <p:spPr>
          <a:xfrm>
            <a:off x="785560" y="2991454"/>
            <a:ext cx="4986590" cy="26318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500"/>
              </a:lnSpc>
            </a:pPr>
            <a:r>
              <a:rPr lang="zh-CN" altLang="en-US" b="1"/>
              <a:t>贡献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提出</a:t>
            </a:r>
            <a:r>
              <a:rPr lang="zh-CN" altLang="en-US" sz="1600">
                <a:solidFill>
                  <a:srgbClr val="951F25"/>
                </a:solidFill>
              </a:rPr>
              <a:t>快慢认知协作</a:t>
            </a:r>
            <a:r>
              <a:rPr lang="zh-CN" altLang="en-US" sz="1600"/>
              <a:t>的</a:t>
            </a:r>
            <a:r>
              <a:rPr lang="en-US" altLang="zh-CN" sz="1600"/>
              <a:t>Zero-shot</a:t>
            </a:r>
            <a:r>
              <a:rPr lang="zh-CN" altLang="en-US" sz="1600"/>
              <a:t>导航框架 </a:t>
            </a:r>
            <a:r>
              <a:rPr lang="en-US" altLang="zh-CN" sz="1600"/>
              <a:t>SFCo-Nav</a:t>
            </a:r>
            <a:r>
              <a:rPr lang="zh-CN" altLang="en-US" sz="1600"/>
              <a:t>，</a:t>
            </a:r>
            <a:r>
              <a:rPr lang="en-US" altLang="zh-CN" sz="1600"/>
              <a:t>LLM</a:t>
            </a:r>
            <a:r>
              <a:rPr lang="zh-CN" altLang="en-US" sz="1600"/>
              <a:t>慢规划，导航器快速反应；</a:t>
            </a:r>
            <a:endParaRPr lang="en-US" altLang="zh-CN" sz="1600"/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zh-CN" altLang="en-US" sz="1600"/>
              <a:t>实现</a:t>
            </a:r>
            <a:r>
              <a:rPr lang="zh-CN" altLang="en-US" sz="1600">
                <a:solidFill>
                  <a:srgbClr val="951F25"/>
                </a:solidFill>
              </a:rPr>
              <a:t>异步快</a:t>
            </a:r>
            <a:r>
              <a:rPr lang="en-US" altLang="zh-CN" sz="1600">
                <a:solidFill>
                  <a:srgbClr val="951F25"/>
                </a:solidFill>
              </a:rPr>
              <a:t>-</a:t>
            </a:r>
            <a:r>
              <a:rPr lang="zh-CN" altLang="en-US" sz="1600">
                <a:solidFill>
                  <a:srgbClr val="951F25"/>
                </a:solidFill>
              </a:rPr>
              <a:t>慢桥梁</a:t>
            </a:r>
            <a:r>
              <a:rPr lang="zh-CN" altLang="en-US" sz="1600"/>
              <a:t>，通过属性图对齐估计导航置信度，仅必要时触发慢</a:t>
            </a:r>
            <a:r>
              <a:rPr lang="en-US" altLang="zh-CN" sz="1600"/>
              <a:t>LLM</a:t>
            </a:r>
            <a:r>
              <a:rPr lang="zh-CN" altLang="en-US" sz="1600"/>
              <a:t>；</a:t>
            </a:r>
            <a:endParaRPr lang="en-US" altLang="zh-CN" sz="1600"/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altLang="zh-CN" sz="1600"/>
              <a:t>R2R</a:t>
            </a:r>
            <a:r>
              <a:rPr lang="zh-CN" altLang="en-US" sz="1600"/>
              <a:t>、</a:t>
            </a:r>
            <a:r>
              <a:rPr lang="en-US" altLang="zh-CN" sz="1600"/>
              <a:t>REVERIE</a:t>
            </a:r>
            <a:r>
              <a:rPr lang="zh-CN" altLang="en-US" sz="1600"/>
              <a:t>上超越了先前的</a:t>
            </a:r>
            <a:r>
              <a:rPr lang="en-US" altLang="zh-CN" sz="1600"/>
              <a:t>Zero-shot VLN</a:t>
            </a:r>
            <a:r>
              <a:rPr lang="zh-CN" altLang="en-US" sz="1600"/>
              <a:t>，同时每个轨迹的</a:t>
            </a:r>
            <a:r>
              <a:rPr lang="en-US" altLang="zh-CN" sz="1600"/>
              <a:t>token</a:t>
            </a:r>
            <a:r>
              <a:rPr lang="zh-CN" altLang="en-US" sz="1600"/>
              <a:t>消耗总数减少</a:t>
            </a:r>
            <a:r>
              <a:rPr lang="en-US" altLang="zh-CN" sz="1600"/>
              <a:t>50%+</a:t>
            </a:r>
            <a:r>
              <a:rPr lang="zh-CN" altLang="en-US" sz="1600"/>
              <a:t>，运行速度提高</a:t>
            </a:r>
            <a:r>
              <a:rPr lang="en-US" altLang="zh-CN" sz="1600"/>
              <a:t>3.5</a:t>
            </a:r>
            <a:r>
              <a:rPr lang="zh-CN" altLang="en-US" sz="1600"/>
              <a:t>倍</a:t>
            </a:r>
            <a:r>
              <a:rPr lang="en-US" altLang="zh-CN" sz="1600"/>
              <a:t>+</a:t>
            </a:r>
            <a:r>
              <a:rPr lang="zh-CN" altLang="en-US" sz="1600"/>
              <a:t>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E28209F-0B88-9910-950C-D1676A4F0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150" y="2592600"/>
            <a:ext cx="5373703" cy="313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348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ABE8E-ED9E-173F-5657-5C3FCE582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BC6A0A-3D77-42F3-FC4E-E02909F24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5759" y="0"/>
            <a:ext cx="2534920" cy="680720"/>
          </a:xfrm>
        </p:spPr>
        <p:txBody>
          <a:bodyPr>
            <a:normAutofit/>
          </a:bodyPr>
          <a:lstStyle/>
          <a:p>
            <a:r>
              <a:rPr lang="en-US" altLang="zh-CN" sz="2800">
                <a:sym typeface="+mn-ea"/>
              </a:rPr>
              <a:t>Framework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51F731E-BFB5-E8DD-9731-FD9512B39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116" y="953451"/>
            <a:ext cx="8628017" cy="41370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5DC720F-F41E-05C7-0F85-3B30F48C042A}"/>
                  </a:ext>
                </a:extLst>
              </p:cNvPr>
              <p:cNvSpPr txBox="1"/>
              <p:nvPr/>
            </p:nvSpPr>
            <p:spPr>
              <a:xfrm>
                <a:off x="1028700" y="5090495"/>
                <a:ext cx="11010900" cy="12486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/>
                  <a:t>慢</a:t>
                </a:r>
                <a:r>
                  <a:rPr lang="en-US" altLang="zh-CN" sz="1600"/>
                  <a:t>LLM</a:t>
                </a:r>
                <a:r>
                  <a:rPr lang="zh-CN" altLang="en-US" sz="1600"/>
                  <a:t>规划器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ox>
                          <m:boxPr>
                            <m:ctrlPr>
                              <a:rPr lang="zh-CN" altLang="en-US" sz="1600" i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r>
                              <m:rPr>
                                <m:sty m:val="p"/>
                              </m:rPr>
                              <a:rPr lang="zh-CN" altLang="en-US" sz="1600" i="0"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box>
                      </m:e>
                      <m:sub>
                        <m:r>
                          <m:rPr>
                            <m:sty m:val="p"/>
                          </m:rPr>
                          <a:rPr lang="zh-CN" altLang="en-US" sz="1600" i="0">
                            <a:latin typeface="Cambria Math" panose="02040503050406030204" pitchFamily="18" charset="0"/>
                          </a:rPr>
                          <m:t>slow</m:t>
                        </m:r>
                      </m:sub>
                    </m:sSub>
                  </m:oMath>
                </a14:m>
                <a:r>
                  <a:rPr lang="zh-CN" altLang="en-US" sz="1600">
                    <a:latin typeface="Cambria Math" panose="02040503050406030204" pitchFamily="18" charset="0"/>
                  </a:rPr>
                  <a:t>：输入用户指令，</a:t>
                </a:r>
                <a:r>
                  <a:rPr lang="en-US" altLang="zh-CN" sz="1600">
                    <a:latin typeface="Cambria Math" panose="02040503050406030204" pitchFamily="18" charset="0"/>
                  </a:rPr>
                  <a:t>LLM </a:t>
                </a:r>
                <a:r>
                  <a:rPr lang="zh-CN" altLang="en-US" sz="1600">
                    <a:latin typeface="Cambria Math" panose="02040503050406030204" pitchFamily="18" charset="0"/>
                  </a:rPr>
                  <a:t>理解指令生成一系列子目标，每个子目标对应一个想象图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zh-CN" altLang="en-US" sz="1600">
                    <a:latin typeface="Cambria Math" panose="02040503050406030204" pitchFamily="18" charset="0"/>
                  </a:rPr>
                  <a:t>；</a:t>
                </a:r>
                <a:endParaRPr lang="en-US" altLang="zh-CN" sz="160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>
                    <a:latin typeface="Cambria Math" panose="02040503050406030204" pitchFamily="18" charset="0"/>
                  </a:rPr>
                  <a:t>快速反应导航器</a:t>
                </a:r>
                <a:r>
                  <a:rPr lang="en-US" altLang="zh-CN" sz="160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i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1600" i="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 sz="1600" i="0">
                            <a:latin typeface="Cambria Math" panose="02040503050406030204" pitchFamily="18" charset="0"/>
                          </a:rPr>
                          <m:t>fast</m:t>
                        </m:r>
                      </m:sub>
                    </m:sSub>
                  </m:oMath>
                </a14:m>
                <a:r>
                  <a:rPr lang="zh-CN" altLang="en-US" sz="1600"/>
                  <a:t>：拍摄真实感知图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r>
                  <a:rPr lang="zh-CN" altLang="en-US" sz="1600"/>
                  <a:t>，把</a:t>
                </a:r>
                <a:r>
                  <a:rPr lang="en-US" altLang="zh-CN" sz="1600"/>
                  <a:t>LLM</a:t>
                </a:r>
                <a:r>
                  <a:rPr lang="zh-CN" altLang="en-US" sz="1600"/>
                  <a:t>给的</a:t>
                </a:r>
                <a:r>
                  <a:rPr lang="en-US" altLang="zh-CN" sz="1600"/>
                  <a:t>skill</a:t>
                </a:r>
                <a:r>
                  <a:rPr lang="zh-CN" altLang="en-US" sz="1600"/>
                  <a:t>变成底层动作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zh-CN" altLang="en-US" sz="16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1600"/>
                  <a:t>以最大化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zh-CN" altLang="en-US" sz="160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</m:oMath>
                </a14:m>
                <a:r>
                  <a:rPr lang="zh-CN" altLang="en-US" sz="1600"/>
                  <a:t> 的对齐；</a:t>
                </a:r>
                <a:endParaRPr lang="en-US" altLang="zh-CN" sz="1600"/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600"/>
                  <a:t>快慢桥接器：算置信度得分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16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600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altLang="zh-CN" sz="1600" i="1">
                        <a:latin typeface="Cambria Math" panose="02040503050406030204" pitchFamily="18" charset="0"/>
                      </a:rPr>
                      <m:t>Align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b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600"/>
                  <a:t> 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sz="1600" i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zh-CN" altLang="en-US" sz="1600"/>
                  <a:t> 则控制权留给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1600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zh-CN" altLang="en-US" sz="1600">
                            <a:latin typeface="Cambria Math" panose="02040503050406030204" pitchFamily="18" charset="0"/>
                          </a:rPr>
                          <m:t>fast</m:t>
                        </m:r>
                      </m:sub>
                    </m:sSub>
                  </m:oMath>
                </a14:m>
                <a:r>
                  <a:rPr lang="zh-CN" altLang="en-US" sz="160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sz="1600" i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zh-CN" altLang="en-US" sz="1600"/>
                  <a:t> 则唤醒 </a:t>
                </a:r>
                <a:r>
                  <a:rPr lang="en-US" altLang="zh-CN" sz="1600"/>
                  <a:t>LLM </a:t>
                </a:r>
                <a:r>
                  <a:rPr lang="zh-CN" altLang="en-US" sz="1600"/>
                  <a:t>重新规划路线。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65DC720F-F41E-05C7-0F85-3B30F48C0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00" y="5090495"/>
                <a:ext cx="11010900" cy="1248612"/>
              </a:xfrm>
              <a:prstGeom prst="rect">
                <a:avLst/>
              </a:prstGeom>
              <a:blipFill>
                <a:blip r:embed="rId4"/>
                <a:stretch>
                  <a:fillRect l="-221"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18951D84-B96E-6697-44BD-6DBE61EAD1DC}"/>
              </a:ext>
            </a:extLst>
          </p:cNvPr>
          <p:cNvSpPr txBox="1"/>
          <p:nvPr/>
        </p:nvSpPr>
        <p:spPr>
          <a:xfrm>
            <a:off x="9225759" y="1961449"/>
            <a:ext cx="2196012" cy="387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ts val="2500"/>
              </a:lnSpc>
            </a:pPr>
            <a:r>
              <a:rPr lang="zh-CN" altLang="en-US" sz="1600"/>
              <a:t>想象的物体序列</a:t>
            </a:r>
            <a:endParaRPr lang="en-US" altLang="zh-CN" sz="16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FD9848-674E-A73C-9078-48D3F38E674B}"/>
              </a:ext>
            </a:extLst>
          </p:cNvPr>
          <p:cNvSpPr txBox="1"/>
          <p:nvPr/>
        </p:nvSpPr>
        <p:spPr>
          <a:xfrm>
            <a:off x="9205860" y="2700672"/>
            <a:ext cx="2908184" cy="387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ts val="2500"/>
              </a:lnSpc>
            </a:pPr>
            <a:r>
              <a:rPr lang="zh-CN" altLang="en-US" sz="1600"/>
              <a:t>目标物体、动作技能序列</a:t>
            </a:r>
            <a:endParaRPr lang="en-US" altLang="zh-CN" sz="160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11F2CEF-8D0B-C42E-877F-3203151462F5}"/>
              </a:ext>
            </a:extLst>
          </p:cNvPr>
          <p:cNvSpPr txBox="1"/>
          <p:nvPr/>
        </p:nvSpPr>
        <p:spPr>
          <a:xfrm>
            <a:off x="9205860" y="3439896"/>
            <a:ext cx="2908184" cy="387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ts val="2500"/>
              </a:lnSpc>
            </a:pPr>
            <a:r>
              <a:rPr lang="zh-CN" altLang="en-US" sz="1600"/>
              <a:t>最终目标物</a:t>
            </a:r>
            <a:endParaRPr lang="en-US" altLang="zh-CN" sz="1600"/>
          </a:p>
        </p:txBody>
      </p:sp>
    </p:spTree>
    <p:extLst>
      <p:ext uri="{BB962C8B-B14F-4D97-AF65-F5344CB8AC3E}">
        <p14:creationId xmlns:p14="http://schemas.microsoft.com/office/powerpoint/2010/main" val="2190851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CE23F-302C-2859-0F8A-A381FC327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A47530-53E8-9D58-1FAE-FE2EEE86B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5759" y="0"/>
            <a:ext cx="2534920" cy="680720"/>
          </a:xfrm>
        </p:spPr>
        <p:txBody>
          <a:bodyPr>
            <a:normAutofit/>
          </a:bodyPr>
          <a:lstStyle/>
          <a:p>
            <a:r>
              <a:rPr lang="en-US" altLang="zh-CN" sz="2800">
                <a:sym typeface="+mn-ea"/>
              </a:rPr>
              <a:t>Method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47800D6-0A0D-EB46-A96C-F92AD0CA55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21" y="1014393"/>
            <a:ext cx="6400847" cy="501971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AB092D4-BF48-AF03-3508-F95480E7535D}"/>
              </a:ext>
            </a:extLst>
          </p:cNvPr>
          <p:cNvSpPr txBox="1"/>
          <p:nvPr/>
        </p:nvSpPr>
        <p:spPr>
          <a:xfrm>
            <a:off x="7012668" y="1606449"/>
            <a:ext cx="4847771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Cambria Math" panose="02040503050406030204" pitchFamily="18" charset="0"/>
              </a:rPr>
              <a:t>终点识别器：从指令中识别一个终点：水槽</a:t>
            </a:r>
            <a:endParaRPr lang="en-US" altLang="zh-CN" sz="1600">
              <a:latin typeface="Cambria Math" panose="02040503050406030204" pitchFamily="18" charset="0"/>
            </a:endParaRPr>
          </a:p>
          <a:p>
            <a:endParaRPr lang="en-US" altLang="zh-CN" sz="1600">
              <a:latin typeface="Cambria Math" panose="02040503050406030204" pitchFamily="18" charset="0"/>
            </a:endParaRPr>
          </a:p>
          <a:p>
            <a:endParaRPr lang="en-US" altLang="zh-CN" sz="1600">
              <a:latin typeface="Cambria Math" panose="02040503050406030204" pitchFamily="18" charset="0"/>
            </a:endParaRPr>
          </a:p>
          <a:p>
            <a:endParaRPr lang="en-US" altLang="zh-CN" sz="1600">
              <a:latin typeface="Cambria Math" panose="02040503050406030204" pitchFamily="18" charset="0"/>
            </a:endParaRPr>
          </a:p>
          <a:p>
            <a:endParaRPr lang="en-US" altLang="zh-CN" sz="1600">
              <a:latin typeface="Cambria Math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>
              <a:latin typeface="Cambria Math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Cambria Math" panose="02040503050406030204" pitchFamily="18" charset="0"/>
              </a:rPr>
              <a:t>策略分析器：根据指令、历史经验、观察图，生成子目标和相应的技能，以及高层语言规划</a:t>
            </a:r>
            <a:endParaRPr lang="en-US" altLang="zh-CN" sz="1600">
              <a:latin typeface="Cambria Math" panose="02040503050406030204" pitchFamily="18" charset="0"/>
            </a:endParaRPr>
          </a:p>
          <a:p>
            <a:endParaRPr lang="en-US" altLang="zh-CN" sz="1600">
              <a:latin typeface="Cambria Math" panose="02040503050406030204" pitchFamily="18" charset="0"/>
            </a:endParaRPr>
          </a:p>
          <a:p>
            <a:endParaRPr lang="en-US" altLang="zh-CN" sz="1600">
              <a:latin typeface="Cambria Math" panose="02040503050406030204" pitchFamily="18" charset="0"/>
            </a:endParaRPr>
          </a:p>
          <a:p>
            <a:endParaRPr lang="en-US" altLang="zh-CN" sz="1600">
              <a:latin typeface="Cambria Math" panose="02040503050406030204" pitchFamily="18" charset="0"/>
            </a:endParaRPr>
          </a:p>
          <a:p>
            <a:endParaRPr lang="en-US" altLang="zh-CN" sz="1600">
              <a:latin typeface="Cambria Math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Cambria Math" panose="02040503050406030204" pitchFamily="18" charset="0"/>
              </a:rPr>
              <a:t>子目标链生成器：把高层规划转化为结构化格式</a:t>
            </a:r>
            <a:endParaRPr lang="en-US" altLang="zh-CN" sz="160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9F5BB1E-7991-C335-F9E0-B929B3ECC64F}"/>
                  </a:ext>
                </a:extLst>
              </p:cNvPr>
              <p:cNvSpPr txBox="1"/>
              <p:nvPr/>
            </p:nvSpPr>
            <p:spPr>
              <a:xfrm>
                <a:off x="7012668" y="1164202"/>
                <a:ext cx="39429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box>
                          <m:boxPr>
                            <m:ctrlPr>
                              <a:rPr lang="zh-CN" altLang="en-US" b="1" i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r>
                              <a:rPr lang="zh-CN" altLang="en-US" b="1" i="0">
                                <a:latin typeface="Cambria Math" panose="02040503050406030204" pitchFamily="18" charset="0"/>
                              </a:rPr>
                              <m:t>𝚷</m:t>
                            </m:r>
                          </m:e>
                        </m:box>
                      </m:e>
                      <m:sub>
                        <m:r>
                          <a:rPr lang="zh-CN" altLang="en-US" b="1" i="0">
                            <a:latin typeface="Cambria Math" panose="02040503050406030204" pitchFamily="18" charset="0"/>
                          </a:rPr>
                          <m:t>𝐬𝐥𝐨𝐰</m:t>
                        </m:r>
                      </m:sub>
                    </m:sSub>
                  </m:oMath>
                </a14:m>
                <a:r>
                  <a:rPr lang="zh-CN" altLang="en-US" b="1"/>
                  <a:t>：慢脑如何把指令变成计划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9F5BB1E-7991-C335-F9E0-B929B3ECC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2668" y="1164202"/>
                <a:ext cx="3942961" cy="369332"/>
              </a:xfrm>
              <a:prstGeom prst="rect">
                <a:avLst/>
              </a:prstGeom>
              <a:blipFill>
                <a:blip r:embed="rId4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1FEACA41-F95A-87D0-0A80-CC1DA564AE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5789" y="2015597"/>
            <a:ext cx="1692938" cy="36514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4629092-39B5-278D-79A8-C739308484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937" y="2423956"/>
            <a:ext cx="2312573" cy="26555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F841786-DBE2-318C-02B8-CBD3B0CC08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937" y="3704462"/>
            <a:ext cx="3087123" cy="38727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9320E73-259B-9AA9-318F-014A907A35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6533" y="4942085"/>
            <a:ext cx="1427379" cy="28768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41D694D-4C5F-7D3B-168F-9E75CA06F2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937" y="5414820"/>
            <a:ext cx="2622395" cy="38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028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E3C1C-5AEB-8919-F3B1-4910FCE1E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65F89E-3216-8A85-D4B3-4974514A0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5759" y="0"/>
            <a:ext cx="2534920" cy="680720"/>
          </a:xfrm>
        </p:spPr>
        <p:txBody>
          <a:bodyPr>
            <a:normAutofit/>
          </a:bodyPr>
          <a:lstStyle/>
          <a:p>
            <a:r>
              <a:rPr lang="en-US" altLang="zh-CN" sz="2800">
                <a:sym typeface="+mn-ea"/>
              </a:rPr>
              <a:t>Method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A05618B-CDF2-C06F-354E-670D01FF7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095" y="3479901"/>
            <a:ext cx="5680534" cy="292633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CB8A181-EE97-2364-8846-2E5ED14BA584}"/>
              </a:ext>
            </a:extLst>
          </p:cNvPr>
          <p:cNvSpPr txBox="1"/>
          <p:nvPr/>
        </p:nvSpPr>
        <p:spPr>
          <a:xfrm>
            <a:off x="745577" y="1313344"/>
            <a:ext cx="5811041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700"/>
              <a:t>维护两个概率矩阵 </a:t>
            </a:r>
            <a:r>
              <a:rPr lang="en-US" altLang="zh-CN" sz="1700"/>
              <a:t>PQ</a:t>
            </a:r>
            <a:r>
              <a:rPr lang="zh-CN" altLang="en-US" sz="1700"/>
              <a:t>：</a:t>
            </a:r>
            <a:endParaRPr lang="en-US" altLang="zh-CN" sz="1700"/>
          </a:p>
          <a:p>
            <a:r>
              <a:rPr lang="zh-CN" altLang="en-US" sz="1700"/>
              <a:t>P = [p00, p01; p10, p11]    时间</a:t>
            </a:r>
            <a:r>
              <a:rPr lang="en-US" altLang="zh-CN" sz="1700"/>
              <a:t>-</a:t>
            </a:r>
            <a:r>
              <a:rPr lang="zh-CN" altLang="en-US" sz="1700"/>
              <a:t>时间  </a:t>
            </a:r>
          </a:p>
          <a:p>
            <a:r>
              <a:rPr lang="zh-CN" altLang="en-US" sz="1700"/>
              <a:t>Q = [q00, q01; q10, q11]</a:t>
            </a:r>
            <a:r>
              <a:rPr lang="en-US" altLang="zh-CN" sz="1700"/>
              <a:t>   </a:t>
            </a:r>
            <a:r>
              <a:rPr lang="zh-CN" altLang="en-US" sz="1700"/>
              <a:t>时间</a:t>
            </a:r>
            <a:r>
              <a:rPr lang="en-US" altLang="zh-CN" sz="1700"/>
              <a:t>-</a:t>
            </a:r>
            <a:r>
              <a:rPr lang="zh-CN" altLang="en-US" sz="1700"/>
              <a:t>物体</a:t>
            </a:r>
            <a:endParaRPr lang="en-US" altLang="zh-CN" sz="1700"/>
          </a:p>
          <a:p>
            <a:endParaRPr lang="en-US" altLang="zh-CN" sz="1700"/>
          </a:p>
          <a:p>
            <a:r>
              <a:rPr lang="zh-CN" altLang="en-US" sz="1700">
                <a:solidFill>
                  <a:schemeClr val="accent1">
                    <a:lumMod val="75000"/>
                  </a:schemeClr>
                </a:solidFill>
              </a:rPr>
              <a:t>例如：</a:t>
            </a:r>
            <a:endParaRPr lang="en-US" altLang="zh-CN" sz="170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 sz="1700">
                <a:solidFill>
                  <a:schemeClr val="accent1">
                    <a:lumMod val="75000"/>
                  </a:schemeClr>
                </a:solidFill>
              </a:rPr>
              <a:t>真实图认为 </a:t>
            </a:r>
            <a:r>
              <a:rPr lang="en-US" altLang="zh-CN" sz="1700">
                <a:solidFill>
                  <a:schemeClr val="accent1">
                    <a:lumMod val="75000"/>
                  </a:schemeClr>
                </a:solidFill>
              </a:rPr>
              <a:t>t=3 </a:t>
            </a:r>
            <a:r>
              <a:rPr lang="zh-CN" altLang="en-US" sz="1700">
                <a:solidFill>
                  <a:schemeClr val="accent1">
                    <a:lumMod val="75000"/>
                  </a:schemeClr>
                </a:solidFill>
              </a:rPr>
              <a:t>到 </a:t>
            </a:r>
            <a:r>
              <a:rPr lang="en-US" altLang="zh-CN" sz="1700">
                <a:solidFill>
                  <a:schemeClr val="accent1">
                    <a:lumMod val="75000"/>
                  </a:schemeClr>
                </a:solidFill>
              </a:rPr>
              <a:t>t=4 </a:t>
            </a:r>
            <a:r>
              <a:rPr lang="zh-CN" altLang="en-US" sz="1700">
                <a:solidFill>
                  <a:schemeClr val="accent1">
                    <a:lumMod val="75000"/>
                  </a:schemeClr>
                </a:solidFill>
              </a:rPr>
              <a:t>连续（都能看见</a:t>
            </a:r>
            <a:r>
              <a:rPr lang="en-US" altLang="zh-CN" sz="1700">
                <a:solidFill>
                  <a:schemeClr val="accent1">
                    <a:lumMod val="75000"/>
                  </a:schemeClr>
                </a:solidFill>
              </a:rPr>
              <a:t>door</a:t>
            </a:r>
            <a:r>
              <a:rPr lang="zh-CN" altLang="en-US" sz="1700">
                <a:solidFill>
                  <a:schemeClr val="accent1">
                    <a:lumMod val="75000"/>
                  </a:schemeClr>
                </a:solidFill>
              </a:rPr>
              <a:t>）</a:t>
            </a:r>
            <a:endParaRPr lang="en-US" altLang="zh-CN" sz="170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 sz="1700">
                <a:solidFill>
                  <a:schemeClr val="accent1">
                    <a:lumMod val="75000"/>
                  </a:schemeClr>
                </a:solidFill>
              </a:rPr>
              <a:t>想象图也认为 </a:t>
            </a:r>
            <a:r>
              <a:rPr lang="en-US" altLang="zh-CN" sz="1700">
                <a:solidFill>
                  <a:schemeClr val="accent1">
                    <a:lumMod val="75000"/>
                  </a:schemeClr>
                </a:solidFill>
              </a:rPr>
              <a:t>t=3 </a:t>
            </a:r>
            <a:r>
              <a:rPr lang="zh-CN" altLang="en-US" sz="1700">
                <a:solidFill>
                  <a:schemeClr val="accent1">
                    <a:lumMod val="75000"/>
                  </a:schemeClr>
                </a:solidFill>
              </a:rPr>
              <a:t>到 </a:t>
            </a:r>
            <a:r>
              <a:rPr lang="en-US" altLang="zh-CN" sz="1700">
                <a:solidFill>
                  <a:schemeClr val="accent1">
                    <a:lumMod val="75000"/>
                  </a:schemeClr>
                </a:solidFill>
              </a:rPr>
              <a:t>t=4 </a:t>
            </a:r>
            <a:r>
              <a:rPr lang="zh-CN" altLang="en-US" sz="1700">
                <a:solidFill>
                  <a:schemeClr val="accent1">
                    <a:lumMod val="75000"/>
                  </a:schemeClr>
                </a:solidFill>
              </a:rPr>
              <a:t>连续（都能看见 </a:t>
            </a:r>
            <a:r>
              <a:rPr lang="en-US" altLang="zh-CN" sz="1700">
                <a:solidFill>
                  <a:schemeClr val="accent1">
                    <a:lumMod val="75000"/>
                  </a:schemeClr>
                </a:solidFill>
              </a:rPr>
              <a:t>pillow</a:t>
            </a:r>
            <a:r>
              <a:rPr lang="zh-CN" altLang="en-US" sz="1700">
                <a:solidFill>
                  <a:schemeClr val="accent1">
                    <a:lumMod val="75000"/>
                  </a:schemeClr>
                </a:solidFill>
              </a:rPr>
              <a:t>）</a:t>
            </a:r>
            <a:endParaRPr lang="en-US" altLang="zh-CN" sz="170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 sz="1700">
                <a:solidFill>
                  <a:schemeClr val="accent1">
                    <a:lumMod val="75000"/>
                  </a:schemeClr>
                </a:solidFill>
              </a:rPr>
              <a:t>则计入概率 </a:t>
            </a:r>
            <a:r>
              <a:rPr lang="en-US" altLang="zh-CN" sz="1700">
                <a:solidFill>
                  <a:schemeClr val="accent1">
                    <a:lumMod val="75000"/>
                  </a:schemeClr>
                </a:solidFill>
              </a:rPr>
              <a:t>p11</a:t>
            </a:r>
          </a:p>
          <a:p>
            <a:endParaRPr lang="en-US" altLang="zh-CN" sz="170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 sz="1700">
                <a:solidFill>
                  <a:schemeClr val="accent1">
                    <a:lumMod val="75000"/>
                  </a:schemeClr>
                </a:solidFill>
              </a:rPr>
              <a:t>真实图认为 </a:t>
            </a:r>
            <a:r>
              <a:rPr lang="en-US" altLang="zh-CN" sz="1700">
                <a:solidFill>
                  <a:schemeClr val="accent1">
                    <a:lumMod val="75000"/>
                  </a:schemeClr>
                </a:solidFill>
              </a:rPr>
              <a:t>t=3 </a:t>
            </a:r>
            <a:r>
              <a:rPr lang="zh-CN" altLang="en-US" sz="1700">
                <a:solidFill>
                  <a:schemeClr val="accent1">
                    <a:lumMod val="75000"/>
                  </a:schemeClr>
                </a:solidFill>
              </a:rPr>
              <a:t>有沙发，想象图也认为 </a:t>
            </a:r>
            <a:r>
              <a:rPr lang="en-US" altLang="zh-CN" sz="1700">
                <a:solidFill>
                  <a:schemeClr val="accent1">
                    <a:lumMod val="75000"/>
                  </a:schemeClr>
                </a:solidFill>
              </a:rPr>
              <a:t>t=3 </a:t>
            </a:r>
            <a:r>
              <a:rPr lang="zh-CN" altLang="en-US" sz="1700">
                <a:solidFill>
                  <a:schemeClr val="accent1">
                    <a:lumMod val="75000"/>
                  </a:schemeClr>
                </a:solidFill>
              </a:rPr>
              <a:t>有沙发</a:t>
            </a:r>
            <a:endParaRPr lang="en-US" altLang="zh-CN" sz="170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 sz="1700">
                <a:solidFill>
                  <a:schemeClr val="accent1">
                    <a:lumMod val="75000"/>
                  </a:schemeClr>
                </a:solidFill>
              </a:rPr>
              <a:t>则计入概率 </a:t>
            </a:r>
            <a:r>
              <a:rPr lang="en-US" altLang="zh-CN" sz="1700">
                <a:solidFill>
                  <a:schemeClr val="accent1">
                    <a:lumMod val="75000"/>
                  </a:schemeClr>
                </a:solidFill>
              </a:rPr>
              <a:t>q11</a:t>
            </a:r>
            <a:endParaRPr lang="zh-CN" altLang="en-US" sz="170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98B398C-6A58-BC38-5356-45EF8B40E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596" y="1056921"/>
            <a:ext cx="5179123" cy="2261801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11890308-9B70-336A-5CE9-BB151248789F}"/>
              </a:ext>
            </a:extLst>
          </p:cNvPr>
          <p:cNvSpPr txBox="1"/>
          <p:nvPr/>
        </p:nvSpPr>
        <p:spPr>
          <a:xfrm>
            <a:off x="672994" y="913234"/>
            <a:ext cx="30575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>
                <a:latin typeface="Perpetua" panose="02020502060401020303" pitchFamily="18" charset="0"/>
              </a:rPr>
              <a:t>Slow-Fast Bridge</a:t>
            </a:r>
            <a:endParaRPr lang="zh-CN" altLang="en-US" sz="2000" b="1">
              <a:latin typeface="Perpetua" panose="02020502060401020303" pitchFamily="18" charset="0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8EBE76C7-55A1-F8A9-63A4-DB64E0CC1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06" y="4562041"/>
            <a:ext cx="2665324" cy="749939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CA0780FA-1085-A63A-9175-81233998CA65}"/>
              </a:ext>
            </a:extLst>
          </p:cNvPr>
          <p:cNvSpPr txBox="1"/>
          <p:nvPr/>
        </p:nvSpPr>
        <p:spPr>
          <a:xfrm>
            <a:off x="3321130" y="4613844"/>
            <a:ext cx="294773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zh-CN" sz="1700"/>
              <a:t>时间结构的一致程度</a:t>
            </a:r>
          </a:p>
          <a:p>
            <a:pPr lvl="0"/>
            <a:r>
              <a:rPr lang="zh-CN" altLang="zh-CN" sz="1700"/>
              <a:t>物体属性关系的一致程度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E406B98-3645-8AAA-14A8-7B384D483BB9}"/>
                  </a:ext>
                </a:extLst>
              </p:cNvPr>
              <p:cNvSpPr txBox="1"/>
              <p:nvPr/>
            </p:nvSpPr>
            <p:spPr>
              <a:xfrm>
                <a:off x="728389" y="5707664"/>
                <a:ext cx="5680534" cy="11387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700"/>
                  <a:t>两图越一致，ψu、ψa 越大，置信度 </a:t>
                </a:r>
                <a:r>
                  <a:rPr lang="en-US" altLang="zh-CN" sz="1700"/>
                  <a:t>Ct </a:t>
                </a:r>
                <a:r>
                  <a:rPr lang="zh-CN" altLang="en-US" sz="1700"/>
                  <a:t>越大</a:t>
                </a:r>
                <a:endParaRPr lang="en-US" altLang="zh-CN" sz="170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7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17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sz="170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zh-CN" alt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7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zh-CN" altLang="en-US" sz="17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zh-CN" altLang="en-US" sz="1700"/>
                  <a:t> 导航器独立工作，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7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zh-CN" altLang="en-US" sz="17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zh-CN" altLang="en-US" sz="170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zh-CN" alt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7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zh-CN" altLang="en-US" sz="17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zh-CN" altLang="en-US" sz="1700"/>
                  <a:t> 慢 </a:t>
                </a:r>
                <a:r>
                  <a:rPr lang="en-US" altLang="zh-CN" sz="1700"/>
                  <a:t>LLM </a:t>
                </a:r>
                <a:r>
                  <a:rPr lang="zh-CN" altLang="en-US" sz="1700"/>
                  <a:t>重新规划路线</a:t>
                </a:r>
                <a:endParaRPr lang="en-US" altLang="zh-CN" sz="1700"/>
              </a:p>
              <a:p>
                <a:endParaRPr lang="en-US" altLang="zh-CN" sz="1700"/>
              </a:p>
              <a:p>
                <a:endParaRPr lang="zh-CN" altLang="en-US" sz="170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E406B98-3645-8AAA-14A8-7B384D483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389" y="5707664"/>
                <a:ext cx="5680534" cy="1138773"/>
              </a:xfrm>
              <a:prstGeom prst="rect">
                <a:avLst/>
              </a:prstGeom>
              <a:blipFill>
                <a:blip r:embed="rId6"/>
                <a:stretch>
                  <a:fillRect l="-644" t="-16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图片 24">
            <a:extLst>
              <a:ext uri="{FF2B5EF4-FFF2-40B4-BE49-F238E27FC236}">
                <a16:creationId xmlns:a16="http://schemas.microsoft.com/office/drawing/2014/main" id="{8AF17946-C4D5-7C96-5C74-A03FBA1005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3981" y="5447391"/>
            <a:ext cx="3354460" cy="283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167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ACC4C-8D26-2BDF-8FD7-F1A05CE92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2CC223-5DE1-59E9-11CC-78B2D54CD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5759" y="0"/>
            <a:ext cx="2534920" cy="680720"/>
          </a:xfrm>
        </p:spPr>
        <p:txBody>
          <a:bodyPr>
            <a:normAutofit/>
          </a:bodyPr>
          <a:lstStyle/>
          <a:p>
            <a:r>
              <a:rPr lang="en-US" altLang="zh-CN" sz="2800">
                <a:sym typeface="+mn-ea"/>
              </a:rPr>
              <a:t>Experiments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0F3EC43-B15E-92B3-01F1-5A53C74B1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473" y="776363"/>
            <a:ext cx="9395053" cy="469752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13C2374-F91B-FB69-71AC-3C5E1612B7CC}"/>
              </a:ext>
            </a:extLst>
          </p:cNvPr>
          <p:cNvSpPr txBox="1"/>
          <p:nvPr/>
        </p:nvSpPr>
        <p:spPr>
          <a:xfrm>
            <a:off x="4042813" y="5652736"/>
            <a:ext cx="4106372" cy="708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ts val="2500"/>
              </a:lnSpc>
            </a:pPr>
            <a:r>
              <a:rPr lang="en-US" altLang="zh-CN" sz="1600"/>
              <a:t>TL</a:t>
            </a:r>
            <a:r>
              <a:rPr lang="zh-CN" altLang="en-US" sz="1600"/>
              <a:t>：轨迹长度</a:t>
            </a:r>
            <a:endParaRPr lang="en-US" altLang="zh-CN" sz="1600"/>
          </a:p>
          <a:p>
            <a:pPr lvl="1">
              <a:lnSpc>
                <a:spcPts val="2500"/>
              </a:lnSpc>
            </a:pPr>
            <a:r>
              <a:rPr lang="en-US" altLang="zh-CN" sz="1600"/>
              <a:t>OSR</a:t>
            </a:r>
            <a:r>
              <a:rPr lang="zh-CN" altLang="en-US" sz="1600"/>
              <a:t>：先知成功率，经过就算成功</a:t>
            </a:r>
            <a:endParaRPr lang="en-US" altLang="zh-CN" sz="1600"/>
          </a:p>
        </p:txBody>
      </p:sp>
    </p:spTree>
    <p:extLst>
      <p:ext uri="{BB962C8B-B14F-4D97-AF65-F5344CB8AC3E}">
        <p14:creationId xmlns:p14="http://schemas.microsoft.com/office/powerpoint/2010/main" val="1855969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C0952-4000-04EC-E67E-41026CBB9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3A2C8F-F632-EEE4-A39E-16962647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5759" y="0"/>
            <a:ext cx="2534920" cy="680720"/>
          </a:xfrm>
        </p:spPr>
        <p:txBody>
          <a:bodyPr>
            <a:normAutofit/>
          </a:bodyPr>
          <a:lstStyle/>
          <a:p>
            <a:r>
              <a:rPr lang="zh-CN" altLang="en-US" sz="2800">
                <a:sym typeface="+mn-ea"/>
              </a:rPr>
              <a:t>总结与反思</a:t>
            </a:r>
            <a:endParaRPr lang="en-US" altLang="zh-CN" sz="2800">
              <a:sym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20A067-AADF-5290-FD9A-F8DB8E9AF783}"/>
              </a:ext>
            </a:extLst>
          </p:cNvPr>
          <p:cNvSpPr txBox="1"/>
          <p:nvPr/>
        </p:nvSpPr>
        <p:spPr>
          <a:xfrm>
            <a:off x="414149" y="1404828"/>
            <a:ext cx="7190417" cy="144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200000"/>
              </a:lnSpc>
            </a:pPr>
            <a:r>
              <a:rPr lang="zh-CN" altLang="en-US" sz="1600"/>
              <a:t>现有导航模型推理开销大，可从两个方向入手：</a:t>
            </a:r>
            <a:endParaRPr lang="en-US" altLang="zh-CN" sz="1600"/>
          </a:p>
          <a:p>
            <a:pPr lvl="1">
              <a:lnSpc>
                <a:spcPts val="2500"/>
              </a:lnSpc>
            </a:pPr>
            <a:r>
              <a:rPr lang="en-US" altLang="zh-CN" sz="1600"/>
              <a:t>	AstraNav-Memory</a:t>
            </a:r>
            <a:r>
              <a:rPr lang="zh-CN" altLang="en-US" sz="1600"/>
              <a:t>：压缩历史记忆（图像压缩方面的工作）</a:t>
            </a:r>
            <a:endParaRPr lang="en-US" altLang="zh-CN" sz="1600"/>
          </a:p>
          <a:p>
            <a:pPr lvl="1">
              <a:lnSpc>
                <a:spcPct val="100000"/>
              </a:lnSpc>
            </a:pPr>
            <a:r>
              <a:rPr lang="en-US" altLang="zh-CN" sz="1600"/>
              <a:t>	</a:t>
            </a:r>
            <a:r>
              <a:rPr lang="zh-CN" altLang="zh-CN" sz="1600"/>
              <a:t>SFCo-Nav</a:t>
            </a:r>
            <a:r>
              <a:rPr lang="zh-CN" altLang="en-US" sz="1600"/>
              <a:t>：减少推理次数（故事性强）</a:t>
            </a:r>
            <a:endParaRPr lang="en-US" altLang="zh-CN" sz="1600"/>
          </a:p>
          <a:p>
            <a:pPr lvl="1">
              <a:lnSpc>
                <a:spcPts val="2500"/>
              </a:lnSpc>
            </a:pPr>
            <a:endParaRPr lang="en-US" altLang="zh-CN" sz="1600"/>
          </a:p>
        </p:txBody>
      </p:sp>
    </p:spTree>
    <p:extLst>
      <p:ext uri="{BB962C8B-B14F-4D97-AF65-F5344CB8AC3E}">
        <p14:creationId xmlns:p14="http://schemas.microsoft.com/office/powerpoint/2010/main" val="9591369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jQ2OGJkZTE0NDczMjY1M2Q3MjAzMTY0M2MzNWIyYTEifQ=="/>
  <p:tag name="RESOURCE_RECORD_KEY" val="{&quot;70&quot;:[3314145,3315773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18415</TotalTime>
  <Words>3202</Words>
  <Application>Microsoft Office PowerPoint</Application>
  <PresentationFormat>宽屏</PresentationFormat>
  <Paragraphs>139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 Unicode MS</vt:lpstr>
      <vt:lpstr>等线</vt:lpstr>
      <vt:lpstr>等线 Light</vt:lpstr>
      <vt:lpstr>微软雅黑</vt:lpstr>
      <vt:lpstr>Arial</vt:lpstr>
      <vt:lpstr>Cambria Math</vt:lpstr>
      <vt:lpstr>Perpetua</vt:lpstr>
      <vt:lpstr>Wingdings</vt:lpstr>
      <vt:lpstr>Office 主题​​</vt:lpstr>
      <vt:lpstr>PowerPoint 演示文稿</vt:lpstr>
      <vt:lpstr>Introduction</vt:lpstr>
      <vt:lpstr>Framework</vt:lpstr>
      <vt:lpstr>Experiments</vt:lpstr>
      <vt:lpstr>Experiments</vt:lpstr>
      <vt:lpstr>PowerPoint 演示文稿</vt:lpstr>
      <vt:lpstr>Introduction</vt:lpstr>
      <vt:lpstr>Framework</vt:lpstr>
      <vt:lpstr>Method</vt:lpstr>
      <vt:lpstr>Method</vt:lpstr>
      <vt:lpstr>Experiments</vt:lpstr>
      <vt:lpstr>总结与反思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啊啊</dc:title>
  <dc:creator>梁 潇</dc:creator>
  <cp:lastModifiedBy>康欣 王</cp:lastModifiedBy>
  <cp:revision>2748</cp:revision>
  <dcterms:created xsi:type="dcterms:W3CDTF">2022-09-09T04:16:00Z</dcterms:created>
  <dcterms:modified xsi:type="dcterms:W3CDTF">2026-10-26T10:31:08Z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D93A38EF56D44D7A82C4BDA23853D9F5_13</vt:lpwstr>
  </property>
  <property fmtid="{D5CDD505-2E9C-101B-9397-08002B2CF9AE}" pid="3" name="KSOProductBuildVer">
    <vt:lpwstr>2052-12.1.0.23542</vt:lpwstr>
  </property>
</Properties>
</file>