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59" r:id="rId4"/>
    <p:sldId id="260" r:id="rId5"/>
    <p:sldId id="277" r:id="rId6"/>
    <p:sldId id="278" r:id="rId7"/>
    <p:sldId id="285" r:id="rId8"/>
    <p:sldId id="286" r:id="rId9"/>
    <p:sldId id="261" r:id="rId10"/>
    <p:sldId id="271" r:id="rId11"/>
    <p:sldId id="267" r:id="rId12"/>
    <p:sldId id="272" r:id="rId13"/>
    <p:sldId id="282" r:id="rId14"/>
    <p:sldId id="291" r:id="rId15"/>
    <p:sldId id="292" r:id="rId16"/>
    <p:sldId id="284" r:id="rId17"/>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56DF245-3F3B-46C4-AB30-D520246458FB}" styleName="表样式 1 17">
    <a:wholeTbl>
      <a:tcTxStyle>
        <a:fontRef idx="none">
          <a:schemeClr val="tx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w="9525" cmpd="sng">
              <a:solidFill>
                <a:schemeClr val="dk1">
                  <a:lumMod val="40000"/>
                  <a:lumOff val="60000"/>
                </a:schemeClr>
              </a:solidFill>
              <a:prstDash val="solid"/>
            </a:ln>
          </a:insideV>
        </a:tcBdr>
        <a:fill>
          <a:solidFill>
            <a:schemeClr val="bg1">
              <a:alpha val="0"/>
            </a:schemeClr>
          </a:solidFill>
        </a:fill>
      </a:tcStyle>
    </a:wholeTbl>
    <a:band2H>
      <a:tcStyle>
        <a:tcBdr/>
        <a:fill>
          <a:solidFill>
            <a:schemeClr val="dk1">
              <a:lumMod val="40000"/>
              <a:lumOff val="60000"/>
              <a:alpha val="25000"/>
            </a:schemeClr>
          </a:solidFill>
        </a:fill>
      </a:tcStyle>
    </a:band2H>
    <a:band1V>
      <a:tcStyle>
        <a:tcBdr/>
        <a:fill>
          <a:solidFill>
            <a:schemeClr val="dk1">
              <a:lumMod val="40000"/>
              <a:lumOff val="60000"/>
              <a:alpha val="25000"/>
            </a:schemeClr>
          </a:solidFill>
        </a:fill>
      </a:tcStyle>
    </a:band1V>
    <a:lastCol>
      <a:tcTxStyle b="on">
        <a:fontRef idx="none">
          <a:schemeClr val="tx1"/>
        </a:fontRef>
      </a:tcTxStyle>
      <a:tcStyle>
        <a:tcBdr>
          <a:left>
            <a:ln w="9525" cmpd="sng">
              <a:solidFill>
                <a:schemeClr val="dk1">
                  <a:lumMod val="40000"/>
                  <a:lumOff val="60000"/>
                </a:schemeClr>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40000"/>
              <a:lumOff val="60000"/>
              <a:alpha val="40000"/>
            </a:schemeClr>
          </a:solidFill>
        </a:fill>
      </a:tcStyle>
    </a:lastCol>
    <a:firstCol>
      <a:tcTxStyle b="on">
        <a:fontRef idx="none">
          <a:schemeClr val="dk1"/>
        </a:fontRef>
      </a:tcTxStyle>
      <a:tcStyle>
        <a:tcBdr>
          <a:left>
            <a:ln w="9525" cmpd="sng">
              <a:solidFill>
                <a:schemeClr val="dk1"/>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bg1">
              <a:alpha val="0"/>
            </a:schemeClr>
          </a:solidFill>
        </a:fill>
      </a:tcStyle>
    </a:firstCol>
    <a:lastRow>
      <a:tcTxStyle b="on">
        <a:fontRef idx="none">
          <a:schemeClr val="dk1"/>
        </a:fontRef>
      </a:tcTxStyle>
      <a:tcStyle>
        <a:tcBdr>
          <a:left>
            <a:ln w="9525" cmpd="sng">
              <a:solidFill>
                <a:schemeClr val="dk1"/>
              </a:solidFill>
              <a:prstDash val="solid"/>
            </a:ln>
          </a:left>
          <a:right>
            <a:ln w="9525" cmpd="sng">
              <a:solidFill>
                <a:schemeClr val="dk1"/>
              </a:solidFill>
              <a:prstDash val="solid"/>
            </a:ln>
          </a:right>
          <a:top>
            <a:ln w="9525" cmpd="sng">
              <a:solidFill>
                <a:schemeClr val="dk1">
                  <a:lumMod val="40000"/>
                  <a:lumOff val="60000"/>
                </a:schemeClr>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lastRow>
    <a:seCell>
      <a:tcTxStyle b="on">
        <a:fontRef idx="none">
          <a:schemeClr val="dk1"/>
        </a:fontRef>
      </a:tcTxStyle>
      <a:tcStyle>
        <a:tcBdr>
          <a:left>
            <a:ln>
              <a:noFill/>
            </a:ln>
          </a:left>
          <a:right>
            <a:ln w="9525" cmpd="sng">
              <a:solidFill>
                <a:schemeClr val="dk1"/>
              </a:solidFill>
              <a:prstDash val="solid"/>
            </a:ln>
          </a:right>
          <a:top>
            <a:ln w="9525" cmpd="sng">
              <a:solidFill>
                <a:schemeClr val="dk1">
                  <a:lumMod val="40000"/>
                  <a:lumOff val="60000"/>
                </a:schemeClr>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seCell>
    <a:swCell>
      <a:tcTxStyle b="on">
        <a:fontRef idx="none">
          <a:schemeClr val="dk1"/>
        </a:fontRef>
      </a:tcTxStyle>
      <a:tcStyle>
        <a:tcBdr>
          <a:left>
            <a:ln w="9525" cmpd="sng">
              <a:solidFill>
                <a:schemeClr val="dk1"/>
              </a:solidFill>
              <a:prstDash val="solid"/>
            </a:ln>
          </a:left>
          <a:right>
            <a:ln>
              <a:noFill/>
            </a:ln>
          </a:right>
          <a:top>
            <a:ln w="9525" cmpd="sng">
              <a:solidFill>
                <a:schemeClr val="dk1">
                  <a:lumMod val="40000"/>
                  <a:lumOff val="60000"/>
                </a:schemeClr>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swCell>
    <a:firstRow>
      <a:tcTxStyle b="on">
        <a:fontRef idx="none">
          <a:schemeClr val="dk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lumMod val="40000"/>
                  <a:lumOff val="60000"/>
                </a:schemeClr>
              </a:solidFill>
              <a:prstDash val="solid"/>
            </a:ln>
          </a:bottom>
          <a:insideH>
            <a:ln>
              <a:noFill/>
            </a:ln>
          </a:insideH>
          <a:insideV>
            <a:ln w="9525" cmpd="sng">
              <a:solidFill>
                <a:schemeClr val="dk1">
                  <a:lumMod val="40000"/>
                  <a:lumOff val="60000"/>
                </a:schemeClr>
              </a:solidFill>
              <a:prstDash val="solid"/>
            </a:ln>
          </a:insideV>
        </a:tcBdr>
        <a:fill>
          <a:solidFill>
            <a:schemeClr val="bg1">
              <a:alpha val="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9"/>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3.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觅知网-不倒翁ID:18935994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觅知网-不倒翁ID:189359941"/>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觅知网-不倒翁ID:189359941"/>
          <p:cNvSpPr>
            <a:spLocks noGrp="1"/>
          </p:cNvSpPr>
          <p:nvPr>
            <p:ph type="dt" sz="half" idx="10"/>
          </p:nvPr>
        </p:nvSpPr>
        <p:spPr/>
        <p:txBody>
          <a:bodyPr/>
          <a:lstStyle/>
          <a:p>
            <a:fld id="{6099D4AB-BE0B-4365-BF5A-E614EB795BF6}" type="datetimeFigureOut">
              <a:rPr lang="zh-CN" altLang="en-US" smtClean="0"/>
            </a:fld>
            <a:endParaRPr lang="zh-CN" altLang="en-US"/>
          </a:p>
        </p:txBody>
      </p:sp>
      <p:sp>
        <p:nvSpPr>
          <p:cNvPr id="5" name="觅知网-不倒翁ID:189359941"/>
          <p:cNvSpPr>
            <a:spLocks noGrp="1"/>
          </p:cNvSpPr>
          <p:nvPr>
            <p:ph type="ftr" sz="quarter" idx="11"/>
          </p:nvPr>
        </p:nvSpPr>
        <p:spPr/>
        <p:txBody>
          <a:bodyPr/>
          <a:lstStyle/>
          <a:p>
            <a:endParaRPr lang="zh-CN" altLang="en-US"/>
          </a:p>
        </p:txBody>
      </p:sp>
      <p:sp>
        <p:nvSpPr>
          <p:cNvPr id="6" name="觅知网-不倒翁ID:189359941"/>
          <p:cNvSpPr>
            <a:spLocks noGrp="1"/>
          </p:cNvSpPr>
          <p:nvPr>
            <p:ph type="sldNum" sz="quarter" idx="12"/>
          </p:nvPr>
        </p:nvSpPr>
        <p:spPr/>
        <p:txBody>
          <a:bodyPr/>
          <a:lstStyle/>
          <a:p>
            <a:fld id="{1E7A1187-A213-479F-8E00-52FAC087746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7" name="矩形 6"/>
          <p:cNvSpPr/>
          <p:nvPr userDrawn="1"/>
        </p:nvSpPr>
        <p:spPr>
          <a:xfrm>
            <a:off x="-2" y="737473"/>
            <a:ext cx="11772000" cy="36000"/>
          </a:xfrm>
          <a:prstGeom prst="rect">
            <a:avLst/>
          </a:prstGeom>
          <a:gradFill flip="none" rotWithShape="1">
            <a:gsLst>
              <a:gs pos="0">
                <a:schemeClr val="bg1"/>
              </a:gs>
              <a:gs pos="69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9984740" y="116205"/>
            <a:ext cx="1805940" cy="5334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cs typeface="思源黑体 CN Regular" panose="020B0500000000000000" charset="-122"/>
              </a:defRPr>
            </a:lvl1pPr>
          </a:lstStyle>
          <a:p>
            <a:fld id="{6099D4AB-BE0B-4365-BF5A-E614EB795BF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cs typeface="思源黑体 CN Regular" panose="020B05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cs typeface="思源黑体 CN Regular" panose="020B0500000000000000" charset="-122"/>
              </a:defRPr>
            </a:lvl1pPr>
          </a:lstStyle>
          <a:p>
            <a:fld id="{1E7A1187-A213-479F-8E00-52FAC0877461}" type="slidenum">
              <a:rPr lang="zh-CN" altLang="en-US" smtClean="0"/>
            </a:fld>
            <a:endParaRPr lang="zh-CN" altLang="en-US"/>
          </a:p>
        </p:txBody>
      </p:sp>
      <p:pic>
        <p:nvPicPr>
          <p:cNvPr id="7" name="图片 6"/>
          <p:cNvPicPr>
            <a:picLocks noChangeAspect="1"/>
          </p:cNvPicPr>
          <p:nvPr userDrawn="1"/>
        </p:nvPicPr>
        <p:blipFill>
          <a:blip r:embed="rId3"/>
          <a:stretch>
            <a:fillRect/>
          </a:stretch>
        </p:blipFill>
        <p:spPr>
          <a:xfrm>
            <a:off x="9986400" y="115200"/>
            <a:ext cx="1805940" cy="5334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思源黑体 CN Regular" panose="020B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思源黑体 CN Regular"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思源黑体 CN Regular" panose="020B05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思源黑体 CN Regular" panose="020B05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思源黑体 CN Regular" panose="020B05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思源黑体 CN Regular" panose="020B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96875" y="1577340"/>
            <a:ext cx="11563350" cy="1594485"/>
          </a:xfrm>
          <a:prstGeom prst="rect">
            <a:avLst/>
          </a:prstGeom>
        </p:spPr>
        <p:txBody>
          <a:bodyPr wrap="square">
            <a:noAutofit/>
          </a:bodyPr>
          <a:p>
            <a:pPr lvl="0" algn="ctr">
              <a:lnSpc>
                <a:spcPct val="120000"/>
              </a:lnSpc>
              <a:defRPr/>
            </a:pPr>
            <a:r>
              <a:rPr kumimoji="0" lang="en-US" altLang="zh-CN" sz="3600" b="1" i="0" u="none" strike="noStrike" kern="0" cap="none" spc="400" normalizeH="0" baseline="0" noProof="0" dirty="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sym typeface="+mn-ea"/>
              </a:rPr>
              <a:t>On Robustness of Vision-Language-Action Model against Multi-Modal Perturbations</a:t>
            </a:r>
            <a:endParaRPr kumimoji="0" lang="en-US" altLang="zh-CN" sz="3600" b="1" i="0" u="none" strike="noStrike" kern="0" cap="none" spc="400" normalizeH="0" baseline="0" noProof="0" dirty="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sym typeface="+mn-ea"/>
            </a:endParaRPr>
          </a:p>
          <a:p>
            <a:pPr lvl="0" algn="ctr">
              <a:lnSpc>
                <a:spcPct val="120000"/>
              </a:lnSpc>
              <a:defRPr/>
            </a:pPr>
            <a:endParaRPr kumimoji="0" lang="en-US" altLang="zh-CN" sz="3600" b="1" i="0" u="none" strike="noStrike" kern="0" cap="none" spc="400" normalizeH="0" baseline="0" noProof="0" dirty="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sym typeface="+mn-ea"/>
            </a:endParaRPr>
          </a:p>
          <a:p>
            <a:pPr lvl="0" algn="ctr">
              <a:lnSpc>
                <a:spcPct val="120000"/>
              </a:lnSpc>
              <a:defRPr/>
            </a:pPr>
            <a:r>
              <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rPr>
              <a:t>Jianing Guo, Zhenhong Wu, Chang Tu, Yiyao Ma, Xiangqi Kong, Zhiqian Liu, Jiaming Ji, Shuning Zhang, Yuanpei Chen, Kai Chen, Qi Dou, Yaodong Yang, Xianglong Liu, Huijie Zhao, Weifeng Lv, Simin Li</a:t>
            </a:r>
            <a:endPar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endParaRPr>
          </a:p>
          <a:p>
            <a:pPr lvl="0" algn="ctr">
              <a:lnSpc>
                <a:spcPct val="100000"/>
              </a:lnSpc>
              <a:spcBef>
                <a:spcPts val="0"/>
              </a:spcBef>
              <a:buClrTx/>
              <a:buSzTx/>
              <a:buNone/>
            </a:pPr>
            <a:r>
              <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rPr>
              <a:t>Beihang University</a:t>
            </a:r>
            <a:endPar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endParaRPr>
          </a:p>
          <a:p>
            <a:pPr lvl="0" algn="ctr">
              <a:lnSpc>
                <a:spcPct val="100000"/>
              </a:lnSpc>
              <a:spcBef>
                <a:spcPts val="0"/>
              </a:spcBef>
              <a:buClrTx/>
              <a:buSzTx/>
              <a:buNone/>
            </a:pPr>
            <a:r>
              <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rPr>
              <a:t>Peking University</a:t>
            </a:r>
            <a:endPar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endParaRPr>
          </a:p>
          <a:p>
            <a:pPr lvl="0" algn="ctr">
              <a:lnSpc>
                <a:spcPct val="100000"/>
              </a:lnSpc>
              <a:spcBef>
                <a:spcPts val="0"/>
              </a:spcBef>
              <a:buClrTx/>
              <a:buSzTx/>
              <a:buNone/>
            </a:pPr>
            <a:r>
              <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rPr>
              <a:t>The Chinese University of Hong Kong</a:t>
            </a:r>
            <a:endPar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endParaRPr>
          </a:p>
          <a:p>
            <a:pPr lvl="0" algn="ctr">
              <a:lnSpc>
                <a:spcPct val="100000"/>
              </a:lnSpc>
              <a:spcBef>
                <a:spcPts val="0"/>
              </a:spcBef>
              <a:buClrTx/>
              <a:buSzTx/>
              <a:buNone/>
            </a:pPr>
            <a:r>
              <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rPr>
              <a:t>PKU-Psibot Lab</a:t>
            </a:r>
            <a:endPar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endParaRPr>
          </a:p>
          <a:p>
            <a:pPr lvl="0" algn="ctr">
              <a:lnSpc>
                <a:spcPct val="100000"/>
              </a:lnSpc>
              <a:spcBef>
                <a:spcPts val="0"/>
              </a:spcBef>
              <a:buClrTx/>
              <a:buSzTx/>
              <a:buNone/>
            </a:pPr>
            <a:r>
              <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rPr>
              <a:t>Tsinghua University</a:t>
            </a:r>
            <a:endPar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endParaRPr>
          </a:p>
          <a:p>
            <a:pPr lvl="0" algn="ctr">
              <a:lnSpc>
                <a:spcPct val="100000"/>
              </a:lnSpc>
              <a:spcBef>
                <a:spcPts val="0"/>
              </a:spcBef>
              <a:buClrTx/>
              <a:buSzTx/>
              <a:buNone/>
            </a:pPr>
            <a:r>
              <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rPr>
              <a:t>Zhongguancun Laboratory</a:t>
            </a:r>
            <a:endPar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endParaRPr>
          </a:p>
          <a:p>
            <a:pPr lvl="0" algn="ctr">
              <a:lnSpc>
                <a:spcPct val="100000"/>
              </a:lnSpc>
              <a:spcBef>
                <a:spcPts val="0"/>
              </a:spcBef>
              <a:buClrTx/>
              <a:buSzTx/>
              <a:buNone/>
            </a:pPr>
            <a:r>
              <a:rPr kumimoji="0" lang="en-US" altLang="zh-CN" i="0" u="none" strike="noStrike" kern="0" cap="none" normalizeH="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rPr>
              <a:t>Hefei Comprehensive National Science Center</a:t>
            </a:r>
            <a:endParaRPr kumimoji="0" lang="en-US" altLang="zh-CN" b="1" i="0" u="none" strike="noStrike" kern="0" cap="none" spc="400" normalizeH="0" baseline="0" noProof="0" dirty="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sym typeface="+mn-ea"/>
            </a:endParaRPr>
          </a:p>
          <a:p>
            <a:pPr lvl="0" algn="ctr">
              <a:lnSpc>
                <a:spcPct val="120000"/>
              </a:lnSpc>
              <a:spcBef>
                <a:spcPts val="0"/>
              </a:spcBef>
              <a:spcAft>
                <a:spcPts val="0"/>
              </a:spcAft>
              <a:defRPr/>
            </a:pPr>
            <a:endParaRPr kumimoji="0" lang="en-US" altLang="zh-CN" i="0" kern="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3" name="文本框 2"/>
          <p:cNvSpPr txBox="1"/>
          <p:nvPr/>
        </p:nvSpPr>
        <p:spPr>
          <a:xfrm>
            <a:off x="335280" y="315595"/>
            <a:ext cx="5615305" cy="460375"/>
          </a:xfrm>
          <a:prstGeom prst="rect">
            <a:avLst/>
          </a:prstGeom>
          <a:noFill/>
        </p:spPr>
        <p:txBody>
          <a:bodyPr wrap="square" rtlCol="0">
            <a:spAutoFit/>
          </a:bodyPr>
          <a:p>
            <a:r>
              <a:rPr lang="en-US" altLang="zh-CN" sz="2400"/>
              <a:t>ICLR 2026</a:t>
            </a:r>
            <a:endParaRPr lang="en-US" altLang="zh-CN"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48970" y="958215"/>
            <a:ext cx="4015740" cy="5899785"/>
          </a:xfrm>
          <a:prstGeom prst="rect">
            <a:avLst/>
          </a:prstGeom>
          <a:noFill/>
        </p:spPr>
        <p:txBody>
          <a:bodyPr wrap="square" rtlCol="0" anchor="t">
            <a:noAutofit/>
          </a:bodyPr>
          <a:p>
            <a:r>
              <a:rPr lang="en-US" altLang="zh-CN"/>
              <a:t>      </a:t>
            </a:r>
            <a:endParaRPr lang="zh-CN" altLang="en-US"/>
          </a:p>
          <a:p>
            <a:endParaRPr lang="zh-CN" altLang="en-US" sz="2400"/>
          </a:p>
        </p:txBody>
      </p:sp>
      <p:sp>
        <p:nvSpPr>
          <p:cNvPr id="5" name="文本框 4"/>
          <p:cNvSpPr txBox="1"/>
          <p:nvPr/>
        </p:nvSpPr>
        <p:spPr>
          <a:xfrm>
            <a:off x="360000" y="180000"/>
            <a:ext cx="6096000" cy="521970"/>
          </a:xfrm>
          <a:prstGeom prst="rect">
            <a:avLst/>
          </a:prstGeom>
          <a:noFill/>
        </p:spPr>
        <p:txBody>
          <a:bodyPr wrap="square" rtlCol="0" anchor="t">
            <a:spAutoFit/>
          </a:bodyPr>
          <a:p>
            <a:pPr algn="l">
              <a:buClrTx/>
              <a:buSzTx/>
              <a:buFontTx/>
            </a:pPr>
            <a:r>
              <a:rPr lang="zh-CN" altLang="en-US" sz="2800">
                <a:solidFill>
                  <a:srgbClr val="C00000"/>
                </a:solidFill>
                <a:sym typeface="+mn-ea"/>
              </a:rPr>
              <a:t>01背景</a:t>
            </a:r>
            <a:endParaRPr lang="zh-CN" altLang="en-US" sz="2800">
              <a:solidFill>
                <a:srgbClr val="C00000"/>
              </a:solidFill>
              <a:sym typeface="+mn-ea"/>
            </a:endParaRPr>
          </a:p>
        </p:txBody>
      </p:sp>
      <p:sp>
        <p:nvSpPr>
          <p:cNvPr id="3" name="文本框 2"/>
          <p:cNvSpPr txBox="1"/>
          <p:nvPr/>
        </p:nvSpPr>
        <p:spPr>
          <a:xfrm>
            <a:off x="1577340" y="1671955"/>
            <a:ext cx="8102600" cy="3046095"/>
          </a:xfrm>
          <a:prstGeom prst="rect">
            <a:avLst/>
          </a:prstGeom>
          <a:noFill/>
        </p:spPr>
        <p:txBody>
          <a:bodyPr wrap="square" rtlCol="0" anchor="t">
            <a:spAutoFit/>
          </a:bodyPr>
          <a:p>
            <a:r>
              <a:rPr lang="en-US" altLang="zh-CN" sz="2800"/>
              <a:t>         </a:t>
            </a:r>
            <a:r>
              <a:rPr lang="zh-CN" altLang="en-US" sz="2800"/>
              <a:t>视觉-语言-动作模型在现实部署中面临多种模态的扰动，包括观察（如传感器噪声、相机误差）、动作（如执行器噪声）、环境（如外力、干扰物）和语言指令（如同义或模糊表达）的不确定性。现有研究主要聚焦于视觉扰动的鲁棒性，忽略了其他模态的脆弱性。</a:t>
            </a:r>
            <a:endParaRPr lang="zh-CN" altLang="en-US" sz="2800"/>
          </a:p>
          <a:p>
            <a:r>
              <a:rPr lang="en-US" altLang="zh-CN" sz="2400"/>
              <a:t>    </a:t>
            </a:r>
            <a:endParaRPr lang="en-US" altLang="zh-CN" sz="240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60000" y="180000"/>
            <a:ext cx="6096000" cy="521970"/>
          </a:xfrm>
          <a:prstGeom prst="rect">
            <a:avLst/>
          </a:prstGeom>
          <a:noFill/>
        </p:spPr>
        <p:txBody>
          <a:bodyPr wrap="square" rtlCol="0" anchor="t">
            <a:spAutoFit/>
          </a:bodyPr>
          <a:p>
            <a:pPr algn="l">
              <a:buClrTx/>
              <a:buSzTx/>
              <a:buFontTx/>
            </a:pPr>
            <a:r>
              <a:rPr lang="zh-CN" altLang="en-US" sz="2800">
                <a:solidFill>
                  <a:srgbClr val="C00000"/>
                </a:solidFill>
                <a:sym typeface="+mn-ea"/>
              </a:rPr>
              <a:t>0</a:t>
            </a:r>
            <a:r>
              <a:rPr lang="en-US" altLang="zh-CN" sz="2800">
                <a:solidFill>
                  <a:srgbClr val="C00000"/>
                </a:solidFill>
                <a:sym typeface="+mn-ea"/>
              </a:rPr>
              <a:t>2</a:t>
            </a:r>
            <a:r>
              <a:rPr lang="zh-CN" altLang="en-US" sz="2800">
                <a:solidFill>
                  <a:srgbClr val="C00000"/>
                </a:solidFill>
                <a:sym typeface="+mn-ea"/>
              </a:rPr>
              <a:t>论文</a:t>
            </a:r>
            <a:r>
              <a:rPr lang="zh-CN" altLang="en-US" sz="2800">
                <a:solidFill>
                  <a:srgbClr val="C00000"/>
                </a:solidFill>
                <a:sym typeface="+mn-ea"/>
              </a:rPr>
              <a:t>内容</a:t>
            </a:r>
            <a:endParaRPr lang="zh-CN" altLang="en-US" sz="2800">
              <a:solidFill>
                <a:srgbClr val="C00000"/>
              </a:solidFill>
              <a:sym typeface="+mn-ea"/>
            </a:endParaRPr>
          </a:p>
        </p:txBody>
      </p:sp>
      <p:pic>
        <p:nvPicPr>
          <p:cNvPr id="3" name="图片 2"/>
          <p:cNvPicPr>
            <a:picLocks noChangeAspect="1"/>
          </p:cNvPicPr>
          <p:nvPr/>
        </p:nvPicPr>
        <p:blipFill>
          <a:blip r:embed="rId1"/>
          <a:stretch>
            <a:fillRect/>
          </a:stretch>
        </p:blipFill>
        <p:spPr>
          <a:xfrm>
            <a:off x="601980" y="1343025"/>
            <a:ext cx="10631805" cy="3371215"/>
          </a:xfrm>
          <a:prstGeom prst="rect">
            <a:avLst/>
          </a:prstGeom>
        </p:spPr>
      </p:pic>
      <p:sp>
        <p:nvSpPr>
          <p:cNvPr id="6" name="文本框 5"/>
          <p:cNvSpPr txBox="1"/>
          <p:nvPr/>
        </p:nvSpPr>
        <p:spPr>
          <a:xfrm>
            <a:off x="222250" y="5149850"/>
            <a:ext cx="11379835" cy="368300"/>
          </a:xfrm>
          <a:prstGeom prst="rect">
            <a:avLst/>
          </a:prstGeom>
          <a:noFill/>
        </p:spPr>
        <p:txBody>
          <a:bodyPr wrap="square" rtlCol="0" anchor="t">
            <a:spAutoFit/>
          </a:bodyPr>
          <a:p>
            <a:r>
              <a:rPr lang="zh-CN" altLang="en-US"/>
              <a:t>本文评估了</a:t>
            </a:r>
            <a:r>
              <a:rPr lang="en-US" altLang="zh-CN"/>
              <a:t>VLAs</a:t>
            </a:r>
            <a:r>
              <a:rPr lang="zh-CN" altLang="en-US"/>
              <a:t>在不同多模态噪声环境下的鲁棒性，</a:t>
            </a:r>
            <a:r>
              <a:rPr lang="zh-CN" altLang="en-US"/>
              <a:t>并提出了</a:t>
            </a:r>
            <a:r>
              <a:rPr lang="en-US" altLang="zh-CN"/>
              <a:t>RobustVLA</a:t>
            </a:r>
            <a:r>
              <a:rPr lang="zh-CN" altLang="en-US"/>
              <a:t>方法以应对输入和输出噪声扰动</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6001385" y="208280"/>
            <a:ext cx="5942330" cy="2465070"/>
          </a:xfrm>
          <a:prstGeom prst="rect">
            <a:avLst/>
          </a:prstGeom>
        </p:spPr>
      </p:pic>
      <p:sp>
        <p:nvSpPr>
          <p:cNvPr id="5" name="文本框 4"/>
          <p:cNvSpPr txBox="1"/>
          <p:nvPr/>
        </p:nvSpPr>
        <p:spPr>
          <a:xfrm>
            <a:off x="115570" y="142875"/>
            <a:ext cx="6096000" cy="521970"/>
          </a:xfrm>
          <a:prstGeom prst="rect">
            <a:avLst/>
          </a:prstGeom>
          <a:noFill/>
        </p:spPr>
        <p:txBody>
          <a:bodyPr wrap="square" rtlCol="0" anchor="t">
            <a:spAutoFit/>
          </a:bodyPr>
          <a:p>
            <a:pPr marL="514350" indent="-514350" algn="l">
              <a:buClrTx/>
              <a:buSzTx/>
              <a:buFont typeface="+mj-ea"/>
              <a:buAutoNum type="circleNumDbPlain"/>
            </a:pPr>
            <a:r>
              <a:rPr lang="en-US" altLang="zh-CN" sz="2800">
                <a:solidFill>
                  <a:srgbClr val="C00000"/>
                </a:solidFill>
                <a:sym typeface="+mn-ea"/>
              </a:rPr>
              <a:t>vla</a:t>
            </a:r>
            <a:r>
              <a:rPr lang="zh-CN" altLang="en-US" sz="2800">
                <a:solidFill>
                  <a:srgbClr val="C00000"/>
                </a:solidFill>
                <a:sym typeface="+mn-ea"/>
              </a:rPr>
              <a:t>鲁棒性</a:t>
            </a:r>
            <a:r>
              <a:rPr lang="zh-CN" altLang="en-US" sz="2800">
                <a:solidFill>
                  <a:srgbClr val="C00000"/>
                </a:solidFill>
                <a:sym typeface="+mn-ea"/>
              </a:rPr>
              <a:t>评估</a:t>
            </a:r>
            <a:endParaRPr lang="zh-CN" altLang="en-US" sz="2800">
              <a:solidFill>
                <a:srgbClr val="C00000"/>
              </a:solidFill>
              <a:sym typeface="+mn-ea"/>
            </a:endParaRPr>
          </a:p>
        </p:txBody>
      </p:sp>
      <p:graphicFrame>
        <p:nvGraphicFramePr>
          <p:cNvPr id="7" name="表格 6"/>
          <p:cNvGraphicFramePr/>
          <p:nvPr>
            <p:custDataLst>
              <p:tags r:id="rId2"/>
            </p:custDataLst>
          </p:nvPr>
        </p:nvGraphicFramePr>
        <p:xfrm>
          <a:off x="466725" y="2981325"/>
          <a:ext cx="11257915" cy="3627120"/>
        </p:xfrm>
        <a:graphic>
          <a:graphicData uri="http://schemas.openxmlformats.org/drawingml/2006/table">
            <a:tbl>
              <a:tblPr firstRow="1">
                <a:tableStyleId>{156DF245-3F3B-46C4-AB30-D520246458FB}</a:tableStyleId>
              </a:tblPr>
              <a:tblGrid>
                <a:gridCol w="3371850"/>
                <a:gridCol w="948690"/>
                <a:gridCol w="5727700"/>
                <a:gridCol w="1209675"/>
              </a:tblGrid>
              <a:tr h="579120">
                <a:tc>
                  <a:txBody>
                    <a:bodyPr/>
                    <a:p>
                      <a:pPr>
                        <a:buNone/>
                      </a:pPr>
                      <a:r>
                        <a:rPr lang="zh-CN" altLang="en-US" sz="1600" b="0">
                          <a:solidFill>
                            <a:srgbClr val="0F1115"/>
                          </a:solidFill>
                          <a:latin typeface="宋体" panose="02010600030101010101" pitchFamily="2" charset="-122"/>
                          <a:ea typeface="宋体" panose="02010600030101010101" pitchFamily="2" charset="-122"/>
                          <a:sym typeface="+mn-ea"/>
                        </a:rPr>
                        <a:t>评估维度</a:t>
                      </a:r>
                      <a:endParaRPr lang="zh-CN" altLang="en-US" sz="1600" b="0">
                        <a:solidFill>
                          <a:srgbClr val="0F1115"/>
                        </a:solidFill>
                        <a:latin typeface="宋体" panose="02010600030101010101" pitchFamily="2" charset="-122"/>
                        <a:ea typeface="宋体" panose="02010600030101010101" pitchFamily="2" charset="-122"/>
                      </a:endParaRPr>
                    </a:p>
                  </a:txBody>
                  <a:tcPr/>
                </a:tc>
                <a:tc>
                  <a:txBody>
                    <a:bodyPr/>
                    <a:p>
                      <a:pPr>
                        <a:buNone/>
                      </a:pPr>
                      <a:r>
                        <a:rPr lang="zh-CN" altLang="en-US" sz="1600" b="0">
                          <a:latin typeface="宋体" panose="02010600030101010101" pitchFamily="2" charset="-122"/>
                          <a:ea typeface="宋体" panose="02010600030101010101" pitchFamily="2" charset="-122"/>
                        </a:rPr>
                        <a:t>种类数</a:t>
                      </a:r>
                      <a:endParaRPr lang="zh-CN" altLang="en-US" sz="1600" b="0">
                        <a:latin typeface="宋体" panose="02010600030101010101" pitchFamily="2" charset="-122"/>
                        <a:ea typeface="宋体" panose="02010600030101010101" pitchFamily="2" charset="-122"/>
                      </a:endParaRPr>
                    </a:p>
                  </a:txBody>
                  <a:tcPr/>
                </a:tc>
                <a:tc>
                  <a:txBody>
                    <a:bodyPr/>
                    <a:p>
                      <a:pPr>
                        <a:buNone/>
                      </a:pPr>
                      <a:r>
                        <a:rPr lang="zh-CN" altLang="en-US" sz="1600" b="0">
                          <a:latin typeface="宋体" panose="02010600030101010101" pitchFamily="2" charset="-122"/>
                          <a:ea typeface="宋体" panose="02010600030101010101" pitchFamily="2" charset="-122"/>
                          <a:cs typeface="宋体" panose="02010600030101010101" pitchFamily="2" charset="-122"/>
                        </a:rPr>
                        <a:t>具体类型</a:t>
                      </a:r>
                      <a:r>
                        <a:rPr lang="zh-CN" altLang="en-US" sz="1600" b="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（共</a:t>
                      </a:r>
                      <a:r>
                        <a:rPr lang="en-US" altLang="zh-CN" sz="1600" b="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17</a:t>
                      </a:r>
                      <a:r>
                        <a:rPr lang="zh-CN" altLang="en-US" sz="1600" b="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种）</a:t>
                      </a:r>
                      <a:endParaRPr lang="zh-CN" altLang="en-US" sz="1600" b="0"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a:buNone/>
                      </a:pP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a:tc>
                <a:tc>
                  <a:txBody>
                    <a:bodyPr/>
                    <a:p>
                      <a:pPr>
                        <a:buNone/>
                      </a:pPr>
                      <a:r>
                        <a:rPr lang="zh-CN" altLang="en-US" sz="1600" b="0">
                          <a:latin typeface="宋体" panose="02010600030101010101" pitchFamily="2" charset="-122"/>
                          <a:ea typeface="宋体" panose="02010600030101010101" pitchFamily="2" charset="-122"/>
                        </a:rPr>
                        <a:t>影响对象</a:t>
                      </a:r>
                      <a:endParaRPr lang="zh-CN" altLang="en-US" sz="1600" b="0">
                        <a:latin typeface="宋体" panose="02010600030101010101" pitchFamily="2" charset="-122"/>
                        <a:ea typeface="宋体" panose="02010600030101010101" pitchFamily="2" charset="-122"/>
                      </a:endParaRPr>
                    </a:p>
                  </a:txBody>
                  <a:tcPr/>
                </a:tc>
              </a:tr>
              <a:tr h="817245">
                <a:tc>
                  <a:txBody>
                    <a:bodyPr/>
                    <a:p>
                      <a:pPr>
                        <a:buNone/>
                      </a:pP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动作不确定性</a:t>
                      </a:r>
                      <a:endPar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endParaRPr>
                    </a:p>
                    <a:p>
                      <a:pPr>
                        <a:buNone/>
                      </a:pP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（传感器运动噪声、</a:t>
                      </a:r>
                      <a:r>
                        <a:rPr lang="en-US" altLang="zh-CN"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VLA</a:t>
                      </a: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输出突发干扰）</a:t>
                      </a:r>
                      <a:endParaRPr lang="zh-CN" altLang="en-US" sz="1600" b="0"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a:buNone/>
                      </a:pPr>
                      <a:endPar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endParaRPr>
                    </a:p>
                  </a:txBody>
                  <a:tcPr/>
                </a:tc>
                <a:tc>
                  <a:txBody>
                    <a:bodyPr/>
                    <a:p>
                      <a:pPr>
                        <a:buNone/>
                      </a:pPr>
                      <a:r>
                        <a:rPr lang="en-US" altLang="zh-CN" sz="1600">
                          <a:latin typeface="宋体" panose="02010600030101010101" pitchFamily="2" charset="-122"/>
                          <a:ea typeface="宋体" panose="02010600030101010101" pitchFamily="2" charset="-122"/>
                          <a:cs typeface="宋体" panose="02010600030101010101" pitchFamily="2" charset="-122"/>
                        </a:rPr>
                        <a:t>5</a:t>
                      </a:r>
                      <a:r>
                        <a:rPr lang="zh-CN" altLang="en-US" sz="1600">
                          <a:latin typeface="宋体" panose="02010600030101010101" pitchFamily="2" charset="-122"/>
                          <a:ea typeface="宋体" panose="02010600030101010101" pitchFamily="2" charset="-122"/>
                          <a:cs typeface="宋体" panose="02010600030101010101" pitchFamily="2" charset="-122"/>
                        </a:rPr>
                        <a:t>种</a:t>
                      </a:r>
                      <a:endParaRPr lang="zh-CN" altLang="en-US" sz="1600">
                        <a:latin typeface="宋体" panose="02010600030101010101" pitchFamily="2" charset="-122"/>
                        <a:ea typeface="宋体" panose="02010600030101010101" pitchFamily="2" charset="-122"/>
                        <a:cs typeface="宋体" panose="02010600030101010101" pitchFamily="2" charset="-122"/>
                      </a:endParaRPr>
                    </a:p>
                  </a:txBody>
                  <a:tcPr/>
                </a:tc>
                <a:tc>
                  <a:txBody>
                    <a:bodyPr/>
                    <a:p>
                      <a:pPr>
                        <a:buNone/>
                      </a:pPr>
                      <a:r>
                        <a:rPr lang="zh-CN" altLang="en-US" sz="1600">
                          <a:solidFill>
                            <a:srgbClr val="0F1115"/>
                          </a:solidFill>
                          <a:latin typeface="宋体" panose="02010600030101010101" pitchFamily="2" charset="-122"/>
                          <a:ea typeface="宋体" panose="02010600030101010101" pitchFamily="2" charset="-122"/>
                          <a:sym typeface="+mn-ea"/>
                        </a:rPr>
                        <a:t>均匀噪声、高斯噪声、动作偏置、随机翻转、突然尖峰</a:t>
                      </a:r>
                      <a:endParaRPr lang="zh-CN" altLang="en-US" sz="1600" b="0" i="0">
                        <a:solidFill>
                          <a:srgbClr val="0F1115"/>
                        </a:solidFill>
                        <a:latin typeface="宋体" panose="02010600030101010101" pitchFamily="2" charset="-122"/>
                        <a:ea typeface="宋体" panose="02010600030101010101" pitchFamily="2" charset="-122"/>
                      </a:endParaRPr>
                    </a:p>
                    <a:p>
                      <a:pPr>
                        <a:buNone/>
                      </a:pPr>
                      <a:endParaRPr lang="zh-CN" altLang="en-US" sz="1600">
                        <a:solidFill>
                          <a:srgbClr val="0F1115"/>
                        </a:solidFill>
                        <a:latin typeface="宋体" panose="02010600030101010101" pitchFamily="2" charset="-122"/>
                        <a:ea typeface="宋体" panose="02010600030101010101" pitchFamily="2" charset="-122"/>
                      </a:endParaRPr>
                    </a:p>
                  </a:txBody>
                  <a:tcPr/>
                </a:tc>
                <a:tc>
                  <a:txBody>
                    <a:bodyPr/>
                    <a:p>
                      <a:pPr>
                        <a:buNone/>
                      </a:pPr>
                      <a:r>
                        <a:rPr lang="en-US" altLang="zh-CN" sz="1600">
                          <a:latin typeface="宋体" panose="02010600030101010101" pitchFamily="2" charset="-122"/>
                          <a:ea typeface="宋体" panose="02010600030101010101" pitchFamily="2" charset="-122"/>
                          <a:cs typeface="宋体" panose="02010600030101010101" pitchFamily="2" charset="-122"/>
                        </a:rPr>
                        <a:t>VLA</a:t>
                      </a:r>
                      <a:r>
                        <a:rPr lang="zh-CN" altLang="en-US" sz="1600">
                          <a:latin typeface="宋体" panose="02010600030101010101" pitchFamily="2" charset="-122"/>
                          <a:ea typeface="宋体" panose="02010600030101010101" pitchFamily="2" charset="-122"/>
                          <a:cs typeface="宋体" panose="02010600030101010101" pitchFamily="2" charset="-122"/>
                        </a:rPr>
                        <a:t>输出</a:t>
                      </a:r>
                      <a:endParaRPr lang="zh-CN" altLang="en-US" sz="1600">
                        <a:latin typeface="宋体" panose="02010600030101010101" pitchFamily="2" charset="-122"/>
                        <a:ea typeface="宋体" panose="02010600030101010101" pitchFamily="2" charset="-122"/>
                        <a:cs typeface="宋体" panose="02010600030101010101" pitchFamily="2" charset="-122"/>
                      </a:endParaRPr>
                    </a:p>
                  </a:txBody>
                  <a:tcPr/>
                </a:tc>
              </a:tr>
              <a:tr h="381000">
                <a:tc>
                  <a:txBody>
                    <a:bodyPr/>
                    <a:p>
                      <a:pPr>
                        <a:buNone/>
                      </a:pPr>
                      <a:r>
                        <a:rPr lang="zh-CN" altLang="en-US" sz="1600">
                          <a:solidFill>
                            <a:srgbClr val="0F1115"/>
                          </a:solidFill>
                          <a:latin typeface="宋体" panose="02010600030101010101" pitchFamily="2" charset="-122"/>
                          <a:ea typeface="宋体" panose="02010600030101010101" pitchFamily="2" charset="-122"/>
                          <a:sym typeface="+mn-ea"/>
                        </a:rPr>
                        <a:t>观测不确定性</a:t>
                      </a:r>
                      <a:endParaRPr lang="zh-CN" altLang="en-US" sz="1600">
                        <a:solidFill>
                          <a:srgbClr val="0F1115"/>
                        </a:solidFill>
                        <a:latin typeface="宋体" panose="02010600030101010101" pitchFamily="2" charset="-122"/>
                        <a:ea typeface="宋体" panose="02010600030101010101" pitchFamily="2" charset="-122"/>
                        <a:sym typeface="+mn-ea"/>
                      </a:endParaRPr>
                    </a:p>
                    <a:p>
                      <a:pPr>
                        <a:buNone/>
                      </a:pPr>
                      <a:r>
                        <a:rPr lang="zh-CN" altLang="en-US" sz="1600">
                          <a:solidFill>
                            <a:srgbClr val="0F1115"/>
                          </a:solidFill>
                          <a:latin typeface="宋体" panose="02010600030101010101" pitchFamily="2" charset="-122"/>
                          <a:ea typeface="宋体" panose="02010600030101010101" pitchFamily="2" charset="-122"/>
                          <a:sym typeface="+mn-ea"/>
                        </a:rPr>
                        <a:t>（传感器噪声、相机误差）</a:t>
                      </a:r>
                      <a:endParaRPr lang="zh-CN" altLang="en-US" sz="1600" b="0" i="0">
                        <a:solidFill>
                          <a:srgbClr val="0F1115"/>
                        </a:solidFill>
                        <a:latin typeface="宋体" panose="02010600030101010101" pitchFamily="2" charset="-122"/>
                        <a:ea typeface="宋体" panose="02010600030101010101" pitchFamily="2" charset="-122"/>
                      </a:endParaRPr>
                    </a:p>
                    <a:p>
                      <a:pPr>
                        <a:buNone/>
                      </a:pPr>
                      <a:endParaRPr lang="zh-CN" altLang="en-US" sz="1600">
                        <a:solidFill>
                          <a:srgbClr val="0F1115"/>
                        </a:solidFill>
                        <a:latin typeface="宋体" panose="02010600030101010101" pitchFamily="2" charset="-122"/>
                        <a:ea typeface="宋体" panose="02010600030101010101" pitchFamily="2" charset="-122"/>
                      </a:endParaRPr>
                    </a:p>
                  </a:txBody>
                  <a:tcPr/>
                </a:tc>
                <a:tc>
                  <a:txBody>
                    <a:bodyPr/>
                    <a:p>
                      <a:pPr>
                        <a:buNone/>
                      </a:pPr>
                      <a:r>
                        <a:rPr lang="en-US" altLang="zh-CN"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6</a:t>
                      </a: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种</a:t>
                      </a:r>
                      <a:endParaRPr lang="zh-CN" altLang="en-US" sz="1600" b="0"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a:buNone/>
                      </a:pPr>
                      <a:endPar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endParaRPr>
                    </a:p>
                  </a:txBody>
                  <a:tcPr/>
                </a:tc>
                <a:tc>
                  <a:txBody>
                    <a:bodyPr/>
                    <a:p>
                      <a:pPr>
                        <a:buNone/>
                      </a:pPr>
                      <a:r>
                        <a:rPr lang="zh-CN" altLang="en-US" sz="1600">
                          <a:solidFill>
                            <a:srgbClr val="0F1115"/>
                          </a:solidFill>
                          <a:latin typeface="宋体" panose="02010600030101010101" pitchFamily="2" charset="-122"/>
                          <a:ea typeface="宋体" panose="02010600030101010101" pitchFamily="2" charset="-122"/>
                          <a:sym typeface="+mn-ea"/>
                        </a:rPr>
                        <a:t>高斯噪声、坏点、运动模糊、颜色抖动、图像旋转、图像平移</a:t>
                      </a:r>
                      <a:endParaRPr lang="zh-CN" altLang="en-US" sz="1600" b="0" i="0">
                        <a:solidFill>
                          <a:srgbClr val="0F1115"/>
                        </a:solidFill>
                        <a:latin typeface="宋体" panose="02010600030101010101" pitchFamily="2" charset="-122"/>
                        <a:ea typeface="宋体" panose="02010600030101010101" pitchFamily="2" charset="-122"/>
                      </a:endParaRPr>
                    </a:p>
                    <a:p>
                      <a:pPr>
                        <a:buNone/>
                      </a:pPr>
                      <a:endParaRPr lang="zh-CN" altLang="en-US" sz="1600">
                        <a:solidFill>
                          <a:srgbClr val="0F1115"/>
                        </a:solidFill>
                        <a:latin typeface="宋体" panose="02010600030101010101" pitchFamily="2" charset="-122"/>
                        <a:ea typeface="宋体" panose="02010600030101010101" pitchFamily="2" charset="-122"/>
                      </a:endParaRPr>
                    </a:p>
                  </a:txBody>
                  <a:tcPr/>
                </a:tc>
                <a:tc>
                  <a:txBody>
                    <a:bodyPr/>
                    <a:p>
                      <a:pPr>
                        <a:buNone/>
                      </a:pPr>
                      <a:r>
                        <a:rPr lang="en-US" altLang="zh-CN" sz="1600">
                          <a:latin typeface="宋体" panose="02010600030101010101" pitchFamily="2" charset="-122"/>
                          <a:ea typeface="宋体" panose="02010600030101010101" pitchFamily="2" charset="-122"/>
                          <a:cs typeface="宋体" panose="02010600030101010101" pitchFamily="2" charset="-122"/>
                        </a:rPr>
                        <a:t>VLA</a:t>
                      </a:r>
                      <a:r>
                        <a:rPr lang="zh-CN" altLang="en-US" sz="1600">
                          <a:latin typeface="宋体" panose="02010600030101010101" pitchFamily="2" charset="-122"/>
                          <a:ea typeface="宋体" panose="02010600030101010101" pitchFamily="2" charset="-122"/>
                          <a:cs typeface="宋体" panose="02010600030101010101" pitchFamily="2" charset="-122"/>
                        </a:rPr>
                        <a:t>输入</a:t>
                      </a:r>
                      <a:endParaRPr lang="zh-CN" altLang="en-US" sz="1600">
                        <a:latin typeface="宋体" panose="02010600030101010101" pitchFamily="2" charset="-122"/>
                        <a:ea typeface="宋体" panose="02010600030101010101" pitchFamily="2" charset="-122"/>
                        <a:cs typeface="宋体" panose="02010600030101010101" pitchFamily="2" charset="-122"/>
                      </a:endParaRPr>
                    </a:p>
                  </a:txBody>
                  <a:tcPr/>
                </a:tc>
              </a:tr>
              <a:tr h="381000">
                <a:tc>
                  <a:txBody>
                    <a:bodyPr/>
                    <a:p>
                      <a:pPr>
                        <a:buNone/>
                      </a:pPr>
                      <a:r>
                        <a:rPr lang="zh-CN" altLang="en-US" sz="1600">
                          <a:solidFill>
                            <a:srgbClr val="0F1115"/>
                          </a:solidFill>
                          <a:latin typeface="宋体" panose="02010600030101010101" pitchFamily="2" charset="-122"/>
                          <a:ea typeface="宋体" panose="02010600030101010101" pitchFamily="2" charset="-122"/>
                          <a:sym typeface="+mn-ea"/>
                        </a:rPr>
                        <a:t>环境不确定性</a:t>
                      </a:r>
                      <a:endParaRPr lang="zh-CN" altLang="en-US" sz="1600">
                        <a:solidFill>
                          <a:srgbClr val="0F1115"/>
                        </a:solidFill>
                        <a:latin typeface="宋体" panose="02010600030101010101" pitchFamily="2" charset="-122"/>
                        <a:ea typeface="宋体" panose="02010600030101010101" pitchFamily="2" charset="-122"/>
                        <a:sym typeface="+mn-ea"/>
                      </a:endParaRPr>
                    </a:p>
                  </a:txBody>
                  <a:tcPr/>
                </a:tc>
                <a:tc>
                  <a:txBody>
                    <a:bodyPr/>
                    <a:p>
                      <a:pPr>
                        <a:buNone/>
                      </a:pPr>
                      <a:r>
                        <a:rPr lang="en-US" altLang="zh-CN"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3</a:t>
                      </a: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种</a:t>
                      </a:r>
                      <a:endParaRPr lang="zh-CN" altLang="en-US" sz="1600" b="0"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a:buNone/>
                      </a:pPr>
                      <a:endPar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endParaRPr>
                    </a:p>
                  </a:txBody>
                  <a:tcPr/>
                </a:tc>
                <a:tc>
                  <a:txBody>
                    <a:bodyPr/>
                    <a:p>
                      <a:pPr>
                        <a:buNone/>
                      </a:pPr>
                      <a:r>
                        <a:rPr lang="zh-CN" altLang="en-US" sz="1600">
                          <a:solidFill>
                            <a:srgbClr val="0F1115"/>
                          </a:solidFill>
                          <a:latin typeface="宋体" panose="02010600030101010101" pitchFamily="2" charset="-122"/>
                          <a:ea typeface="宋体" panose="02010600030101010101" pitchFamily="2" charset="-122"/>
                          <a:sym typeface="+mn-ea"/>
                        </a:rPr>
                        <a:t>外部作用力、无关物体、光照变化</a:t>
                      </a:r>
                      <a:endParaRPr lang="zh-CN" altLang="en-US" sz="1600" b="0" i="0">
                        <a:solidFill>
                          <a:srgbClr val="0F1115"/>
                        </a:solidFill>
                        <a:latin typeface="宋体" panose="02010600030101010101" pitchFamily="2" charset="-122"/>
                        <a:ea typeface="宋体" panose="02010600030101010101" pitchFamily="2" charset="-122"/>
                      </a:endParaRPr>
                    </a:p>
                    <a:p>
                      <a:pPr>
                        <a:buNone/>
                      </a:pPr>
                      <a:endParaRPr lang="zh-CN" altLang="en-US" sz="1600">
                        <a:solidFill>
                          <a:srgbClr val="0F1115"/>
                        </a:solidFill>
                        <a:latin typeface="宋体" panose="02010600030101010101" pitchFamily="2" charset="-122"/>
                        <a:ea typeface="宋体" panose="02010600030101010101" pitchFamily="2" charset="-122"/>
                      </a:endParaRPr>
                    </a:p>
                  </a:txBody>
                  <a:tcPr/>
                </a:tc>
                <a:tc>
                  <a:txBody>
                    <a:bodyPr/>
                    <a:p>
                      <a:pPr>
                        <a:buNone/>
                      </a:pPr>
                      <a:r>
                        <a:rPr lang="en-US" altLang="zh-CN"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VLA</a:t>
                      </a: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输出 </a:t>
                      </a:r>
                      <a:r>
                        <a:rPr lang="en-US" altLang="zh-CN"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 VLA</a:t>
                      </a: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输入</a:t>
                      </a:r>
                      <a:endPar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endParaRPr>
                    </a:p>
                  </a:txBody>
                  <a:tcPr/>
                </a:tc>
              </a:tr>
              <a:tr h="426720">
                <a:tc>
                  <a:txBody>
                    <a:bodyPr/>
                    <a:p>
                      <a:pPr>
                        <a:buNone/>
                      </a:pPr>
                      <a:r>
                        <a:rPr lang="zh-CN" altLang="en-US" sz="1600">
                          <a:solidFill>
                            <a:srgbClr val="0F1115"/>
                          </a:solidFill>
                          <a:latin typeface="宋体" panose="02010600030101010101" pitchFamily="2" charset="-122"/>
                          <a:ea typeface="宋体" panose="02010600030101010101" pitchFamily="2" charset="-122"/>
                          <a:sym typeface="+mn-ea"/>
                        </a:rPr>
                        <a:t>指令不确定性</a:t>
                      </a:r>
                      <a:endParaRPr lang="zh-CN" altLang="en-US" sz="1600">
                        <a:solidFill>
                          <a:srgbClr val="0F1115"/>
                        </a:solidFill>
                        <a:latin typeface="宋体" panose="02010600030101010101" pitchFamily="2" charset="-122"/>
                        <a:ea typeface="宋体" panose="02010600030101010101" pitchFamily="2" charset="-122"/>
                        <a:sym typeface="+mn-ea"/>
                      </a:endParaRPr>
                    </a:p>
                  </a:txBody>
                  <a:tcPr/>
                </a:tc>
                <a:tc>
                  <a:txBody>
                    <a:bodyPr/>
                    <a:p>
                      <a:pPr>
                        <a:buNone/>
                      </a:pPr>
                      <a:r>
                        <a:rPr lang="en-US" altLang="zh-CN"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3</a:t>
                      </a: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种</a:t>
                      </a:r>
                      <a:endParaRPr lang="zh-CN" altLang="en-US" sz="1600" b="0"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a:buNone/>
                      </a:pPr>
                      <a:endPar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endParaRPr>
                    </a:p>
                  </a:txBody>
                  <a:tcPr/>
                </a:tc>
                <a:tc>
                  <a:txBody>
                    <a:bodyPr/>
                    <a:p>
                      <a:pPr>
                        <a:buNone/>
                      </a:pPr>
                      <a:r>
                        <a:rPr lang="zh-CN" altLang="en-US" sz="1600">
                          <a:solidFill>
                            <a:srgbClr val="0F1115"/>
                          </a:solidFill>
                          <a:latin typeface="宋体" panose="02010600030101010101" pitchFamily="2" charset="-122"/>
                          <a:ea typeface="宋体" panose="02010600030101010101" pitchFamily="2" charset="-122"/>
                          <a:sym typeface="+mn-ea"/>
                        </a:rPr>
                        <a:t>词汇级变换、句法级变换、对抗性提示（含歧义与干扰）</a:t>
                      </a:r>
                      <a:endParaRPr lang="zh-CN" altLang="en-US" sz="1600">
                        <a:solidFill>
                          <a:srgbClr val="0F1115"/>
                        </a:solidFill>
                        <a:latin typeface="宋体" panose="02010600030101010101" pitchFamily="2" charset="-122"/>
                        <a:ea typeface="宋体" panose="02010600030101010101" pitchFamily="2" charset="-122"/>
                        <a:sym typeface="+mn-ea"/>
                      </a:endParaRPr>
                    </a:p>
                  </a:txBody>
                  <a:tcPr/>
                </a:tc>
                <a:tc>
                  <a:txBody>
                    <a:bodyPr/>
                    <a:p>
                      <a:pPr>
                        <a:buNone/>
                      </a:pPr>
                      <a:r>
                        <a:rPr lang="en-US" altLang="zh-CN"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VLA</a:t>
                      </a: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输入</a:t>
                      </a:r>
                      <a:endParaRPr lang="zh-CN" altLang="en-US" sz="1600" b="0"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a:buNone/>
                      </a:pPr>
                      <a:endPar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endParaRPr>
                    </a:p>
                  </a:txBody>
                  <a:tcPr/>
                </a:tc>
              </a:tr>
            </a:tbl>
          </a:graphicData>
        </a:graphic>
      </p:graphicFrame>
      <p:sp>
        <p:nvSpPr>
          <p:cNvPr id="8" name="文本框 7"/>
          <p:cNvSpPr txBox="1"/>
          <p:nvPr/>
        </p:nvSpPr>
        <p:spPr>
          <a:xfrm>
            <a:off x="466725" y="1496695"/>
            <a:ext cx="6096000" cy="434340"/>
          </a:xfrm>
          <a:prstGeom prst="rect">
            <a:avLst/>
          </a:prstGeom>
          <a:noFill/>
        </p:spPr>
        <p:txBody>
          <a:bodyPr wrap="square" rtlCol="0" anchor="t">
            <a:noAutofit/>
          </a:bodyPr>
          <a:p>
            <a:pPr marL="0" indent="0">
              <a:spcBef>
                <a:spcPct val="0"/>
              </a:spcBef>
              <a:spcAft>
                <a:spcPct val="0"/>
              </a:spcAft>
              <a:buFont typeface="Arial" panose="020B0604020202020204"/>
              <a:buNone/>
            </a:pP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评估方式：将上述 </a:t>
            </a:r>
            <a:r>
              <a:rPr lang="en-US" altLang="zh-CN"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17 </a:t>
            </a:r>
            <a:r>
              <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种不确定性分别应用于被评估算法</a:t>
            </a:r>
            <a:endParaRPr lang="zh-CN" altLang="en-US" sz="1600">
              <a:solidFill>
                <a:srgbClr val="0F1115"/>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9" name="图片 8"/>
          <p:cNvPicPr>
            <a:picLocks noChangeAspect="1"/>
          </p:cNvPicPr>
          <p:nvPr/>
        </p:nvPicPr>
        <p:blipFill>
          <a:blip r:embed="rId3"/>
          <a:stretch>
            <a:fillRect/>
          </a:stretch>
        </p:blipFill>
        <p:spPr>
          <a:xfrm>
            <a:off x="466725" y="1931670"/>
            <a:ext cx="5027295" cy="6743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66395" y="187325"/>
            <a:ext cx="3405505" cy="521970"/>
          </a:xfrm>
          <a:prstGeom prst="rect">
            <a:avLst/>
          </a:prstGeom>
          <a:noFill/>
        </p:spPr>
        <p:txBody>
          <a:bodyPr wrap="square" rtlCol="0">
            <a:spAutoFit/>
          </a:bodyPr>
          <a:p>
            <a:pPr indent="0" algn="l">
              <a:buClrTx/>
              <a:buSzTx/>
              <a:buFont typeface="+mj-ea"/>
              <a:buNone/>
            </a:pPr>
            <a:r>
              <a:rPr lang="en-US" altLang="zh-CN" sz="2800">
                <a:solidFill>
                  <a:srgbClr val="C00000"/>
                </a:solidFill>
              </a:rPr>
              <a:t>主要</a:t>
            </a:r>
            <a:r>
              <a:rPr lang="zh-CN" altLang="en-US" sz="2800">
                <a:solidFill>
                  <a:srgbClr val="C00000"/>
                </a:solidFill>
              </a:rPr>
              <a:t>评估</a:t>
            </a:r>
            <a:r>
              <a:rPr lang="en-US" altLang="zh-CN" sz="2800">
                <a:solidFill>
                  <a:srgbClr val="C00000"/>
                </a:solidFill>
              </a:rPr>
              <a:t>结论</a:t>
            </a:r>
            <a:endParaRPr lang="en-US" altLang="zh-CN" sz="2800">
              <a:solidFill>
                <a:srgbClr val="C00000"/>
              </a:solidFill>
            </a:endParaRPr>
          </a:p>
        </p:txBody>
      </p:sp>
      <p:sp>
        <p:nvSpPr>
          <p:cNvPr id="3" name="文本框 2"/>
          <p:cNvSpPr txBox="1"/>
          <p:nvPr/>
        </p:nvSpPr>
        <p:spPr>
          <a:xfrm>
            <a:off x="5187315" y="2638425"/>
            <a:ext cx="7724140" cy="1967865"/>
          </a:xfrm>
          <a:prstGeom prst="rect">
            <a:avLst/>
          </a:prstGeom>
        </p:spPr>
        <p:txBody>
          <a:bodyPr wrap="square">
            <a:noAutofit/>
          </a:bodyPr>
          <a:p>
            <a:pPr indent="0">
              <a:spcBef>
                <a:spcPts val="1900"/>
              </a:spcBef>
              <a:spcAft>
                <a:spcPts val="900"/>
              </a:spcAft>
              <a:buFont typeface="Wingdings" panose="05000000000000000000" charset="0"/>
              <a:buNone/>
            </a:pPr>
            <a:r>
              <a:rPr lang="en-US" altLang="zh-CN" sz="2400" b="1" i="0">
                <a:solidFill>
                  <a:srgbClr val="0F1115"/>
                </a:solidFill>
                <a:latin typeface="宋体" panose="02010600030101010101" pitchFamily="2" charset="-122"/>
                <a:ea typeface="宋体" panose="02010600030101010101" pitchFamily="2" charset="-122"/>
                <a:cs typeface="宋体" panose="02010600030101010101" pitchFamily="2" charset="-122"/>
              </a:rPr>
              <a:t>1.</a:t>
            </a:r>
            <a:r>
              <a:rPr lang="zh-CN" altLang="en-US" sz="2400" b="1" i="0">
                <a:solidFill>
                  <a:srgbClr val="0F1115"/>
                </a:solidFill>
                <a:latin typeface="宋体" panose="02010600030101010101" pitchFamily="2" charset="-122"/>
                <a:ea typeface="宋体" panose="02010600030101010101" pitchFamily="2" charset="-122"/>
                <a:cs typeface="宋体" panose="02010600030101010101" pitchFamily="2" charset="-122"/>
              </a:rPr>
              <a:t>动作是最脆弱的模态</a:t>
            </a:r>
            <a:endParaRPr lang="zh-CN" altLang="en-US" sz="2400" b="1"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marL="0" indent="0">
              <a:spcBef>
                <a:spcPts val="1900"/>
              </a:spcBef>
              <a:spcAft>
                <a:spcPts val="900"/>
              </a:spcAft>
            </a:pPr>
            <a:r>
              <a:rPr lang="en-US" altLang="zh-CN" sz="2400" b="1">
                <a:latin typeface="宋体" panose="02010600030101010101" pitchFamily="2" charset="-122"/>
                <a:ea typeface="宋体" panose="02010600030101010101" pitchFamily="2" charset="-122"/>
                <a:cs typeface="宋体" panose="02010600030101010101" pitchFamily="2" charset="-122"/>
                <a:sym typeface="+mn-ea"/>
              </a:rPr>
              <a:t>2.</a:t>
            </a:r>
            <a:r>
              <a:rPr lang="zh-CN" altLang="en-US" sz="2400" b="1">
                <a:latin typeface="宋体" panose="02010600030101010101" pitchFamily="2" charset="-122"/>
                <a:ea typeface="宋体" panose="02010600030101010101" pitchFamily="2" charset="-122"/>
                <a:cs typeface="宋体" panose="02010600030101010101" pitchFamily="2" charset="-122"/>
                <a:sym typeface="+mn-ea"/>
              </a:rPr>
              <a:t>鲁棒性</a:t>
            </a:r>
            <a:r>
              <a:rPr lang="en-US" altLang="zh-CN" sz="2400" b="1">
                <a:latin typeface="宋体" panose="02010600030101010101" pitchFamily="2" charset="-122"/>
                <a:ea typeface="宋体" panose="02010600030101010101" pitchFamily="2" charset="-122"/>
                <a:cs typeface="宋体" panose="02010600030101010101" pitchFamily="2" charset="-122"/>
                <a:sym typeface="+mn-ea"/>
              </a:rPr>
              <a:t>VLA</a:t>
            </a:r>
            <a:r>
              <a:rPr lang="zh-CN" altLang="en-US" sz="2400" b="1">
                <a:latin typeface="宋体" panose="02010600030101010101" pitchFamily="2" charset="-122"/>
                <a:ea typeface="宋体" panose="02010600030101010101" pitchFamily="2" charset="-122"/>
                <a:cs typeface="宋体" panose="02010600030101010101" pitchFamily="2" charset="-122"/>
                <a:sym typeface="+mn-ea"/>
              </a:rPr>
              <a:t>大部分只针对视觉鲁棒</a:t>
            </a:r>
            <a:endParaRPr lang="zh-CN" altLang="en-US" sz="2400" b="1">
              <a:latin typeface="宋体" panose="02010600030101010101" pitchFamily="2" charset="-122"/>
              <a:ea typeface="宋体" panose="02010600030101010101" pitchFamily="2" charset="-122"/>
              <a:cs typeface="宋体" panose="02010600030101010101" pitchFamily="2" charset="-122"/>
            </a:endParaRPr>
          </a:p>
          <a:p>
            <a:pPr marL="0" indent="0">
              <a:spcBef>
                <a:spcPts val="1900"/>
              </a:spcBef>
              <a:spcAft>
                <a:spcPts val="900"/>
              </a:spcAft>
            </a:pPr>
            <a:r>
              <a:rPr lang="en-US" altLang="zh-CN" sz="2400" b="1">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3.π₀</a:t>
            </a:r>
            <a:r>
              <a:rPr lang="zh-CN" altLang="en-US" sz="2400" b="1">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的鲁棒性显著优于</a:t>
            </a:r>
            <a:r>
              <a:rPr lang="en-US" altLang="zh-CN" sz="2400" b="1">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OpenVLA</a:t>
            </a:r>
            <a:endParaRPr lang="en-US" altLang="zh-CN" sz="2400" b="1"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marL="0" indent="0">
              <a:spcBef>
                <a:spcPts val="1900"/>
              </a:spcBef>
              <a:spcAft>
                <a:spcPts val="900"/>
              </a:spcAft>
            </a:pPr>
            <a:endParaRPr lang="zh-CN" altLang="en-US" sz="2400" b="1" i="0">
              <a:solidFill>
                <a:srgbClr val="0F1115"/>
              </a:solidFill>
              <a:latin typeface="宋体" panose="02010600030101010101" pitchFamily="2" charset="-122"/>
              <a:ea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1"/>
          <a:stretch>
            <a:fillRect/>
          </a:stretch>
        </p:blipFill>
        <p:spPr>
          <a:xfrm>
            <a:off x="685800" y="1908175"/>
            <a:ext cx="3876040" cy="31299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48385" y="1862455"/>
            <a:ext cx="5935980" cy="450215"/>
          </a:xfrm>
          <a:prstGeom prst="rect">
            <a:avLst/>
          </a:prstGeom>
        </p:spPr>
      </p:pic>
      <p:pic>
        <p:nvPicPr>
          <p:cNvPr id="3" name="图片 2"/>
          <p:cNvPicPr>
            <a:picLocks noChangeAspect="1"/>
          </p:cNvPicPr>
          <p:nvPr/>
        </p:nvPicPr>
        <p:blipFill>
          <a:blip r:embed="rId2"/>
          <a:stretch>
            <a:fillRect/>
          </a:stretch>
        </p:blipFill>
        <p:spPr>
          <a:xfrm>
            <a:off x="981710" y="2858770"/>
            <a:ext cx="6908800" cy="1139825"/>
          </a:xfrm>
          <a:prstGeom prst="rect">
            <a:avLst/>
          </a:prstGeom>
        </p:spPr>
      </p:pic>
      <p:pic>
        <p:nvPicPr>
          <p:cNvPr id="4" name="图片 3"/>
          <p:cNvPicPr>
            <a:picLocks noChangeAspect="1"/>
          </p:cNvPicPr>
          <p:nvPr/>
        </p:nvPicPr>
        <p:blipFill>
          <a:blip r:embed="rId3"/>
          <a:stretch>
            <a:fillRect/>
          </a:stretch>
        </p:blipFill>
        <p:spPr>
          <a:xfrm>
            <a:off x="8284845" y="1275080"/>
            <a:ext cx="2864485" cy="2606040"/>
          </a:xfrm>
          <a:prstGeom prst="rect">
            <a:avLst/>
          </a:prstGeom>
        </p:spPr>
      </p:pic>
      <p:pic>
        <p:nvPicPr>
          <p:cNvPr id="6" name="图片 5"/>
          <p:cNvPicPr>
            <a:picLocks noChangeAspect="1"/>
          </p:cNvPicPr>
          <p:nvPr/>
        </p:nvPicPr>
        <p:blipFill>
          <a:blip r:embed="rId4"/>
          <a:stretch>
            <a:fillRect/>
          </a:stretch>
        </p:blipFill>
        <p:spPr>
          <a:xfrm>
            <a:off x="981710" y="4232910"/>
            <a:ext cx="8724265" cy="629920"/>
          </a:xfrm>
          <a:prstGeom prst="rect">
            <a:avLst/>
          </a:prstGeom>
        </p:spPr>
      </p:pic>
      <p:sp>
        <p:nvSpPr>
          <p:cNvPr id="7" name="文本框 6"/>
          <p:cNvSpPr txBox="1"/>
          <p:nvPr/>
        </p:nvSpPr>
        <p:spPr>
          <a:xfrm>
            <a:off x="115570" y="142875"/>
            <a:ext cx="6096000" cy="521970"/>
          </a:xfrm>
          <a:prstGeom prst="rect">
            <a:avLst/>
          </a:prstGeom>
          <a:noFill/>
        </p:spPr>
        <p:txBody>
          <a:bodyPr wrap="square" rtlCol="0" anchor="t">
            <a:spAutoFit/>
          </a:bodyPr>
          <a:p>
            <a:pPr marL="514350" indent="-514350" algn="l">
              <a:buClrTx/>
              <a:buSzTx/>
              <a:buFont typeface="+mj-ea"/>
              <a:buAutoNum type="circleNumDbPlain" startAt="2"/>
            </a:pPr>
            <a:r>
              <a:rPr lang="zh-CN" altLang="en-US" sz="2800">
                <a:solidFill>
                  <a:srgbClr val="C00000"/>
                </a:solidFill>
                <a:sym typeface="+mn-ea"/>
              </a:rPr>
              <a:t>RobustVLA</a:t>
            </a:r>
            <a:endParaRPr lang="zh-CN" altLang="en-US" sz="2800">
              <a:solidFill>
                <a:srgbClr val="C00000"/>
              </a:solidFill>
              <a:sym typeface="+mn-ea"/>
            </a:endParaRPr>
          </a:p>
        </p:txBody>
      </p:sp>
      <p:sp>
        <p:nvSpPr>
          <p:cNvPr id="8" name="文本框 7"/>
          <p:cNvSpPr txBox="1"/>
          <p:nvPr/>
        </p:nvSpPr>
        <p:spPr>
          <a:xfrm>
            <a:off x="753110" y="1001945"/>
            <a:ext cx="4064000" cy="460375"/>
          </a:xfrm>
          <a:prstGeom prst="rect">
            <a:avLst/>
          </a:prstGeom>
        </p:spPr>
        <p:txBody>
          <a:bodyPr>
            <a:spAutoFit/>
            <a:extLst>
              <a:ext uri="{4A0BC546-FE56-4ADE-93B0-CB8AF2F6F144}">
                <wpsdc:textFrameExt xmlns:wpsdc="http://www.wps.cn/officeDocument/2022/drawingmlCustomData" type="text"/>
              </a:ext>
            </a:extLst>
          </a:bodyPr>
          <a:p>
            <a:pPr algn="l"/>
            <a:r>
              <a:rPr lang="zh-CN" altLang="en-US" sz="2400">
                <a:latin typeface="Arial" panose="020B0604020202020204" pitchFamily="34" charset="0"/>
                <a:ea typeface="微软雅黑" panose="020B0503020204020204" charset="-122"/>
              </a:rPr>
              <a:t>输出鲁棒性训练：</a:t>
            </a:r>
            <a:endParaRPr lang="zh-CN" altLang="en-US" sz="2400">
              <a:latin typeface="Arial" panose="020B0604020202020204" pitchFamily="34" charset="0"/>
              <a:ea typeface="微软雅黑" panose="020B0503020204020204" charset="-122"/>
            </a:endParaRPr>
          </a:p>
        </p:txBody>
      </p:sp>
      <p:sp>
        <p:nvSpPr>
          <p:cNvPr id="9" name="文本框 8"/>
          <p:cNvSpPr txBox="1"/>
          <p:nvPr/>
        </p:nvSpPr>
        <p:spPr>
          <a:xfrm>
            <a:off x="1048385" y="2401570"/>
            <a:ext cx="3362960" cy="368300"/>
          </a:xfrm>
          <a:prstGeom prst="rect">
            <a:avLst/>
          </a:prstGeom>
          <a:noFill/>
        </p:spPr>
        <p:txBody>
          <a:bodyPr wrap="square" rtlCol="0">
            <a:spAutoFit/>
          </a:bodyPr>
          <a:p>
            <a:r>
              <a:rPr lang="zh-CN" altLang="en-US"/>
              <a:t>找到最大</a:t>
            </a:r>
            <a:r>
              <a:rPr lang="zh-CN" altLang="en-US"/>
              <a:t>扰动：</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688340" y="1625600"/>
            <a:ext cx="6508115" cy="527050"/>
          </a:xfrm>
          <a:prstGeom prst="rect">
            <a:avLst/>
          </a:prstGeom>
        </p:spPr>
      </p:pic>
      <p:pic>
        <p:nvPicPr>
          <p:cNvPr id="2" name="图片 1"/>
          <p:cNvPicPr>
            <a:picLocks noChangeAspect="1"/>
          </p:cNvPicPr>
          <p:nvPr/>
        </p:nvPicPr>
        <p:blipFill>
          <a:blip r:embed="rId2"/>
          <a:stretch>
            <a:fillRect/>
          </a:stretch>
        </p:blipFill>
        <p:spPr>
          <a:xfrm>
            <a:off x="753110" y="2584450"/>
            <a:ext cx="5314315" cy="963930"/>
          </a:xfrm>
          <a:prstGeom prst="rect">
            <a:avLst/>
          </a:prstGeom>
        </p:spPr>
      </p:pic>
      <p:pic>
        <p:nvPicPr>
          <p:cNvPr id="3" name="图片 2"/>
          <p:cNvPicPr>
            <a:picLocks noChangeAspect="1"/>
          </p:cNvPicPr>
          <p:nvPr/>
        </p:nvPicPr>
        <p:blipFill>
          <a:blip r:embed="rId3"/>
          <a:srcRect t="37560" r="551"/>
          <a:stretch>
            <a:fillRect/>
          </a:stretch>
        </p:blipFill>
        <p:spPr>
          <a:xfrm>
            <a:off x="1203325" y="4035425"/>
            <a:ext cx="9276080" cy="604520"/>
          </a:xfrm>
          <a:prstGeom prst="rect">
            <a:avLst/>
          </a:prstGeom>
        </p:spPr>
      </p:pic>
      <p:pic>
        <p:nvPicPr>
          <p:cNvPr id="4" name="图片 3"/>
          <p:cNvPicPr>
            <a:picLocks noChangeAspect="1"/>
          </p:cNvPicPr>
          <p:nvPr/>
        </p:nvPicPr>
        <p:blipFill>
          <a:blip r:embed="rId4"/>
          <a:stretch>
            <a:fillRect/>
          </a:stretch>
        </p:blipFill>
        <p:spPr>
          <a:xfrm>
            <a:off x="816610" y="4980940"/>
            <a:ext cx="8590915" cy="488315"/>
          </a:xfrm>
          <a:prstGeom prst="rect">
            <a:avLst/>
          </a:prstGeom>
        </p:spPr>
      </p:pic>
      <p:pic>
        <p:nvPicPr>
          <p:cNvPr id="6" name="图片 5"/>
          <p:cNvPicPr>
            <a:picLocks noChangeAspect="1"/>
          </p:cNvPicPr>
          <p:nvPr/>
        </p:nvPicPr>
        <p:blipFill>
          <a:blip r:embed="rId5"/>
          <a:stretch>
            <a:fillRect/>
          </a:stretch>
        </p:blipFill>
        <p:spPr>
          <a:xfrm>
            <a:off x="3624580" y="6113780"/>
            <a:ext cx="5147945" cy="553720"/>
          </a:xfrm>
          <a:prstGeom prst="rect">
            <a:avLst/>
          </a:prstGeom>
        </p:spPr>
      </p:pic>
      <p:sp>
        <p:nvSpPr>
          <p:cNvPr id="8" name="文本框 7"/>
          <p:cNvSpPr txBox="1"/>
          <p:nvPr/>
        </p:nvSpPr>
        <p:spPr>
          <a:xfrm>
            <a:off x="688340" y="1001945"/>
            <a:ext cx="4064000" cy="460375"/>
          </a:xfrm>
          <a:prstGeom prst="rect">
            <a:avLst/>
          </a:prstGeom>
        </p:spPr>
        <p:txBody>
          <a:bodyPr>
            <a:spAutoFit/>
            <a:extLst>
              <a:ext uri="{4A0BC546-FE56-4ADE-93B0-CB8AF2F6F144}">
                <wpsdc:textFrameExt xmlns:wpsdc="http://www.wps.cn/officeDocument/2022/drawingmlCustomData" type="text"/>
              </a:ext>
            </a:extLst>
          </a:bodyPr>
          <a:p>
            <a:pPr algn="l"/>
            <a:r>
              <a:rPr lang="zh-CN" altLang="en-US" sz="2400">
                <a:latin typeface="Arial" panose="020B0604020202020204" pitchFamily="34" charset="0"/>
                <a:ea typeface="微软雅黑" panose="020B0503020204020204" charset="-122"/>
              </a:rPr>
              <a:t>输</a:t>
            </a:r>
            <a:r>
              <a:rPr lang="zh-CN" altLang="en-US" sz="2400">
                <a:latin typeface="Arial" panose="020B0604020202020204" pitchFamily="34" charset="0"/>
                <a:ea typeface="微软雅黑" panose="020B0503020204020204" charset="-122"/>
              </a:rPr>
              <a:t>入鲁棒性训练：</a:t>
            </a:r>
            <a:endParaRPr lang="zh-CN" altLang="en-US" sz="2400">
              <a:latin typeface="Arial" panose="020B0604020202020204" pitchFamily="34" charset="0"/>
              <a:ea typeface="微软雅黑" panose="020B0503020204020204" charset="-122"/>
            </a:endParaRPr>
          </a:p>
        </p:txBody>
      </p:sp>
      <p:sp>
        <p:nvSpPr>
          <p:cNvPr id="7" name="文本框 6"/>
          <p:cNvSpPr txBox="1"/>
          <p:nvPr/>
        </p:nvSpPr>
        <p:spPr>
          <a:xfrm>
            <a:off x="688340" y="2426970"/>
            <a:ext cx="4408805" cy="368300"/>
          </a:xfrm>
          <a:prstGeom prst="rect">
            <a:avLst/>
          </a:prstGeom>
          <a:noFill/>
        </p:spPr>
        <p:txBody>
          <a:bodyPr wrap="square" rtlCol="0">
            <a:spAutoFit/>
          </a:bodyPr>
          <a:p>
            <a:r>
              <a:rPr lang="zh-CN" altLang="en-US"/>
              <a:t>选择最有害的扰动</a:t>
            </a:r>
            <a:r>
              <a:rPr lang="zh-CN" altLang="en-US"/>
              <a:t>种类：</a:t>
            </a:r>
            <a:endParaRPr lang="zh-CN" altLang="en-US"/>
          </a:p>
        </p:txBody>
      </p:sp>
      <p:sp>
        <p:nvSpPr>
          <p:cNvPr id="9" name="下箭头 8"/>
          <p:cNvSpPr/>
          <p:nvPr/>
        </p:nvSpPr>
        <p:spPr>
          <a:xfrm>
            <a:off x="4114165" y="3429000"/>
            <a:ext cx="206375" cy="566420"/>
          </a:xfrm>
          <a:prstGeom prst="downArrow">
            <a:avLst/>
          </a:prstGeom>
          <a:solidFill>
            <a:schemeClr val="tx2">
              <a:lumMod val="20000"/>
              <a:lumOff val="8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bg2"/>
              </a:solidFill>
            </a:endParaRPr>
          </a:p>
        </p:txBody>
      </p:sp>
      <p:sp>
        <p:nvSpPr>
          <p:cNvPr id="10" name="文本框 9"/>
          <p:cNvSpPr txBox="1"/>
          <p:nvPr/>
        </p:nvSpPr>
        <p:spPr>
          <a:xfrm>
            <a:off x="753110" y="5717858"/>
            <a:ext cx="5080000" cy="460375"/>
          </a:xfrm>
          <a:prstGeom prst="rect">
            <a:avLst/>
          </a:prstGeom>
        </p:spPr>
        <p:txBody>
          <a:bodyPr>
            <a:spAutoFit/>
          </a:bodyPr>
          <a:p>
            <a:pPr marL="0" indent="0">
              <a:spcBef>
                <a:spcPts val="1900"/>
              </a:spcBef>
              <a:spcAft>
                <a:spcPts val="900"/>
              </a:spcAft>
            </a:pPr>
            <a:r>
              <a:rPr lang="zh-CN" altLang="en-US" sz="2400" i="0">
                <a:latin typeface="Arial" panose="020B0604020202020204" pitchFamily="34" charset="0"/>
                <a:ea typeface="微软雅黑" panose="020B0503020204020204" charset="-122"/>
              </a:rPr>
              <a:t>完整RobustVLA总损失</a:t>
            </a:r>
            <a:r>
              <a:rPr lang="en-US" altLang="zh-CN" sz="2400" i="0">
                <a:latin typeface="Arial" panose="020B0604020202020204" pitchFamily="34" charset="0"/>
                <a:ea typeface="微软雅黑" panose="020B0503020204020204" charset="-122"/>
              </a:rPr>
              <a:t>:</a:t>
            </a:r>
            <a:endParaRPr lang="en-US" altLang="zh-CN" sz="2400" i="0">
              <a:latin typeface="Arial" panose="020B0604020202020204" pitchFamily="34" charset="0"/>
              <a:ea typeface="微软雅黑" panose="020B0503020204020204" charset="-122"/>
            </a:endParaRPr>
          </a:p>
        </p:txBody>
      </p:sp>
      <p:sp>
        <p:nvSpPr>
          <p:cNvPr id="11" name="文本框 10"/>
          <p:cNvSpPr txBox="1"/>
          <p:nvPr/>
        </p:nvSpPr>
        <p:spPr>
          <a:xfrm>
            <a:off x="115570" y="142875"/>
            <a:ext cx="6096000" cy="521970"/>
          </a:xfrm>
          <a:prstGeom prst="rect">
            <a:avLst/>
          </a:prstGeom>
          <a:noFill/>
        </p:spPr>
        <p:txBody>
          <a:bodyPr wrap="square" rtlCol="0" anchor="t">
            <a:spAutoFit/>
          </a:bodyPr>
          <a:p>
            <a:pPr marL="514350" indent="-514350" algn="l">
              <a:buClrTx/>
              <a:buSzTx/>
              <a:buFont typeface="+mj-ea"/>
              <a:buAutoNum type="circleNumDbPlain" startAt="2"/>
            </a:pPr>
            <a:r>
              <a:rPr lang="zh-CN" altLang="en-US" sz="2800">
                <a:solidFill>
                  <a:srgbClr val="C00000"/>
                </a:solidFill>
                <a:sym typeface="+mn-ea"/>
              </a:rPr>
              <a:t>RobustVLA</a:t>
            </a:r>
            <a:endParaRPr lang="zh-CN" altLang="en-US" sz="2800">
              <a:solidFill>
                <a:srgbClr val="C00000"/>
              </a:solidFill>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60000" y="180000"/>
            <a:ext cx="6096000" cy="521970"/>
          </a:xfrm>
          <a:prstGeom prst="rect">
            <a:avLst/>
          </a:prstGeom>
          <a:noFill/>
        </p:spPr>
        <p:txBody>
          <a:bodyPr wrap="square" rtlCol="0" anchor="t">
            <a:spAutoFit/>
          </a:bodyPr>
          <a:p>
            <a:pPr algn="l">
              <a:buClrTx/>
              <a:buSzTx/>
              <a:buFontTx/>
            </a:pPr>
            <a:r>
              <a:rPr lang="zh-CN" altLang="en-US" sz="2800">
                <a:solidFill>
                  <a:srgbClr val="C00000"/>
                </a:solidFill>
                <a:sym typeface="+mn-ea"/>
              </a:rPr>
              <a:t>0</a:t>
            </a:r>
            <a:r>
              <a:rPr lang="en-US" altLang="zh-CN" sz="2800">
                <a:solidFill>
                  <a:srgbClr val="C00000"/>
                </a:solidFill>
                <a:sym typeface="+mn-ea"/>
              </a:rPr>
              <a:t>3</a:t>
            </a:r>
            <a:r>
              <a:rPr lang="zh-CN" altLang="en-US" sz="2800">
                <a:solidFill>
                  <a:srgbClr val="C00000"/>
                </a:solidFill>
                <a:sym typeface="+mn-ea"/>
              </a:rPr>
              <a:t>实验</a:t>
            </a:r>
            <a:endParaRPr lang="zh-CN" altLang="en-US" sz="2800">
              <a:solidFill>
                <a:srgbClr val="C00000"/>
              </a:solidFill>
              <a:sym typeface="+mn-ea"/>
            </a:endParaRPr>
          </a:p>
        </p:txBody>
      </p:sp>
      <p:sp>
        <p:nvSpPr>
          <p:cNvPr id="3" name="文本框 2"/>
          <p:cNvSpPr txBox="1"/>
          <p:nvPr/>
        </p:nvSpPr>
        <p:spPr>
          <a:xfrm>
            <a:off x="423545" y="1145540"/>
            <a:ext cx="3972560" cy="357505"/>
          </a:xfrm>
          <a:prstGeom prst="rect">
            <a:avLst/>
          </a:prstGeom>
        </p:spPr>
        <p:txBody>
          <a:bodyPr>
            <a:noAutofit/>
          </a:bodyPr>
          <a:p>
            <a:pPr marL="0" indent="0">
              <a:spcBef>
                <a:spcPts val="1900"/>
              </a:spcBef>
              <a:spcAft>
                <a:spcPts val="900"/>
              </a:spcAft>
            </a:pPr>
            <a:endParaRPr lang="zh-CN" altLang="en-US" sz="1600" b="1" i="0">
              <a:solidFill>
                <a:srgbClr val="0F1115"/>
              </a:solidFill>
              <a:latin typeface="quote-cjk-patch"/>
              <a:ea typeface="quote-cjk-patch"/>
            </a:endParaRPr>
          </a:p>
        </p:txBody>
      </p:sp>
      <p:sp>
        <p:nvSpPr>
          <p:cNvPr id="9" name="文本框 8"/>
          <p:cNvSpPr txBox="1"/>
          <p:nvPr/>
        </p:nvSpPr>
        <p:spPr>
          <a:xfrm>
            <a:off x="0" y="1145540"/>
            <a:ext cx="3141980" cy="5603875"/>
          </a:xfrm>
          <a:prstGeom prst="rect">
            <a:avLst/>
          </a:prstGeom>
          <a:noFill/>
        </p:spPr>
        <p:txBody>
          <a:bodyPr wrap="square" rtlCol="0" anchor="t">
            <a:noAutofit/>
          </a:bodyPr>
          <a:p>
            <a:r>
              <a:rPr lang="en-US" altLang="zh-CN" b="1">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RobustVLA </a:t>
            </a:r>
            <a:r>
              <a:rPr lang="zh-CN" altLang="en-US" b="1">
                <a:solidFill>
                  <a:srgbClr val="0F1115"/>
                </a:solidFill>
                <a:latin typeface="宋体" panose="02010600030101010101" pitchFamily="2" charset="-122"/>
                <a:ea typeface="宋体" panose="02010600030101010101" pitchFamily="2" charset="-122"/>
                <a:cs typeface="宋体" panose="02010600030101010101" pitchFamily="2" charset="-122"/>
                <a:sym typeface="+mn-ea"/>
              </a:rPr>
              <a:t>鲁棒性评估实验</a:t>
            </a:r>
            <a:endParaRPr lang="zh-CN" altLang="en-US" b="1" i="0">
              <a:solidFill>
                <a:srgbClr val="0F1115"/>
              </a:solidFill>
              <a:latin typeface="宋体" panose="02010600030101010101" pitchFamily="2" charset="-122"/>
              <a:ea typeface="宋体" panose="02010600030101010101" pitchFamily="2" charset="-122"/>
              <a:cs typeface="宋体" panose="02010600030101010101" pitchFamily="2" charset="-122"/>
              <a:sym typeface="+mn-ea"/>
            </a:endParaRPr>
          </a:p>
          <a:p>
            <a:endParaRPr lang="zh-CN" altLang="en-US" b="1" i="0">
              <a:solidFill>
                <a:srgbClr val="0F1115"/>
              </a:solidFill>
              <a:latin typeface="宋体" panose="02010600030101010101" pitchFamily="2" charset="-122"/>
              <a:ea typeface="宋体" panose="02010600030101010101" pitchFamily="2" charset="-122"/>
              <a:cs typeface="宋体" panose="02010600030101010101" pitchFamily="2" charset="-122"/>
              <a:sym typeface="+mn-ea"/>
            </a:endParaRPr>
          </a:p>
          <a:p>
            <a:r>
              <a:rPr lang="zh-CN" altLang="en-US" b="1">
                <a:latin typeface="宋体" panose="02010600030101010101" pitchFamily="2" charset="-122"/>
                <a:ea typeface="宋体" panose="02010600030101010101" pitchFamily="2" charset="-122"/>
                <a:cs typeface="宋体" panose="02010600030101010101" pitchFamily="2" charset="-122"/>
              </a:rPr>
              <a:t>数据集：</a:t>
            </a:r>
            <a:r>
              <a:rPr lang="en-US" altLang="zh-CN">
                <a:latin typeface="宋体" panose="02010600030101010101" pitchFamily="2" charset="-122"/>
                <a:ea typeface="宋体" panose="02010600030101010101" pitchFamily="2" charset="-122"/>
                <a:cs typeface="宋体" panose="02010600030101010101" pitchFamily="2" charset="-122"/>
              </a:rPr>
              <a:t>LIBERO</a:t>
            </a:r>
            <a:endParaRPr lang="en-US" altLang="zh-CN" b="1">
              <a:latin typeface="宋体" panose="02010600030101010101" pitchFamily="2" charset="-122"/>
              <a:ea typeface="宋体" panose="02010600030101010101" pitchFamily="2" charset="-122"/>
              <a:cs typeface="宋体" panose="02010600030101010101" pitchFamily="2" charset="-122"/>
            </a:endParaRPr>
          </a:p>
          <a:p>
            <a:endParaRPr lang="en-US" altLang="zh-CN" b="1">
              <a:latin typeface="宋体" panose="02010600030101010101" pitchFamily="2" charset="-122"/>
              <a:ea typeface="宋体" panose="02010600030101010101" pitchFamily="2" charset="-122"/>
              <a:cs typeface="宋体" panose="02010600030101010101" pitchFamily="2" charset="-122"/>
            </a:endParaRPr>
          </a:p>
          <a:p>
            <a:r>
              <a:rPr lang="zh-CN" altLang="en-US" b="1">
                <a:latin typeface="宋体" panose="02010600030101010101" pitchFamily="2" charset="-122"/>
                <a:ea typeface="宋体" panose="02010600030101010101" pitchFamily="2" charset="-122"/>
                <a:cs typeface="宋体" panose="02010600030101010101" pitchFamily="2" charset="-122"/>
              </a:rPr>
              <a:t>任务：</a:t>
            </a:r>
            <a:r>
              <a:rPr lang="zh-CN" altLang="en-US">
                <a:latin typeface="宋体" panose="02010600030101010101" pitchFamily="2" charset="-122"/>
                <a:ea typeface="宋体" panose="02010600030101010101" pitchFamily="2" charset="-122"/>
                <a:cs typeface="宋体" panose="02010600030101010101" pitchFamily="2" charset="-122"/>
              </a:rPr>
              <a:t>多步桌面</a:t>
            </a:r>
            <a:r>
              <a:rPr lang="zh-CN" altLang="en-US">
                <a:latin typeface="宋体" panose="02010600030101010101" pitchFamily="2" charset="-122"/>
                <a:ea typeface="宋体" panose="02010600030101010101" pitchFamily="2" charset="-122"/>
                <a:cs typeface="宋体" panose="02010600030101010101" pitchFamily="2" charset="-122"/>
              </a:rPr>
              <a:t>操作任务</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zh-CN" altLang="en-US" b="1">
                <a:latin typeface="宋体" panose="02010600030101010101" pitchFamily="2" charset="-122"/>
                <a:ea typeface="宋体" panose="02010600030101010101" pitchFamily="2" charset="-122"/>
                <a:cs typeface="宋体" panose="02010600030101010101" pitchFamily="2" charset="-122"/>
              </a:rPr>
              <a:t>基线：</a:t>
            </a:r>
            <a:endParaRPr lang="zh-CN" altLang="en-US" b="1">
              <a:latin typeface="宋体" panose="02010600030101010101" pitchFamily="2" charset="-122"/>
              <a:ea typeface="宋体" panose="02010600030101010101" pitchFamily="2" charset="-122"/>
              <a:cs typeface="宋体" panose="02010600030101010101" pitchFamily="2" charset="-122"/>
            </a:endParaRPr>
          </a:p>
          <a:p>
            <a:r>
              <a:rPr lang="zh-CN" altLang="en-US">
                <a:latin typeface="宋体" panose="02010600030101010101" pitchFamily="2" charset="-122"/>
                <a:ea typeface="宋体" panose="02010600030101010101" pitchFamily="2" charset="-122"/>
                <a:cs typeface="宋体" panose="02010600030101010101" pitchFamily="2" charset="-122"/>
              </a:rPr>
              <a:t>原始</a:t>
            </a:r>
            <a:r>
              <a:rPr lang="en-US" altLang="zh-CN">
                <a:latin typeface="宋体" panose="02010600030101010101" pitchFamily="2" charset="-122"/>
                <a:ea typeface="宋体" panose="02010600030101010101" pitchFamily="2" charset="-122"/>
                <a:cs typeface="宋体" panose="02010600030101010101" pitchFamily="2" charset="-122"/>
              </a:rPr>
              <a:t>π0</a:t>
            </a:r>
            <a:r>
              <a:rPr lang="zh-CN" altLang="en-US">
                <a:latin typeface="宋体" panose="02010600030101010101" pitchFamily="2" charset="-122"/>
                <a:ea typeface="宋体" panose="02010600030101010101" pitchFamily="2" charset="-122"/>
                <a:cs typeface="宋体" panose="02010600030101010101" pitchFamily="2" charset="-122"/>
              </a:rPr>
              <a:t>模型</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en-US" altLang="zh-CN">
                <a:latin typeface="宋体" panose="02010600030101010101" pitchFamily="2" charset="-122"/>
                <a:ea typeface="宋体" panose="02010600030101010101" pitchFamily="2" charset="-122"/>
                <a:cs typeface="宋体" panose="02010600030101010101" pitchFamily="2" charset="-122"/>
              </a:rPr>
              <a:t>DR（</a:t>
            </a:r>
            <a:r>
              <a:rPr lang="zh-CN" altLang="en-US">
                <a:latin typeface="宋体" panose="02010600030101010101" pitchFamily="2" charset="-122"/>
                <a:ea typeface="宋体" panose="02010600030101010101" pitchFamily="2" charset="-122"/>
                <a:cs typeface="宋体" panose="02010600030101010101" pitchFamily="2" charset="-122"/>
              </a:rPr>
              <a:t>随机采样输入扰动训练）</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en-US" altLang="zh-CN">
                <a:latin typeface="宋体" panose="02010600030101010101" pitchFamily="2" charset="-122"/>
                <a:ea typeface="宋体" panose="02010600030101010101" pitchFamily="2" charset="-122"/>
                <a:cs typeface="宋体" panose="02010600030101010101" pitchFamily="2" charset="-122"/>
              </a:rPr>
              <a:t>BYOVLA</a:t>
            </a:r>
            <a:endParaRPr lang="en-US" altLang="zh-CN">
              <a:latin typeface="宋体" panose="02010600030101010101" pitchFamily="2" charset="-122"/>
              <a:ea typeface="宋体" panose="02010600030101010101" pitchFamily="2" charset="-122"/>
              <a:cs typeface="宋体" panose="02010600030101010101" pitchFamily="2" charset="-122"/>
            </a:endParaRPr>
          </a:p>
          <a:p>
            <a:r>
              <a:rPr lang="en-US" altLang="zh-CN">
                <a:latin typeface="宋体" panose="02010600030101010101" pitchFamily="2" charset="-122"/>
                <a:ea typeface="宋体" panose="02010600030101010101" pitchFamily="2" charset="-122"/>
                <a:cs typeface="宋体" panose="02010600030101010101" pitchFamily="2" charset="-122"/>
              </a:rPr>
              <a:t>w/o in（</a:t>
            </a:r>
            <a:r>
              <a:rPr lang="zh-CN" altLang="en-US">
                <a:latin typeface="宋体" panose="02010600030101010101" pitchFamily="2" charset="-122"/>
                <a:ea typeface="宋体" panose="02010600030101010101" pitchFamily="2" charset="-122"/>
                <a:cs typeface="宋体" panose="02010600030101010101" pitchFamily="2" charset="-122"/>
              </a:rPr>
              <a:t>去掉输入扰动的鲁棒性</a:t>
            </a:r>
            <a:r>
              <a:rPr lang="zh-CN" altLang="en-US">
                <a:latin typeface="宋体" panose="02010600030101010101" pitchFamily="2" charset="-122"/>
                <a:ea typeface="宋体" panose="02010600030101010101" pitchFamily="2" charset="-122"/>
                <a:cs typeface="宋体" panose="02010600030101010101" pitchFamily="2" charset="-122"/>
              </a:rPr>
              <a:t>模块）</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en-US" altLang="zh-CN">
                <a:latin typeface="宋体" panose="02010600030101010101" pitchFamily="2" charset="-122"/>
                <a:ea typeface="宋体" panose="02010600030101010101" pitchFamily="2" charset="-122"/>
                <a:cs typeface="宋体" panose="02010600030101010101" pitchFamily="2" charset="-122"/>
              </a:rPr>
              <a:t>w/o out（</a:t>
            </a:r>
            <a:r>
              <a:rPr lang="zh-CN" altLang="en-US">
                <a:latin typeface="宋体" panose="02010600030101010101" pitchFamily="2" charset="-122"/>
                <a:ea typeface="宋体" panose="02010600030101010101" pitchFamily="2" charset="-122"/>
                <a:cs typeface="宋体" panose="02010600030101010101" pitchFamily="2" charset="-122"/>
              </a:rPr>
              <a:t>去掉动作输出扰动的鲁棒</a:t>
            </a:r>
            <a:r>
              <a:rPr lang="zh-CN" altLang="en-US">
                <a:latin typeface="宋体" panose="02010600030101010101" pitchFamily="2" charset="-122"/>
                <a:ea typeface="宋体" panose="02010600030101010101" pitchFamily="2" charset="-122"/>
                <a:cs typeface="宋体" panose="02010600030101010101" pitchFamily="2" charset="-122"/>
                <a:sym typeface="+mn-ea"/>
              </a:rPr>
              <a:t>性模块</a:t>
            </a:r>
            <a:r>
              <a:rPr lang="zh-CN" altLang="en-US">
                <a:latin typeface="宋体" panose="02010600030101010101" pitchFamily="2" charset="-122"/>
                <a:ea typeface="宋体" panose="02010600030101010101" pitchFamily="2" charset="-122"/>
                <a:cs typeface="宋体" panose="02010600030101010101" pitchFamily="2" charset="-122"/>
              </a:rPr>
              <a:t>）</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en-US" altLang="zh-CN">
                <a:latin typeface="宋体" panose="02010600030101010101" pitchFamily="2" charset="-122"/>
                <a:ea typeface="宋体" panose="02010600030101010101" pitchFamily="2" charset="-122"/>
                <a:cs typeface="宋体" panose="02010600030101010101" pitchFamily="2" charset="-122"/>
              </a:rPr>
              <a:t>w/o UCB（</a:t>
            </a:r>
            <a:r>
              <a:rPr lang="zh-CN" altLang="en-US">
                <a:latin typeface="宋体" panose="02010600030101010101" pitchFamily="2" charset="-122"/>
                <a:ea typeface="宋体" panose="02010600030101010101" pitchFamily="2" charset="-122"/>
                <a:cs typeface="宋体" panose="02010600030101010101" pitchFamily="2" charset="-122"/>
              </a:rPr>
              <a:t>无</a:t>
            </a:r>
            <a:r>
              <a:rPr lang="en-US" altLang="zh-CN">
                <a:latin typeface="宋体" panose="02010600030101010101" pitchFamily="2" charset="-122"/>
                <a:ea typeface="宋体" panose="02010600030101010101" pitchFamily="2" charset="-122"/>
                <a:cs typeface="宋体" panose="02010600030101010101" pitchFamily="2" charset="-122"/>
              </a:rPr>
              <a:t>UCB</a:t>
            </a:r>
            <a:r>
              <a:rPr lang="zh-CN" altLang="en-US">
                <a:latin typeface="宋体" panose="02010600030101010101" pitchFamily="2" charset="-122"/>
                <a:ea typeface="宋体" panose="02010600030101010101" pitchFamily="2" charset="-122"/>
                <a:cs typeface="宋体" panose="02010600030101010101" pitchFamily="2" charset="-122"/>
              </a:rPr>
              <a:t>自适应选择）</a:t>
            </a:r>
            <a:r>
              <a:rPr lang="en-US" altLang="zh-CN">
                <a:latin typeface="宋体" panose="02010600030101010101" pitchFamily="2" charset="-122"/>
                <a:ea typeface="宋体" panose="02010600030101010101" pitchFamily="2" charset="-122"/>
                <a:cs typeface="宋体" panose="02010600030101010101" pitchFamily="2" charset="-122"/>
              </a:rPr>
              <a:t>RobustVLA</a:t>
            </a:r>
            <a:endParaRPr lang="en-US" altLang="zh-CN">
              <a:latin typeface="宋体" panose="02010600030101010101" pitchFamily="2" charset="-122"/>
              <a:ea typeface="宋体" panose="02010600030101010101" pitchFamily="2" charset="-122"/>
              <a:cs typeface="宋体" panose="02010600030101010101" pitchFamily="2" charset="-122"/>
            </a:endParaRPr>
          </a:p>
          <a:p>
            <a:endParaRPr lang="en-US" altLang="zh-CN">
              <a:latin typeface="宋体" panose="02010600030101010101" pitchFamily="2" charset="-122"/>
              <a:ea typeface="宋体" panose="02010600030101010101" pitchFamily="2" charset="-122"/>
              <a:cs typeface="宋体" panose="02010600030101010101" pitchFamily="2" charset="-122"/>
            </a:endParaRPr>
          </a:p>
          <a:p>
            <a:r>
              <a:rPr lang="zh-CN" altLang="en-US" b="1">
                <a:latin typeface="宋体" panose="02010600030101010101" pitchFamily="2" charset="-122"/>
                <a:ea typeface="宋体" panose="02010600030101010101" pitchFamily="2" charset="-122"/>
                <a:cs typeface="宋体" panose="02010600030101010101" pitchFamily="2" charset="-122"/>
              </a:rPr>
              <a:t>指标：</a:t>
            </a:r>
            <a:r>
              <a:rPr lang="zh-CN" altLang="en-US">
                <a:latin typeface="宋体" panose="02010600030101010101" pitchFamily="2" charset="-122"/>
                <a:ea typeface="宋体" panose="02010600030101010101" pitchFamily="2" charset="-122"/>
                <a:cs typeface="宋体" panose="02010600030101010101" pitchFamily="2" charset="-122"/>
              </a:rPr>
              <a:t>成功率（%）</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3056890" y="1145540"/>
            <a:ext cx="8908415" cy="3891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19735" y="1478915"/>
            <a:ext cx="11563350" cy="1950085"/>
          </a:xfrm>
          <a:prstGeom prst="rect">
            <a:avLst/>
          </a:prstGeom>
        </p:spPr>
        <p:txBody>
          <a:bodyPr wrap="square">
            <a:noAutofit/>
          </a:bodyPr>
          <a:p>
            <a:pPr lvl="0" algn="ctr">
              <a:lnSpc>
                <a:spcPct val="120000"/>
              </a:lnSpc>
              <a:buClrTx/>
              <a:buSzTx/>
              <a:buFontTx/>
              <a:defRPr/>
            </a:pPr>
            <a:r>
              <a:rPr kumimoji="0" lang="en-US" altLang="zh-CN" sz="3600" b="1" i="0" kern="0" spc="400" baseline="0" noProof="0" dirty="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sym typeface="+mn-ea"/>
              </a:rPr>
              <a:t>HomeGuard: VLM-based Embodied Safeguard for Identifying Contextual Risk in Household Task</a:t>
            </a:r>
            <a:endParaRPr kumimoji="0" lang="en-US" altLang="zh-CN" sz="3600" b="1" i="0" kern="0" spc="400" baseline="0" noProof="0" dirty="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sym typeface="+mn-ea"/>
            </a:endParaRPr>
          </a:p>
          <a:p>
            <a:pPr lvl="0" algn="ctr">
              <a:lnSpc>
                <a:spcPct val="120000"/>
              </a:lnSpc>
              <a:spcBef>
                <a:spcPts val="0"/>
              </a:spcBef>
              <a:spcAft>
                <a:spcPts val="0"/>
              </a:spcAft>
              <a:defRPr/>
            </a:pPr>
            <a:endParaRPr kumimoji="0" lang="en-US" altLang="zh-CN" i="0" kern="0" baseline="0" noProof="0" dirty="0">
              <a:ln>
                <a:noFill/>
              </a:ln>
              <a:solidFill>
                <a:schemeClr val="tx1"/>
              </a:solidFill>
              <a:effectLst/>
              <a:uLnTx/>
              <a:uFillTx/>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3" name="文本框 2"/>
          <p:cNvSpPr txBox="1"/>
          <p:nvPr/>
        </p:nvSpPr>
        <p:spPr>
          <a:xfrm>
            <a:off x="335280" y="315595"/>
            <a:ext cx="5615305" cy="460375"/>
          </a:xfrm>
          <a:prstGeom prst="rect">
            <a:avLst/>
          </a:prstGeom>
          <a:noFill/>
        </p:spPr>
        <p:txBody>
          <a:bodyPr wrap="square" rtlCol="0">
            <a:spAutoFit/>
          </a:bodyPr>
          <a:p>
            <a:r>
              <a:rPr lang="en-US" altLang="zh-CN" sz="2400"/>
              <a:t>CVPR 2026</a:t>
            </a:r>
            <a:endParaRPr lang="en-US" altLang="zh-CN" sz="2400"/>
          </a:p>
        </p:txBody>
      </p:sp>
      <p:sp>
        <p:nvSpPr>
          <p:cNvPr id="2" name="文本框 1"/>
          <p:cNvSpPr txBox="1"/>
          <p:nvPr/>
        </p:nvSpPr>
        <p:spPr>
          <a:xfrm>
            <a:off x="1312545" y="3719195"/>
            <a:ext cx="9566910" cy="3221355"/>
          </a:xfrm>
          <a:prstGeom prst="rect">
            <a:avLst/>
          </a:prstGeom>
        </p:spPr>
        <p:txBody>
          <a:bodyPr wrap="square">
            <a:noAutofit/>
          </a:bodyPr>
          <a:p>
            <a:pPr algn="ctr"/>
            <a:r>
              <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rPr>
              <a:t>Xiaoya Lu, Yijin Zhou, Zeren Chen, Ruocheng Wang, Bingrui Sima, Enshen Zhou, Lu Sheng, Dongrui Liu, and Jing Shao</a:t>
            </a:r>
            <a:endPar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endParaRPr>
          </a:p>
          <a:p>
            <a:pPr algn="ctr"/>
            <a:r>
              <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rPr>
              <a:t>Shanghai AI Laboratory</a:t>
            </a:r>
            <a:endPar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endParaRPr>
          </a:p>
          <a:p>
            <a:pPr algn="ctr"/>
            <a:r>
              <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rPr>
              <a:t>Shanghai Jiao Tong University</a:t>
            </a:r>
            <a:endPar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endParaRPr>
          </a:p>
          <a:p>
            <a:pPr algn="ctr"/>
            <a:r>
              <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rPr>
              <a:t>Beihang University</a:t>
            </a:r>
            <a:endPar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endParaRPr>
          </a:p>
          <a:p>
            <a:pPr algn="ctr"/>
            <a:r>
              <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rPr>
              <a:t>Huazhong University of Science and Technology</a:t>
            </a:r>
            <a:endPar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endParaRPr>
          </a:p>
          <a:p>
            <a:pPr algn="ctr"/>
            <a:r>
              <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rPr>
              <a:t>Beijing Academy of Artificial Intelligence</a:t>
            </a:r>
            <a:endParaRPr lang="en-US" altLang="zh-CN" sz="1800" kern="0" noProof="0" dirty="0">
              <a:ln>
                <a:noFill/>
              </a:ln>
              <a:effectLst/>
              <a:uLnTx/>
              <a:uFillTx/>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60000" y="180000"/>
            <a:ext cx="6096000" cy="521970"/>
          </a:xfrm>
          <a:prstGeom prst="rect">
            <a:avLst/>
          </a:prstGeom>
          <a:noFill/>
        </p:spPr>
        <p:txBody>
          <a:bodyPr wrap="square" rtlCol="0" anchor="t">
            <a:spAutoFit/>
          </a:bodyPr>
          <a:p>
            <a:pPr algn="l">
              <a:buClrTx/>
              <a:buSzTx/>
              <a:buFontTx/>
            </a:pPr>
            <a:r>
              <a:rPr lang="zh-CN" altLang="en-US" sz="2800">
                <a:solidFill>
                  <a:srgbClr val="C00000"/>
                </a:solidFill>
                <a:sym typeface="+mn-ea"/>
              </a:rPr>
              <a:t>01背景</a:t>
            </a:r>
            <a:endParaRPr lang="zh-CN" altLang="en-US" sz="2800">
              <a:solidFill>
                <a:srgbClr val="C00000"/>
              </a:solidFill>
              <a:sym typeface="+mn-ea"/>
            </a:endParaRPr>
          </a:p>
        </p:txBody>
      </p:sp>
      <p:sp>
        <p:nvSpPr>
          <p:cNvPr id="6" name="文本框 5"/>
          <p:cNvSpPr txBox="1"/>
          <p:nvPr/>
        </p:nvSpPr>
        <p:spPr>
          <a:xfrm>
            <a:off x="1390650" y="1788160"/>
            <a:ext cx="9243695" cy="4232910"/>
          </a:xfrm>
          <a:prstGeom prst="rect">
            <a:avLst/>
          </a:prstGeom>
          <a:noFill/>
        </p:spPr>
        <p:txBody>
          <a:bodyPr wrap="square" rtlCol="0" anchor="t">
            <a:noAutofit/>
          </a:bodyPr>
          <a:p>
            <a:r>
              <a:rPr 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    具身智能体在执行任务时，极易受环境细微扰动影响。看似常规的指令可能因场景变化触发未知危险，导致决策失误</a:t>
            </a:r>
            <a:r>
              <a:rPr lang="zh-CN"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a:t>
            </a:r>
            <a:endParaRPr 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endParaRPr>
          </a:p>
          <a:p>
            <a:r>
              <a:rPr lang="en-US" altLang="zh-CN"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    </a:t>
            </a:r>
            <a:r>
              <a:rPr lang="zh-CN"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本文提出一个基于</a:t>
            </a:r>
            <a:r>
              <a:rPr lang="en-US" altLang="zh-CN"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CG-CoT</a:t>
            </a:r>
            <a:r>
              <a:rPr lang="zh-CN"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上下文引导思维链与</a:t>
            </a:r>
            <a:r>
              <a:rPr lang="en-US" altLang="zh-CN"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SFT+RFT</a:t>
            </a:r>
            <a:r>
              <a:rPr lang="zh-CN"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两阶段训练的即插即用居家具身智能安全防护模块</a:t>
            </a:r>
            <a:r>
              <a:rPr lang="en-US" altLang="zh-CN"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HomeGuard，</a:t>
            </a:r>
            <a:r>
              <a:rPr lang="zh-CN"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构建了多模态视觉标注数据集</a:t>
            </a:r>
            <a:r>
              <a:rPr lang="en-US" altLang="zh-CN"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HomeSafe，</a:t>
            </a:r>
            <a:r>
              <a:rPr lang="zh-CN"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通过强制模型先定位风险视觉锚点再完成安全判定，</a:t>
            </a:r>
            <a:r>
              <a:rPr lang="zh-CN"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来解决</a:t>
            </a:r>
            <a:r>
              <a:rPr lang="en-US" altLang="zh-CN"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VLM</a:t>
            </a:r>
            <a:r>
              <a:rPr lang="zh-CN"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在杂乱居家场景下上下文隐性风险漏检、幻觉误报问题，提升了</a:t>
            </a:r>
            <a:r>
              <a:rPr lang="en-US" altLang="zh-CN"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VLM</a:t>
            </a:r>
            <a:r>
              <a:rPr lang="zh-CN"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rPr>
              <a:t>的风险识别可靠性与任务安全性。</a:t>
            </a:r>
            <a:endParaRPr lang="zh-CN"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endParaRPr>
          </a:p>
          <a:p>
            <a:endParaRPr lang="en-US" altLang="en-US" sz="2400">
              <a:solidFill>
                <a:srgbClr val="374151"/>
              </a:solidFill>
              <a:latin typeface="宋体" panose="02010600030101010101" pitchFamily="2" charset="-122"/>
              <a:ea typeface="宋体" panose="02010600030101010101" pitchFamily="2" charset="-122"/>
              <a:cs typeface="宋体" panose="02010600030101010101" pitchFamily="2" charset="-122"/>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49555" y="112395"/>
            <a:ext cx="8081010" cy="521970"/>
          </a:xfrm>
          <a:prstGeom prst="rect">
            <a:avLst/>
          </a:prstGeom>
          <a:noFill/>
        </p:spPr>
        <p:txBody>
          <a:bodyPr wrap="square" rtlCol="0" anchor="t">
            <a:spAutoFit/>
          </a:bodyPr>
          <a:p>
            <a:pPr algn="l">
              <a:buClrTx/>
              <a:buSzTx/>
              <a:buFontTx/>
            </a:pPr>
            <a:r>
              <a:rPr lang="zh-CN" altLang="en-US" sz="2800">
                <a:solidFill>
                  <a:srgbClr val="FF0000"/>
                </a:solidFill>
                <a:sym typeface="+mn-ea"/>
              </a:rPr>
              <a:t>0</a:t>
            </a:r>
            <a:r>
              <a:rPr lang="en-US" altLang="zh-CN" sz="2800">
                <a:solidFill>
                  <a:srgbClr val="FF0000"/>
                </a:solidFill>
                <a:sym typeface="+mn-ea"/>
              </a:rPr>
              <a:t>2</a:t>
            </a:r>
            <a:r>
              <a:rPr lang="en-US" altLang="zh-CN" sz="2800">
                <a:solidFill>
                  <a:srgbClr val="FF0000"/>
                </a:solidFill>
                <a:latin typeface="黑体" panose="02010609060101010101" charset="-122"/>
                <a:ea typeface="黑体" panose="02010609060101010101" charset="-122"/>
                <a:cs typeface="黑体" panose="02010609060101010101" charset="-122"/>
                <a:sym typeface="+mn-ea"/>
              </a:rPr>
              <a:t>CG-CoT </a:t>
            </a:r>
            <a:r>
              <a:rPr lang="zh-CN" altLang="en-US" sz="2800">
                <a:solidFill>
                  <a:srgbClr val="FF0000"/>
                </a:solidFill>
                <a:latin typeface="黑体" panose="02010609060101010101" charset="-122"/>
                <a:ea typeface="黑体" panose="02010609060101010101" charset="-122"/>
                <a:cs typeface="黑体" panose="02010609060101010101" charset="-122"/>
                <a:sym typeface="+mn-ea"/>
              </a:rPr>
              <a:t>上下文引导思维链</a:t>
            </a:r>
            <a:endParaRPr lang="en-US" altLang="zh-CN" sz="2800">
              <a:solidFill>
                <a:srgbClr val="C00000"/>
              </a:solidFill>
              <a:sym typeface="+mn-ea"/>
            </a:endParaRPr>
          </a:p>
        </p:txBody>
      </p:sp>
      <p:pic>
        <p:nvPicPr>
          <p:cNvPr id="6" name="图片 5"/>
          <p:cNvPicPr>
            <a:picLocks noChangeAspect="1"/>
          </p:cNvPicPr>
          <p:nvPr/>
        </p:nvPicPr>
        <p:blipFill>
          <a:blip r:embed="rId1"/>
          <a:stretch>
            <a:fillRect/>
          </a:stretch>
        </p:blipFill>
        <p:spPr>
          <a:xfrm>
            <a:off x="0" y="769620"/>
            <a:ext cx="8680450" cy="4292600"/>
          </a:xfrm>
          <a:prstGeom prst="rect">
            <a:avLst/>
          </a:prstGeom>
        </p:spPr>
      </p:pic>
      <p:sp>
        <p:nvSpPr>
          <p:cNvPr id="7" name="文本框 6"/>
          <p:cNvSpPr txBox="1"/>
          <p:nvPr/>
        </p:nvSpPr>
        <p:spPr>
          <a:xfrm>
            <a:off x="78740" y="5062220"/>
            <a:ext cx="12113260" cy="1795780"/>
          </a:xfrm>
          <a:prstGeom prst="rect">
            <a:avLst/>
          </a:prstGeom>
          <a:noFill/>
        </p:spPr>
        <p:txBody>
          <a:bodyPr wrap="square" rtlCol="0" anchor="t">
            <a:noAutofit/>
          </a:bodyPr>
          <a:p>
            <a:r>
              <a:rPr lang="zh-CN" altLang="en-US"/>
              <a:t>指令意图筛查：先判断指令是否存在原生恶意（如破坏、伤人），若存在直接终止推理；</a:t>
            </a:r>
            <a:endParaRPr lang="zh-CN" altLang="en-US"/>
          </a:p>
          <a:p>
            <a:r>
              <a:rPr lang="zh-CN" altLang="en-US"/>
              <a:t>交互目标检测：定位指令需要操作的物体，输出</a:t>
            </a:r>
            <a:r>
              <a:rPr lang="en-US" altLang="zh-CN"/>
              <a:t>[target_area][</a:t>
            </a:r>
            <a:r>
              <a:rPr lang="zh-CN" altLang="en-US"/>
              <a:t>描述][目标框</a:t>
            </a:r>
            <a:r>
              <a:rPr lang="en-US" altLang="zh-CN"/>
              <a:t>btarget][</a:t>
            </a:r>
            <a:r>
              <a:rPr lang="zh-CN" altLang="en-US"/>
              <a:t>状态]</a:t>
            </a:r>
            <a:r>
              <a:rPr lang="zh-CN" altLang="en-US"/>
              <a:t>；</a:t>
            </a:r>
            <a:endParaRPr lang="zh-CN" altLang="en-US"/>
          </a:p>
          <a:p>
            <a:r>
              <a:rPr lang="zh-CN" altLang="en-US"/>
              <a:t>环境约束分析：识别背景中会带来安全隐患的物体（易燃物、破损电器、化学品等），标注约束区域包围框；</a:t>
            </a:r>
            <a:endParaRPr lang="zh-CN" altLang="en-US"/>
          </a:p>
          <a:p>
            <a:r>
              <a:rPr lang="zh-CN" altLang="en-US"/>
              <a:t>综合风险判定：结合前序视觉证据，输出安全结论、危险类型、违反的安全准则。</a:t>
            </a:r>
            <a:endParaRPr lang="zh-CN" altLang="en-US"/>
          </a:p>
          <a:p>
            <a:r>
              <a:rPr lang="en-US" altLang="zh-CN"/>
              <a:t>                               </a:t>
            </a:r>
            <a:r>
              <a:rPr lang="zh-CN" altLang="en-US"/>
              <a:t>若判定场景安全，则返回</a:t>
            </a:r>
            <a:r>
              <a:rPr lang="en-US" altLang="zh-CN"/>
              <a:t>[safety_hazard][no safety hazard]</a:t>
            </a:r>
            <a:r>
              <a:rPr lang="zh-CN" altLang="en-US"/>
              <a:t>，否则生</a:t>
            </a:r>
            <a:r>
              <a:rPr lang="zh-CN" altLang="en-US"/>
              <a:t>成[</a:t>
            </a:r>
            <a:r>
              <a:rPr lang="en-US" altLang="zh-CN"/>
              <a:t>safety_hazard][description]</a:t>
            </a:r>
            <a:r>
              <a:rPr lang="zh-CN" altLang="en-US"/>
              <a:t>并附上具体的[</a:t>
            </a:r>
            <a:r>
              <a:rPr lang="en-US" altLang="zh-CN"/>
              <a:t>safety_principle][description]。</a:t>
            </a:r>
            <a:endParaRPr lang="en-US" altLang="zh-CN"/>
          </a:p>
        </p:txBody>
      </p:sp>
      <p:sp>
        <p:nvSpPr>
          <p:cNvPr id="9" name="文本框 8"/>
          <p:cNvSpPr txBox="1"/>
          <p:nvPr/>
        </p:nvSpPr>
        <p:spPr>
          <a:xfrm>
            <a:off x="8783320" y="1193165"/>
            <a:ext cx="3314700" cy="2553335"/>
          </a:xfrm>
          <a:prstGeom prst="rect">
            <a:avLst/>
          </a:prstGeom>
        </p:spPr>
        <p:txBody>
          <a:bodyPr wrap="square">
            <a:spAutoFit/>
          </a:bodyPr>
          <a:p>
            <a:pPr marL="0" indent="0"/>
            <a:r>
              <a:rPr lang="en-US" altLang="zh-CN" sz="2000">
                <a:solidFill>
                  <a:srgbClr val="000000"/>
                </a:solidFill>
                <a:latin typeface="黑体" panose="02010609060101010101" charset="-122"/>
                <a:ea typeface="黑体" panose="02010609060101010101" charset="-122"/>
                <a:cs typeface="黑体" panose="02010609060101010101" charset="-122"/>
                <a:sym typeface="+mn-ea"/>
              </a:rPr>
              <a:t>CG-CoT </a:t>
            </a:r>
            <a:r>
              <a:rPr lang="zh-CN" altLang="en-US" sz="2000">
                <a:solidFill>
                  <a:srgbClr val="000000"/>
                </a:solidFill>
                <a:latin typeface="黑体" panose="02010609060101010101" charset="-122"/>
                <a:ea typeface="黑体" panose="02010609060101010101" charset="-122"/>
                <a:cs typeface="黑体" panose="02010609060101010101" charset="-122"/>
                <a:sym typeface="+mn-ea"/>
              </a:rPr>
              <a:t>上下文引导思维链：</a:t>
            </a:r>
            <a:endParaRPr lang="zh-CN" altLang="en-US" sz="2000">
              <a:solidFill>
                <a:srgbClr val="000000"/>
              </a:solidFill>
              <a:latin typeface="黑体" panose="02010609060101010101" charset="-122"/>
              <a:ea typeface="黑体" panose="02010609060101010101" charset="-122"/>
              <a:cs typeface="黑体" panose="02010609060101010101" charset="-122"/>
              <a:sym typeface="+mn-ea"/>
            </a:endParaRPr>
          </a:p>
          <a:p>
            <a:pPr marL="0" indent="0"/>
            <a:r>
              <a:rPr lang="zh-CN" altLang="en-US" sz="2000" b="0" i="0">
                <a:solidFill>
                  <a:srgbClr val="000000"/>
                </a:solidFill>
                <a:latin typeface="黑体" panose="02010609060101010101" charset="-122"/>
                <a:ea typeface="黑体" panose="02010609060101010101" charset="-122"/>
                <a:cs typeface="黑体" panose="02010609060101010101" charset="-122"/>
              </a:rPr>
              <a:t>视觉锚定</a:t>
            </a:r>
            <a:r>
              <a:rPr lang="en-US" altLang="zh-CN" sz="2000" b="0" i="0">
                <a:solidFill>
                  <a:srgbClr val="000000"/>
                </a:solidFill>
                <a:latin typeface="黑体" panose="02010609060101010101" charset="-122"/>
                <a:ea typeface="黑体" panose="02010609060101010101" charset="-122"/>
                <a:cs typeface="黑体" panose="02010609060101010101" charset="-122"/>
              </a:rPr>
              <a:t>+ </a:t>
            </a:r>
            <a:r>
              <a:rPr lang="zh-CN" altLang="en-US" sz="2000" b="0" i="0">
                <a:solidFill>
                  <a:srgbClr val="000000"/>
                </a:solidFill>
                <a:latin typeface="黑体" panose="02010609060101010101" charset="-122"/>
                <a:ea typeface="黑体" panose="02010609060101010101" charset="-122"/>
                <a:cs typeface="黑体" panose="02010609060101010101" charset="-122"/>
              </a:rPr>
              <a:t>语义风险判定</a:t>
            </a:r>
            <a:endParaRPr lang="zh-CN" altLang="en-US" sz="2000" b="0" i="0">
              <a:solidFill>
                <a:srgbClr val="000000"/>
              </a:solidFill>
              <a:latin typeface="黑体" panose="02010609060101010101" charset="-122"/>
              <a:ea typeface="黑体" panose="02010609060101010101" charset="-122"/>
              <a:cs typeface="黑体" panose="02010609060101010101" charset="-122"/>
            </a:endParaRPr>
          </a:p>
          <a:p>
            <a:pPr marL="0" indent="0"/>
            <a:endParaRPr lang="zh-CN" altLang="en-US" sz="2000" b="0" i="0">
              <a:solidFill>
                <a:srgbClr val="000000"/>
              </a:solidFill>
              <a:latin typeface="黑体" panose="02010609060101010101" charset="-122"/>
              <a:ea typeface="黑体" panose="02010609060101010101" charset="-122"/>
              <a:cs typeface="黑体" panose="02010609060101010101" charset="-122"/>
            </a:endParaRPr>
          </a:p>
          <a:p>
            <a:pPr marL="0" indent="0"/>
            <a:r>
              <a:rPr lang="zh-CN" altLang="en-US" sz="2000" b="0" i="0">
                <a:solidFill>
                  <a:srgbClr val="000000"/>
                </a:solidFill>
                <a:latin typeface="黑体" panose="02010609060101010101" charset="-122"/>
                <a:ea typeface="黑体" panose="02010609060101010101" charset="-122"/>
                <a:cs typeface="黑体" panose="02010609060101010101" charset="-122"/>
              </a:rPr>
              <a:t>强制模型先定位交互目标、危险约束物体，再基于视觉证据推理安全结果，让安全决策可追溯、有明确图像依据。</a:t>
            </a:r>
            <a:endParaRPr lang="zh-CN" altLang="en-US" sz="2000" b="0" i="0">
              <a:solidFill>
                <a:srgbClr val="000000"/>
              </a:solidFill>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97510" y="1043940"/>
            <a:ext cx="7486650" cy="1076325"/>
          </a:xfrm>
          <a:prstGeom prst="rect">
            <a:avLst/>
          </a:prstGeom>
        </p:spPr>
        <p:txBody>
          <a:bodyPr wrap="square">
            <a:spAutoFit/>
          </a:bodyPr>
          <a:p>
            <a:pPr marL="0" indent="0"/>
            <a:r>
              <a:rPr lang="zh-CN" altLang="en-US"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数据集</a:t>
            </a:r>
            <a:r>
              <a:rPr lang="en-US" altLang="zh-CN" sz="1600">
                <a:sym typeface="+mn-ea"/>
              </a:rPr>
              <a:t>HomeSafe</a:t>
            </a:r>
            <a:endParaRPr lang="zh-CN" altLang="en-US" sz="1600"/>
          </a:p>
          <a:p>
            <a:pPr marL="0" indent="0"/>
            <a:r>
              <a:rPr lang="zh-CN" altLang="en-US"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 </a:t>
            </a:r>
            <a:r>
              <a:rPr lang="en-US" altLang="zh-CN"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包含</a:t>
            </a:r>
            <a:r>
              <a:rPr lang="en-US" altLang="zh-CN"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10257 </a:t>
            </a:r>
            <a:r>
              <a:rPr lang="zh-CN" altLang="en-US"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个危险场景、</a:t>
            </a:r>
            <a:r>
              <a:rPr lang="en-US" altLang="zh-CN"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5710 </a:t>
            </a:r>
            <a:r>
              <a:rPr lang="zh-CN" altLang="en-US"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个安全场景； 场景覆盖包括厨房、卧室、浴室、办公室等多类室内环境；风险分类包括火灾、触电、割伤、滑倒、中毒、烫伤、其他 </a:t>
            </a:r>
            <a:r>
              <a:rPr lang="en-US" altLang="zh-CN"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7 </a:t>
            </a:r>
            <a:r>
              <a:rPr lang="zh-CN" altLang="en-US"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大类。</a:t>
            </a:r>
            <a:r>
              <a:rPr lang="zh-CN" altLang="en-US" sz="16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 </a:t>
            </a:r>
            <a:endParaRPr lang="zh-CN" altLang="en-US" sz="1600" b="0" i="0">
              <a:solidFill>
                <a:srgbClr val="000000"/>
              </a:solidFill>
              <a:latin typeface="ui-sans-serif"/>
              <a:ea typeface="ui-sans-serif"/>
            </a:endParaRPr>
          </a:p>
        </p:txBody>
      </p:sp>
      <p:sp>
        <p:nvSpPr>
          <p:cNvPr id="6" name="文本框 5"/>
          <p:cNvSpPr txBox="1"/>
          <p:nvPr/>
        </p:nvSpPr>
        <p:spPr>
          <a:xfrm>
            <a:off x="198120" y="90805"/>
            <a:ext cx="6096000" cy="953135"/>
          </a:xfrm>
          <a:prstGeom prst="rect">
            <a:avLst/>
          </a:prstGeom>
          <a:noFill/>
        </p:spPr>
        <p:txBody>
          <a:bodyPr wrap="square" rtlCol="0" anchor="t">
            <a:spAutoFit/>
          </a:bodyPr>
          <a:p>
            <a:r>
              <a:rPr lang="zh-CN" altLang="en-US" sz="2800">
                <a:solidFill>
                  <a:srgbClr val="FF0000"/>
                </a:solidFill>
                <a:sym typeface="+mn-ea"/>
              </a:rPr>
              <a:t>0</a:t>
            </a:r>
            <a:r>
              <a:rPr lang="en-US" altLang="zh-CN" sz="2800">
                <a:solidFill>
                  <a:srgbClr val="FF0000"/>
                </a:solidFill>
                <a:sym typeface="+mn-ea"/>
              </a:rPr>
              <a:t>3</a:t>
            </a:r>
            <a:r>
              <a:rPr lang="en-US" altLang="zh-CN" sz="2800">
                <a:solidFill>
                  <a:srgbClr val="FF0000"/>
                </a:solidFill>
                <a:sym typeface="+mn-ea"/>
              </a:rPr>
              <a:t>HomeSafe</a:t>
            </a:r>
            <a:r>
              <a:rPr lang="zh-CN" altLang="en-US" sz="2800">
                <a:solidFill>
                  <a:srgbClr val="FF0000"/>
                </a:solidFill>
                <a:sym typeface="+mn-ea"/>
              </a:rPr>
              <a:t>数据集</a:t>
            </a:r>
            <a:endParaRPr lang="zh-CN" altLang="en-US" sz="2800">
              <a:solidFill>
                <a:srgbClr val="FF0000"/>
              </a:solidFill>
            </a:endParaRPr>
          </a:p>
          <a:p>
            <a:endParaRPr lang="zh-CN" altLang="en-US" sz="2800">
              <a:solidFill>
                <a:srgbClr val="FF0000"/>
              </a:solidFill>
              <a:latin typeface="黑体" panose="02010609060101010101" charset="-122"/>
              <a:ea typeface="黑体" panose="02010609060101010101" charset="-122"/>
              <a:cs typeface="黑体" panose="02010609060101010101" charset="-122"/>
              <a:sym typeface="+mn-ea"/>
            </a:endParaRPr>
          </a:p>
        </p:txBody>
      </p:sp>
      <p:pic>
        <p:nvPicPr>
          <p:cNvPr id="9" name="图片 8"/>
          <p:cNvPicPr>
            <a:picLocks noChangeAspect="1"/>
          </p:cNvPicPr>
          <p:nvPr/>
        </p:nvPicPr>
        <p:blipFill>
          <a:blip r:embed="rId1"/>
          <a:stretch>
            <a:fillRect/>
          </a:stretch>
        </p:blipFill>
        <p:spPr>
          <a:xfrm>
            <a:off x="461010" y="2192655"/>
            <a:ext cx="6613525" cy="4176395"/>
          </a:xfrm>
          <a:prstGeom prst="rect">
            <a:avLst/>
          </a:prstGeom>
        </p:spPr>
      </p:pic>
      <p:sp>
        <p:nvSpPr>
          <p:cNvPr id="2" name="文本框 1"/>
          <p:cNvSpPr txBox="1"/>
          <p:nvPr/>
        </p:nvSpPr>
        <p:spPr>
          <a:xfrm>
            <a:off x="7112000" y="2484755"/>
            <a:ext cx="5080000" cy="2584450"/>
          </a:xfrm>
          <a:prstGeom prst="rect">
            <a:avLst/>
          </a:prstGeom>
        </p:spPr>
        <p:txBody>
          <a:bodyPr>
            <a:spAutoFit/>
          </a:bodyPr>
          <a:p>
            <a:pPr marL="0" indent="0">
              <a:spcBef>
                <a:spcPct val="0"/>
              </a:spcBef>
              <a:spcAft>
                <a:spcPct val="0"/>
              </a:spcAft>
              <a:buAutoNum type="arabicPeriod"/>
            </a:pP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场景规划：用</a:t>
            </a:r>
            <a:r>
              <a:rPr lang="en-US" altLang="zh-CN" b="0" i="0">
                <a:solidFill>
                  <a:srgbClr val="0F1115"/>
                </a:solidFill>
                <a:latin typeface="宋体" panose="02010600030101010101" pitchFamily="2" charset="-122"/>
                <a:ea typeface="宋体" panose="02010600030101010101" pitchFamily="2" charset="-122"/>
                <a:cs typeface="宋体" panose="02010600030101010101" pitchFamily="2" charset="-122"/>
              </a:rPr>
              <a:t>VLM</a:t>
            </a: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a:t>
            </a:r>
            <a:r>
              <a:rPr lang="en-US" altLang="zh-CN" b="0" i="0">
                <a:solidFill>
                  <a:srgbClr val="0F1115"/>
                </a:solidFill>
                <a:latin typeface="宋体" panose="02010600030101010101" pitchFamily="2" charset="-122"/>
                <a:ea typeface="宋体" panose="02010600030101010101" pitchFamily="2" charset="-122"/>
                <a:cs typeface="宋体" panose="02010600030101010101" pitchFamily="2" charset="-122"/>
              </a:rPr>
              <a:t>Gemini-2.5-Pro</a:t>
            </a: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）基于种子图像设计</a:t>
            </a:r>
            <a:r>
              <a:rPr lang="en-US" altLang="zh-CN" b="0" i="0">
                <a:solidFill>
                  <a:srgbClr val="0F1115"/>
                </a:solidFill>
                <a:latin typeface="宋体" panose="02010600030101010101" pitchFamily="2" charset="-122"/>
                <a:ea typeface="宋体" panose="02010600030101010101" pitchFamily="2" charset="-122"/>
                <a:cs typeface="宋体" panose="02010600030101010101" pitchFamily="2" charset="-122"/>
              </a:rPr>
              <a:t>“</a:t>
            </a: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危险图</a:t>
            </a:r>
            <a:r>
              <a:rPr lang="en-US" altLang="zh-CN" b="0" i="0">
                <a:solidFill>
                  <a:srgbClr val="0F1115"/>
                </a:solidFill>
                <a:latin typeface="宋体" panose="02010600030101010101" pitchFamily="2" charset="-122"/>
                <a:ea typeface="宋体" panose="02010600030101010101" pitchFamily="2" charset="-122"/>
                <a:cs typeface="宋体" panose="02010600030101010101" pitchFamily="2" charset="-122"/>
              </a:rPr>
              <a:t>”</a:t>
            </a: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和</a:t>
            </a:r>
            <a:r>
              <a:rPr lang="en-US" altLang="zh-CN" b="0" i="0">
                <a:solidFill>
                  <a:srgbClr val="0F1115"/>
                </a:solidFill>
                <a:latin typeface="宋体" panose="02010600030101010101" pitchFamily="2" charset="-122"/>
                <a:ea typeface="宋体" panose="02010600030101010101" pitchFamily="2" charset="-122"/>
                <a:cs typeface="宋体" panose="02010600030101010101" pitchFamily="2" charset="-122"/>
              </a:rPr>
              <a:t>“</a:t>
            </a: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安全图</a:t>
            </a:r>
            <a:r>
              <a:rPr lang="en-US" altLang="zh-CN" b="0" i="0">
                <a:solidFill>
                  <a:srgbClr val="0F1115"/>
                </a:solidFill>
                <a:latin typeface="宋体" panose="02010600030101010101" pitchFamily="2" charset="-122"/>
                <a:ea typeface="宋体" panose="02010600030101010101" pitchFamily="2" charset="-122"/>
                <a:cs typeface="宋体" panose="02010600030101010101" pitchFamily="2" charset="-122"/>
              </a:rPr>
              <a:t>”</a:t>
            </a:r>
            <a:endPar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marL="0" indent="0">
              <a:spcBef>
                <a:spcPct val="0"/>
              </a:spcBef>
              <a:spcAft>
                <a:spcPct val="0"/>
              </a:spcAft>
              <a:buAutoNum type="arabicPeriod"/>
            </a:pP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图像编辑：用</a:t>
            </a:r>
            <a:r>
              <a:rPr lang="en-US" altLang="zh-CN" b="0" i="0">
                <a:solidFill>
                  <a:srgbClr val="0F1115"/>
                </a:solidFill>
                <a:latin typeface="宋体" panose="02010600030101010101" pitchFamily="2" charset="-122"/>
                <a:ea typeface="宋体" panose="02010600030101010101" pitchFamily="2" charset="-122"/>
                <a:cs typeface="宋体" panose="02010600030101010101" pitchFamily="2" charset="-122"/>
              </a:rPr>
              <a:t>Qwen-Image-Edit</a:t>
            </a: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和</a:t>
            </a:r>
            <a:r>
              <a:rPr lang="en-US" altLang="zh-CN" b="0" i="0">
                <a:solidFill>
                  <a:srgbClr val="0F1115"/>
                </a:solidFill>
                <a:latin typeface="宋体" panose="02010600030101010101" pitchFamily="2" charset="-122"/>
                <a:ea typeface="宋体" panose="02010600030101010101" pitchFamily="2" charset="-122"/>
                <a:cs typeface="宋体" panose="02010600030101010101" pitchFamily="2" charset="-122"/>
              </a:rPr>
              <a:t>GPT-Image-1-Mini</a:t>
            </a: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在种子图像上插入或替换物体。</a:t>
            </a:r>
            <a:endPar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marL="0" indent="0">
              <a:spcBef>
                <a:spcPct val="0"/>
              </a:spcBef>
              <a:spcAft>
                <a:spcPct val="0"/>
              </a:spcAft>
              <a:buAutoNum type="arabicPeriod"/>
            </a:pP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质量过滤：用</a:t>
            </a:r>
            <a:r>
              <a:rPr lang="en-US" altLang="zh-CN" b="0" i="0">
                <a:solidFill>
                  <a:srgbClr val="0F1115"/>
                </a:solidFill>
                <a:latin typeface="宋体" panose="02010600030101010101" pitchFamily="2" charset="-122"/>
                <a:ea typeface="宋体" panose="02010600030101010101" pitchFamily="2" charset="-122"/>
                <a:cs typeface="宋体" panose="02010600030101010101" pitchFamily="2" charset="-122"/>
              </a:rPr>
              <a:t>Qwen3-VL-235B</a:t>
            </a: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自动检查生成质量</a:t>
            </a:r>
            <a:endPar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endParaRPr>
          </a:p>
          <a:p>
            <a:pPr marL="0" indent="0">
              <a:spcBef>
                <a:spcPct val="0"/>
              </a:spcBef>
              <a:spcAft>
                <a:spcPct val="0"/>
              </a:spcAft>
              <a:buAutoNum type="arabicPeriod"/>
            </a:pP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视觉-文本标注：用标注引擎（</a:t>
            </a:r>
            <a:r>
              <a:rPr lang="en-US" altLang="zh-CN" b="0" i="0">
                <a:solidFill>
                  <a:srgbClr val="0F1115"/>
                </a:solidFill>
                <a:latin typeface="宋体" panose="02010600030101010101" pitchFamily="2" charset="-122"/>
                <a:ea typeface="宋体" panose="02010600030101010101" pitchFamily="2" charset="-122"/>
                <a:cs typeface="宋体" panose="02010600030101010101" pitchFamily="2" charset="-122"/>
              </a:rPr>
              <a:t>Grounding DINO</a:t>
            </a:r>
            <a:r>
              <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rPr>
              <a:t>等）生成边界框，状态描述，推理轨迹，人工核查。</a:t>
            </a:r>
            <a:endParaRPr lang="zh-CN" altLang="en-US" b="0" i="0">
              <a:solidFill>
                <a:srgbClr val="0F1115"/>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782320"/>
            <a:ext cx="8638540" cy="4740910"/>
          </a:xfrm>
          <a:prstGeom prst="rect">
            <a:avLst/>
          </a:prstGeom>
        </p:spPr>
      </p:pic>
      <p:sp>
        <p:nvSpPr>
          <p:cNvPr id="4" name="文本框 3"/>
          <p:cNvSpPr txBox="1"/>
          <p:nvPr/>
        </p:nvSpPr>
        <p:spPr>
          <a:xfrm>
            <a:off x="8659495" y="956310"/>
            <a:ext cx="3532505" cy="1014730"/>
          </a:xfrm>
          <a:prstGeom prst="rect">
            <a:avLst/>
          </a:prstGeom>
          <a:noFill/>
        </p:spPr>
        <p:txBody>
          <a:bodyPr wrap="square" rtlCol="0" anchor="t">
            <a:spAutoFit/>
          </a:bodyPr>
          <a:p>
            <a:pPr marL="0" indent="0"/>
            <a:r>
              <a:rPr lang="zh-CN" altLang="en-US" sz="2000" b="1">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阶段 </a:t>
            </a:r>
            <a:r>
              <a:rPr lang="en-US" altLang="zh-CN" sz="2000" b="1">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1</a:t>
            </a:r>
            <a:r>
              <a:rPr lang="zh-CN" altLang="en-US" sz="2000" b="1">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000" b="1" i="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0" indent="0"/>
            <a:r>
              <a:rPr lang="zh-CN" altLang="en-US"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监督微调 </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SFT</a:t>
            </a:r>
            <a:endPar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endParaRPr>
          </a:p>
          <a:p>
            <a:pPr marL="0" indent="0"/>
            <a:r>
              <a:rPr lang="zh-CN" altLang="en-US"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LoRA </a:t>
            </a:r>
            <a:r>
              <a:rPr lang="zh-CN" altLang="en-US"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轻量化微调）</a:t>
            </a:r>
            <a:endParaRPr lang="zh-CN" altLang="en-US"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6" name="文本框 5"/>
          <p:cNvSpPr txBox="1"/>
          <p:nvPr/>
        </p:nvSpPr>
        <p:spPr>
          <a:xfrm>
            <a:off x="8638540" y="1971040"/>
            <a:ext cx="3478530" cy="1014730"/>
          </a:xfrm>
          <a:prstGeom prst="rect">
            <a:avLst/>
          </a:prstGeom>
          <a:noFill/>
        </p:spPr>
        <p:txBody>
          <a:bodyPr wrap="square" rtlCol="0" anchor="t">
            <a:spAutoFit/>
          </a:bodyPr>
          <a:p>
            <a:pPr algn="l">
              <a:buClrTx/>
              <a:buSzTx/>
              <a:buNone/>
            </a:pPr>
            <a:r>
              <a:rPr lang="en-US" altLang="zh-CN">
                <a:sym typeface="+mn-ea"/>
              </a:rPr>
              <a:t> </a:t>
            </a:r>
            <a:r>
              <a:rPr lang="en-US" altLang="zh-CN">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  将基本安全原则内化到基础模型中，同时形成一种结构化的推理模式。</a:t>
            </a:r>
            <a:endParaRPr lang="zh-CN" altLang="en-US"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 name="文本框 6"/>
          <p:cNvSpPr txBox="1"/>
          <p:nvPr/>
        </p:nvSpPr>
        <p:spPr>
          <a:xfrm>
            <a:off x="64135" y="142875"/>
            <a:ext cx="6096000" cy="521970"/>
          </a:xfrm>
          <a:prstGeom prst="rect">
            <a:avLst/>
          </a:prstGeom>
          <a:noFill/>
        </p:spPr>
        <p:txBody>
          <a:bodyPr wrap="square" rtlCol="0" anchor="t">
            <a:spAutoFit/>
          </a:bodyPr>
          <a:p>
            <a:pPr marL="0" indent="0"/>
            <a:r>
              <a:rPr lang="zh-CN" altLang="en-US" sz="2800">
                <a:solidFill>
                  <a:srgbClr val="FF0000"/>
                </a:solidFill>
                <a:sym typeface="+mn-ea"/>
              </a:rPr>
              <a:t>0</a:t>
            </a:r>
            <a:r>
              <a:rPr lang="en-US" altLang="zh-CN" sz="2800">
                <a:solidFill>
                  <a:srgbClr val="FF0000"/>
                </a:solidFill>
                <a:sym typeface="+mn-ea"/>
              </a:rPr>
              <a:t>4</a:t>
            </a:r>
            <a:r>
              <a:rPr lang="zh-CN" altLang="en-US" sz="2800">
                <a:solidFill>
                  <a:srgbClr val="FF0000"/>
                </a:solidFill>
                <a:latin typeface="ui-sans-serif"/>
                <a:ea typeface="ui-sans-serif"/>
                <a:sym typeface="+mn-ea"/>
              </a:rPr>
              <a:t>模型两阶段训练（</a:t>
            </a:r>
            <a:r>
              <a:rPr lang="en-US" altLang="zh-CN" sz="2800">
                <a:solidFill>
                  <a:srgbClr val="FF0000"/>
                </a:solidFill>
                <a:latin typeface="ui-sans-serif"/>
                <a:ea typeface="ui-sans-serif"/>
                <a:sym typeface="+mn-ea"/>
              </a:rPr>
              <a:t>SFT+RFT</a:t>
            </a:r>
            <a:r>
              <a:rPr lang="zh-CN" altLang="en-US" sz="2800">
                <a:solidFill>
                  <a:srgbClr val="FF0000"/>
                </a:solidFill>
                <a:latin typeface="ui-sans-serif"/>
                <a:ea typeface="ui-sans-serif"/>
                <a:sym typeface="+mn-ea"/>
              </a:rPr>
              <a:t>）</a:t>
            </a:r>
            <a:endParaRPr lang="zh-CN" altLang="en-US" sz="2800">
              <a:solidFill>
                <a:srgbClr val="FF0000"/>
              </a:solidFill>
              <a:latin typeface="ui-sans-serif"/>
              <a:ea typeface="ui-sans-serif"/>
              <a:cs typeface="黑体" panose="02010609060101010101"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782320"/>
            <a:ext cx="8816975" cy="4740910"/>
          </a:xfrm>
          <a:prstGeom prst="rect">
            <a:avLst/>
          </a:prstGeom>
        </p:spPr>
      </p:pic>
      <p:sp>
        <p:nvSpPr>
          <p:cNvPr id="5" name="文本框 4"/>
          <p:cNvSpPr txBox="1"/>
          <p:nvPr/>
        </p:nvSpPr>
        <p:spPr>
          <a:xfrm>
            <a:off x="8637905" y="1129030"/>
            <a:ext cx="3554095" cy="869315"/>
          </a:xfrm>
          <a:prstGeom prst="rect">
            <a:avLst/>
          </a:prstGeom>
          <a:noFill/>
        </p:spPr>
        <p:txBody>
          <a:bodyPr wrap="square" rtlCol="0" anchor="t">
            <a:noAutofit/>
          </a:bodyPr>
          <a:p>
            <a:pPr marL="0" algn="l">
              <a:lnSpc>
                <a:spcPct val="100000"/>
              </a:lnSpc>
              <a:buClrTx/>
              <a:buSzTx/>
              <a:buFontTx/>
            </a:pPr>
            <a:r>
              <a:rPr lang="zh-CN" altLang="en-US" sz="2000" b="1">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阶段 2：</a:t>
            </a:r>
            <a:endParaRPr lang="zh-CN" altLang="en-US" sz="2000" b="1">
              <a:solidFill>
                <a:srgbClr val="000000"/>
              </a:solidFill>
              <a:latin typeface="宋体" panose="02010600030101010101" pitchFamily="2" charset="-122"/>
              <a:ea typeface="宋体" panose="02010600030101010101" pitchFamily="2" charset="-122"/>
              <a:cs typeface="宋体" panose="02010600030101010101" pitchFamily="2" charset="-122"/>
              <a:sym typeface="+mn-ea"/>
            </a:endParaRPr>
          </a:p>
          <a:p>
            <a:pPr marL="0" algn="l">
              <a:lnSpc>
                <a:spcPct val="100000"/>
              </a:lnSpc>
              <a:buClrTx/>
              <a:buSzTx/>
              <a:buFontTx/>
            </a:pPr>
            <a:r>
              <a:rPr lang="zh-CN" altLang="en-US"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强化微调 RFT</a:t>
            </a:r>
            <a:endParaRPr lang="zh-CN" altLang="en-US"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endParaRPr>
          </a:p>
          <a:p>
            <a:pPr marL="0" algn="l">
              <a:lnSpc>
                <a:spcPct val="100000"/>
              </a:lnSpc>
              <a:buClrTx/>
              <a:buSzTx/>
              <a:buFontTx/>
            </a:pPr>
            <a:r>
              <a:rPr lang="zh-CN" altLang="en-US"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（GRPO 分组相对策略优化）</a:t>
            </a:r>
            <a:endParaRPr lang="zh-CN" altLang="en-US" sz="2000">
              <a:solidFill>
                <a:srgbClr val="000000"/>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 name="文本框 6"/>
          <p:cNvSpPr txBox="1"/>
          <p:nvPr/>
        </p:nvSpPr>
        <p:spPr>
          <a:xfrm>
            <a:off x="64135" y="142875"/>
            <a:ext cx="6096000" cy="521970"/>
          </a:xfrm>
          <a:prstGeom prst="rect">
            <a:avLst/>
          </a:prstGeom>
          <a:noFill/>
        </p:spPr>
        <p:txBody>
          <a:bodyPr wrap="square" rtlCol="0" anchor="t">
            <a:spAutoFit/>
          </a:bodyPr>
          <a:p>
            <a:pPr marL="0" indent="0"/>
            <a:r>
              <a:rPr lang="zh-CN" altLang="en-US" sz="2800">
                <a:solidFill>
                  <a:srgbClr val="FF0000"/>
                </a:solidFill>
                <a:sym typeface="+mn-ea"/>
              </a:rPr>
              <a:t>0</a:t>
            </a:r>
            <a:r>
              <a:rPr lang="en-US" altLang="zh-CN" sz="2800">
                <a:solidFill>
                  <a:srgbClr val="FF0000"/>
                </a:solidFill>
                <a:sym typeface="+mn-ea"/>
              </a:rPr>
              <a:t>4</a:t>
            </a:r>
            <a:r>
              <a:rPr lang="zh-CN" altLang="en-US" sz="2800">
                <a:solidFill>
                  <a:srgbClr val="FF0000"/>
                </a:solidFill>
                <a:latin typeface="ui-sans-serif"/>
                <a:ea typeface="ui-sans-serif"/>
                <a:sym typeface="+mn-ea"/>
              </a:rPr>
              <a:t>模型两阶段训练（</a:t>
            </a:r>
            <a:r>
              <a:rPr lang="en-US" altLang="zh-CN" sz="2800">
                <a:solidFill>
                  <a:srgbClr val="FF0000"/>
                </a:solidFill>
                <a:latin typeface="ui-sans-serif"/>
                <a:ea typeface="ui-sans-serif"/>
                <a:sym typeface="+mn-ea"/>
              </a:rPr>
              <a:t>SFT+RFT</a:t>
            </a:r>
            <a:r>
              <a:rPr lang="zh-CN" altLang="en-US" sz="2800">
                <a:solidFill>
                  <a:srgbClr val="FF0000"/>
                </a:solidFill>
                <a:latin typeface="ui-sans-serif"/>
                <a:ea typeface="ui-sans-serif"/>
                <a:sym typeface="+mn-ea"/>
              </a:rPr>
              <a:t>）</a:t>
            </a:r>
            <a:endParaRPr lang="zh-CN" altLang="en-US" sz="2800">
              <a:solidFill>
                <a:srgbClr val="FF0000"/>
              </a:solidFill>
              <a:latin typeface="ui-sans-serif"/>
              <a:ea typeface="ui-sans-serif"/>
              <a:cs typeface="黑体" panose="02010609060101010101" charset="-122"/>
              <a:sym typeface="+mn-ea"/>
            </a:endParaRPr>
          </a:p>
        </p:txBody>
      </p:sp>
      <p:pic>
        <p:nvPicPr>
          <p:cNvPr id="8" name="图片 7"/>
          <p:cNvPicPr>
            <a:picLocks noChangeAspect="1"/>
          </p:cNvPicPr>
          <p:nvPr/>
        </p:nvPicPr>
        <p:blipFill>
          <a:blip r:embed="rId2"/>
          <a:stretch>
            <a:fillRect/>
          </a:stretch>
        </p:blipFill>
        <p:spPr>
          <a:xfrm>
            <a:off x="2576830" y="5640705"/>
            <a:ext cx="6366510" cy="1031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67640" y="71120"/>
            <a:ext cx="6096000" cy="521970"/>
          </a:xfrm>
          <a:prstGeom prst="rect">
            <a:avLst/>
          </a:prstGeom>
          <a:noFill/>
        </p:spPr>
        <p:txBody>
          <a:bodyPr wrap="square" rtlCol="0" anchor="t">
            <a:spAutoFit/>
          </a:bodyPr>
          <a:p>
            <a:r>
              <a:rPr lang="zh-CN" altLang="en-US" sz="2800">
                <a:solidFill>
                  <a:srgbClr val="FF0000"/>
                </a:solidFill>
                <a:sym typeface="+mn-ea"/>
              </a:rPr>
              <a:t>0</a:t>
            </a:r>
            <a:r>
              <a:rPr lang="en-US" altLang="zh-CN" sz="2800">
                <a:solidFill>
                  <a:srgbClr val="FF0000"/>
                </a:solidFill>
                <a:sym typeface="+mn-ea"/>
              </a:rPr>
              <a:t>4</a:t>
            </a:r>
            <a:r>
              <a:rPr lang="zh-CN" altLang="en-US" sz="2800">
                <a:solidFill>
                  <a:srgbClr val="FF0000"/>
                </a:solidFill>
                <a:sym typeface="+mn-ea"/>
              </a:rPr>
              <a:t>实验</a:t>
            </a:r>
            <a:endParaRPr lang="zh-CN" altLang="en-US" sz="2800">
              <a:solidFill>
                <a:srgbClr val="FF0000"/>
              </a:solidFill>
              <a:sym typeface="+mn-ea"/>
            </a:endParaRPr>
          </a:p>
        </p:txBody>
      </p:sp>
      <p:sp>
        <p:nvSpPr>
          <p:cNvPr id="5" name="文本框 4"/>
          <p:cNvSpPr txBox="1"/>
          <p:nvPr/>
        </p:nvSpPr>
        <p:spPr>
          <a:xfrm>
            <a:off x="733425" y="5455920"/>
            <a:ext cx="6569710" cy="1765935"/>
          </a:xfrm>
          <a:prstGeom prst="rect">
            <a:avLst/>
          </a:prstGeom>
        </p:spPr>
        <p:txBody>
          <a:bodyPr>
            <a:noAutofit/>
          </a:bodyPr>
          <a:p>
            <a:pPr marL="0" indent="0"/>
            <a:r>
              <a:rPr lang="zh-CN" altLang="en-US" b="0" i="0">
                <a:solidFill>
                  <a:srgbClr val="000000"/>
                </a:solidFill>
                <a:latin typeface="宋体" panose="02010600030101010101" pitchFamily="2" charset="-122"/>
                <a:ea typeface="宋体" panose="02010600030101010101" pitchFamily="2" charset="-122"/>
                <a:cs typeface="宋体" panose="02010600030101010101" pitchFamily="2" charset="-122"/>
              </a:rPr>
              <a:t>输入单张室内 </a:t>
            </a:r>
            <a:r>
              <a:rPr lang="en-US" altLang="zh-CN" b="0" i="0">
                <a:solidFill>
                  <a:srgbClr val="000000"/>
                </a:solidFill>
                <a:latin typeface="宋体" panose="02010600030101010101" pitchFamily="2" charset="-122"/>
                <a:ea typeface="宋体" panose="02010600030101010101" pitchFamily="2" charset="-122"/>
                <a:cs typeface="宋体" panose="02010600030101010101" pitchFamily="2" charset="-122"/>
              </a:rPr>
              <a:t>RGB </a:t>
            </a:r>
            <a:r>
              <a:rPr lang="zh-CN" altLang="en-US" b="0" i="0">
                <a:solidFill>
                  <a:srgbClr val="000000"/>
                </a:solidFill>
                <a:latin typeface="宋体" panose="02010600030101010101" pitchFamily="2" charset="-122"/>
                <a:ea typeface="宋体" panose="02010600030101010101" pitchFamily="2" charset="-122"/>
                <a:cs typeface="宋体" panose="02010600030101010101" pitchFamily="2" charset="-122"/>
              </a:rPr>
              <a:t>图像 </a:t>
            </a:r>
            <a:r>
              <a:rPr lang="en-US" altLang="zh-CN" b="0" i="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zh-CN" altLang="en-US" b="0" i="0">
                <a:solidFill>
                  <a:srgbClr val="000000"/>
                </a:solidFill>
                <a:latin typeface="宋体" panose="02010600030101010101" pitchFamily="2" charset="-122"/>
                <a:ea typeface="宋体" panose="02010600030101010101" pitchFamily="2" charset="-122"/>
                <a:cs typeface="宋体" panose="02010600030101010101" pitchFamily="2" charset="-122"/>
              </a:rPr>
              <a:t>家务自然语言指令进行评判</a:t>
            </a:r>
            <a:r>
              <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0" indent="0"/>
            <a:endPar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1"/>
          <a:stretch>
            <a:fillRect/>
          </a:stretch>
        </p:blipFill>
        <p:spPr>
          <a:xfrm>
            <a:off x="526415" y="894715"/>
            <a:ext cx="8441055" cy="4339590"/>
          </a:xfrm>
          <a:prstGeom prst="rect">
            <a:avLst/>
          </a:prstGeom>
        </p:spPr>
      </p:pic>
    </p:spTree>
  </p:cSld>
  <p:clrMapOvr>
    <a:masterClrMapping/>
  </p:clrMapOvr>
</p:sld>
</file>

<file path=ppt/tags/tag1.xml><?xml version="1.0" encoding="utf-8"?>
<p:tagLst xmlns:p="http://schemas.openxmlformats.org/presentationml/2006/main">
  <p:tag name="KSO_WM_AICARD_INVALID" val="Invalid"/>
</p:tagLst>
</file>

<file path=ppt/tags/tag2.xml><?xml version="1.0" encoding="utf-8"?>
<p:tagLst xmlns:p="http://schemas.openxmlformats.org/presentationml/2006/main">
  <p:tag name="TABLE_ENDDRAG_ORIGIN_RECT" val="886*338"/>
  <p:tag name="TABLE_ENDDRAG_RECT" val="55*162*886*338"/>
</p:tagLst>
</file>

<file path=ppt/tags/tag3.xml><?xml version="1.0" encoding="utf-8"?>
<p:tagLst xmlns:p="http://schemas.openxmlformats.org/presentationml/2006/main">
  <p:tag name="resource_record_key" val="{&quot;29&quot;:[50053246,50052953]}"/>
</p:tagLst>
</file>

<file path=ppt/theme/theme1.xml><?xml version="1.0" encoding="utf-8"?>
<a:theme xmlns:a="http://schemas.openxmlformats.org/drawingml/2006/main" name="2_Office 主题​​">
  <a:themeElements>
    <a:clrScheme name="">
      <a:dk1>
        <a:srgbClr val="000000"/>
      </a:dk1>
      <a:lt1>
        <a:srgbClr val="FFFFFF"/>
      </a:lt1>
      <a:dk2>
        <a:srgbClr val="44546A"/>
      </a:dk2>
      <a:lt2>
        <a:srgbClr val="E7E6E6"/>
      </a:lt2>
      <a:accent1>
        <a:srgbClr val="CC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稻壳儿">
      <a:majorFont>
        <a:latin typeface="思源黑体 CN Bold"/>
        <a:ea typeface="思源黑体 CN Bold"/>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2612</Words>
  <Application>WPS 演示</Application>
  <PresentationFormat>宽屏</PresentationFormat>
  <Paragraphs>181</Paragraphs>
  <Slides>15</Slides>
  <Notes>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15</vt:i4>
      </vt:variant>
    </vt:vector>
  </HeadingPairs>
  <TitlesOfParts>
    <vt:vector size="33" baseType="lpstr">
      <vt:lpstr>Arial</vt:lpstr>
      <vt:lpstr>宋体</vt:lpstr>
      <vt:lpstr>Wingdings</vt:lpstr>
      <vt:lpstr>思源黑体 CN Regular</vt:lpstr>
      <vt:lpstr>黑体</vt:lpstr>
      <vt:lpstr>Times New Roman</vt:lpstr>
      <vt:lpstr>微软雅黑</vt:lpstr>
      <vt:lpstr>Arial</vt:lpstr>
      <vt:lpstr>Wingdings</vt:lpstr>
      <vt:lpstr>quote-cjk-patch</vt:lpstr>
      <vt:lpstr>Noto Sans SC</vt:lpstr>
      <vt:lpstr>ui-sans-serif</vt:lpstr>
      <vt:lpstr>Segoe Print</vt:lpstr>
      <vt:lpstr>KSOF28C8607A</vt:lpstr>
      <vt:lpstr>Arial Unicode MS</vt:lpstr>
      <vt:lpstr>思源黑体 CN Bold</vt:lpstr>
      <vt:lpstr>Calibri</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WPS_1670505649</cp:lastModifiedBy>
  <cp:revision>170</cp:revision>
  <dcterms:created xsi:type="dcterms:W3CDTF">2019-06-19T02:08:00Z</dcterms:created>
  <dcterms:modified xsi:type="dcterms:W3CDTF">2026-09-08T06:59:16Z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654055AE2DB347EDA0B12BA2D8EE4F7C_13</vt:lpwstr>
  </property>
</Properties>
</file>