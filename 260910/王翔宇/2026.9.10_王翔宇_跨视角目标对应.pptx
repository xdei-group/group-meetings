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7" r:id="rId13"/>
    <p:sldId id="268" r:id="rId14"/>
    <p:sldId id="260" r:id="rId15"/>
    <p:sldId id="259" r:id="rId16"/>
    <p:sldId id="261" r:id="rId17"/>
    <p:sldId id="267" r:id="rId18"/>
    <p:sldId id="263" r:id="rId19"/>
    <p:sldId id="264" r:id="rId2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26"/>
    <p:restoredTop sz="95090" autoAdjust="0"/>
  </p:normalViewPr>
  <p:slideViewPr>
    <p:cSldViewPr showGuides="1">
      <p:cViewPr varScale="1">
        <p:scale>
          <a:sx n="63" d="100"/>
          <a:sy n="63" d="100"/>
        </p:scale>
        <p:origin x="200" y="1392"/>
      </p:cViewPr>
      <p:guideLst>
        <p:guide orient="horz" pos="2160"/>
        <p:guide pos="28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1341120"/>
            <a:ext cx="9144000" cy="26822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36010" y="414877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800" b="1">
                <a:solidFill>
                  <a:schemeClr val="tx1"/>
                </a:solidFill>
                <a:uFillTx/>
              </a:rPr>
              <a:t>CVPR 2026</a:t>
            </a:r>
            <a:endParaRPr lang="en-US" altLang="zh-CN" sz="1800" b="1">
              <a:solidFill>
                <a:schemeClr val="tx1"/>
              </a:solidFill>
              <a:uFillTx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28080" y="487045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汇报人：</a:t>
            </a:r>
            <a:r>
              <a:rPr lang="zh-CN" altLang="en-US"/>
              <a:t>王翔宇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-13552" y="836712"/>
            <a:ext cx="259228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研究背景</a:t>
            </a:r>
            <a:endParaRPr lang="zh-CN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323528" y="1643078"/>
            <a:ext cx="8208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zh-CN" altLang="zh-CN" dirty="0"/>
              <a:t>同一物体在第一视角和第三视角下往往存在明显的外观、尺度、遮挡和空间位置差异</a:t>
            </a:r>
            <a:r>
              <a:rPr lang="zh-CN" altLang="en-US" dirty="0"/>
              <a:t>，同时，</a:t>
            </a:r>
            <a:r>
              <a:rPr lang="zh-CN" altLang="zh-CN" dirty="0"/>
              <a:t>不同视角中的背景与上下文也可能完全不同，因此仅依赖外观相似性或传统跟踪方式很难稳定地判断“是不是同一个实例”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39" name="文本框 38"/>
          <p:cNvSpPr txBox="1"/>
          <p:nvPr/>
        </p:nvSpPr>
        <p:spPr>
          <a:xfrm>
            <a:off x="323528" y="2547906"/>
            <a:ext cx="7992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zh-CN" dirty="0"/>
              <a:t> 因此，跨视角对应需要学习对视角变化更鲁棒的实例表示，在外观和空间位置发生明显变化时，仍能够判断两个视角中是否为同一个目标。</a:t>
            </a:r>
            <a:endParaRPr lang="zh-CN" altLang="en-US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50" y="3200541"/>
            <a:ext cx="6029865" cy="35045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347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-12197" y="830375"/>
            <a:ext cx="259228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核心思路</a:t>
            </a:r>
            <a:endParaRPr lang="zh-CN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87524" y="1556792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把目标对应改为条件二值分割，不直接预测该目标对应哪个实例，而去预测目标图中每个目标块是否为对应目标。</a:t>
            </a:r>
            <a:endParaRPr kumimoji="1" lang="zh-CN" altLang="en-US" dirty="0"/>
          </a:p>
        </p:txBody>
      </p:sp>
      <p:sp>
        <p:nvSpPr>
          <p:cNvPr id="5" name="Shape 3"/>
          <p:cNvSpPr/>
          <p:nvPr/>
        </p:nvSpPr>
        <p:spPr>
          <a:xfrm>
            <a:off x="106712" y="2376331"/>
            <a:ext cx="8568952" cy="17727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7DA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ounded Rectangle 25"/>
          <p:cNvSpPr/>
          <p:nvPr/>
        </p:nvSpPr>
        <p:spPr>
          <a:xfrm>
            <a:off x="232387" y="2613892"/>
            <a:ext cx="1888849" cy="273588"/>
          </a:xfrm>
          <a:prstGeom prst="roundRect">
            <a:avLst/>
          </a:prstGeom>
          <a:solidFill>
            <a:srgbClr val="EBF6F8"/>
          </a:solidFill>
          <a:ln w="12700">
            <a:solidFill>
              <a:srgbClr val="9B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 dirty="0">
                <a:solidFill>
                  <a:srgbClr val="124B48"/>
                </a:solidFill>
                <a:latin typeface="Noto Sans CJK SC"/>
              </a:rPr>
              <a:t>Source </a:t>
            </a:r>
            <a:r>
              <a:rPr sz="1200" b="1">
                <a:solidFill>
                  <a:srgbClr val="124B48"/>
                </a:solidFill>
                <a:latin typeface="Noto Sans CJK SC"/>
              </a:rPr>
              <a:t>图像 + </a:t>
            </a:r>
            <a:r>
              <a:rPr sz="1200" b="1" dirty="0" err="1">
                <a:solidFill>
                  <a:srgbClr val="124B48"/>
                </a:solidFill>
                <a:latin typeface="Noto Sans CJK SC"/>
              </a:rPr>
              <a:t>已知</a:t>
            </a:r>
            <a:r>
              <a:rPr sz="1200" b="1" dirty="0">
                <a:solidFill>
                  <a:srgbClr val="124B48"/>
                </a:solidFill>
                <a:latin typeface="Noto Sans CJK SC"/>
              </a:rPr>
              <a:t> mask</a:t>
            </a:r>
            <a:endParaRPr sz="1200" b="1" dirty="0">
              <a:solidFill>
                <a:srgbClr val="124B48"/>
              </a:solidFill>
              <a:latin typeface="Noto Sans CJK SC"/>
            </a:endParaRPr>
          </a:p>
        </p:txBody>
      </p:sp>
      <p:sp>
        <p:nvSpPr>
          <p:cNvPr id="11" name="Rounded Rectangle 28"/>
          <p:cNvSpPr/>
          <p:nvPr/>
        </p:nvSpPr>
        <p:spPr>
          <a:xfrm>
            <a:off x="224576" y="3467663"/>
            <a:ext cx="1737360" cy="273588"/>
          </a:xfrm>
          <a:prstGeom prst="roundRect">
            <a:avLst/>
          </a:prstGeom>
          <a:solidFill>
            <a:srgbClr val="EBF6F8"/>
          </a:solidFill>
          <a:ln w="12700">
            <a:solidFill>
              <a:srgbClr val="9B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24B48"/>
                </a:solidFill>
                <a:latin typeface="Noto Sans CJK SC"/>
              </a:rPr>
              <a:t>Target 图像</a:t>
            </a:r>
            <a:endParaRPr sz="1200" b="1">
              <a:solidFill>
                <a:srgbClr val="124B48"/>
              </a:solidFill>
              <a:latin typeface="Noto Sans CJK SC"/>
            </a:endParaRPr>
          </a:p>
        </p:txBody>
      </p:sp>
      <p:sp>
        <p:nvSpPr>
          <p:cNvPr id="12" name="Rounded Rectangle 27"/>
          <p:cNvSpPr/>
          <p:nvPr/>
        </p:nvSpPr>
        <p:spPr>
          <a:xfrm>
            <a:off x="2287727" y="2604263"/>
            <a:ext cx="1390368" cy="273588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9B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 dirty="0" err="1">
                <a:solidFill>
                  <a:srgbClr val="124B48"/>
                </a:solidFill>
                <a:latin typeface="Noto Sans CJK SC"/>
              </a:rPr>
              <a:t>目标条件</a:t>
            </a:r>
            <a:r>
              <a:rPr sz="1200" b="1" dirty="0">
                <a:solidFill>
                  <a:srgbClr val="124B48"/>
                </a:solidFill>
                <a:latin typeface="Noto Sans CJK SC"/>
              </a:rPr>
              <a:t> CDT</a:t>
            </a:r>
            <a:endParaRPr sz="1200" b="1" dirty="0">
              <a:solidFill>
                <a:srgbClr val="124B48"/>
              </a:solidFill>
              <a:latin typeface="Noto Sans CJK SC"/>
            </a:endParaRPr>
          </a:p>
        </p:txBody>
      </p:sp>
      <p:sp>
        <p:nvSpPr>
          <p:cNvPr id="13" name="Rounded Rectangle 30"/>
          <p:cNvSpPr/>
          <p:nvPr/>
        </p:nvSpPr>
        <p:spPr>
          <a:xfrm>
            <a:off x="2251878" y="3479347"/>
            <a:ext cx="1426217" cy="273588"/>
          </a:xfrm>
          <a:prstGeom prst="roundRect">
            <a:avLst/>
          </a:prstGeom>
          <a:solidFill>
            <a:srgbClr val="E8F6EF"/>
          </a:solidFill>
          <a:ln w="12700">
            <a:solidFill>
              <a:srgbClr val="9B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24B48"/>
                </a:solidFill>
                <a:latin typeface="Noto Sans CJK SC"/>
              </a:rPr>
              <a:t>Target Tokens</a:t>
            </a:r>
            <a:endParaRPr sz="1200" b="1">
              <a:solidFill>
                <a:srgbClr val="124B48"/>
              </a:solidFill>
              <a:latin typeface="Noto Sans CJK SC"/>
            </a:endParaRPr>
          </a:p>
        </p:txBody>
      </p:sp>
      <p:sp>
        <p:nvSpPr>
          <p:cNvPr id="14" name="Rounded Rectangle 33"/>
          <p:cNvSpPr/>
          <p:nvPr/>
        </p:nvSpPr>
        <p:spPr>
          <a:xfrm>
            <a:off x="3942884" y="2775127"/>
            <a:ext cx="2197793" cy="796297"/>
          </a:xfrm>
          <a:prstGeom prst="roundRect">
            <a:avLst/>
          </a:prstGeom>
          <a:solidFill>
            <a:srgbClr val="F7FCFB"/>
          </a:solidFill>
          <a:ln w="1778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400" b="1" dirty="0">
                <a:solidFill>
                  <a:srgbClr val="124B48"/>
                </a:solidFill>
                <a:latin typeface="Noto Sans CJK SC"/>
              </a:rPr>
              <a:t>Transformer</a:t>
            </a:r>
            <a:r>
              <a:rPr dirty="0"/>
              <a:t>
</a:t>
            </a:r>
            <a:r>
              <a:rPr sz="1400" b="1" dirty="0" err="1">
                <a:solidFill>
                  <a:srgbClr val="124B48"/>
                </a:solidFill>
                <a:latin typeface="Noto Sans CJK SC"/>
              </a:rPr>
              <a:t>建立跨视角对应</a:t>
            </a:r>
            <a:r>
              <a:rPr dirty="0"/>
              <a:t>
</a:t>
            </a:r>
            <a:endParaRPr sz="1400" b="1" dirty="0">
              <a:solidFill>
                <a:srgbClr val="124B48"/>
              </a:solidFill>
              <a:latin typeface="Noto Sans CJK SC"/>
            </a:endParaRPr>
          </a:p>
        </p:txBody>
      </p:sp>
      <p:sp>
        <p:nvSpPr>
          <p:cNvPr id="15" name="Rounded Rectangle 37"/>
          <p:cNvSpPr/>
          <p:nvPr/>
        </p:nvSpPr>
        <p:spPr>
          <a:xfrm>
            <a:off x="7502246" y="2877851"/>
            <a:ext cx="1150000" cy="560000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9B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200" b="1" dirty="0">
                <a:solidFill>
                  <a:srgbClr val="124B48"/>
                </a:solidFill>
                <a:latin typeface="Noto Sans CJK SC"/>
              </a:rPr>
              <a:t>Target Mask</a:t>
            </a:r>
            <a:r>
              <a:rPr dirty="0"/>
              <a:t>
</a:t>
            </a:r>
            <a:r>
              <a:rPr sz="1200" b="1" dirty="0">
                <a:solidFill>
                  <a:srgbClr val="124B48"/>
                </a:solidFill>
                <a:latin typeface="Noto Sans CJK SC"/>
              </a:rPr>
              <a:t>M̂ₜ</a:t>
            </a:r>
            <a:endParaRPr sz="1200" b="1" dirty="0">
              <a:solidFill>
                <a:srgbClr val="124B48"/>
              </a:solidFill>
              <a:latin typeface="Noto Sans CJK SC"/>
            </a:endParaRPr>
          </a:p>
        </p:txBody>
      </p:sp>
      <p:sp>
        <p:nvSpPr>
          <p:cNvPr id="22" name="Rounded Rectangle 41"/>
          <p:cNvSpPr/>
          <p:nvPr/>
        </p:nvSpPr>
        <p:spPr>
          <a:xfrm>
            <a:off x="318389" y="4677132"/>
            <a:ext cx="7778670" cy="982534"/>
          </a:xfrm>
          <a:prstGeom prst="roundRect">
            <a:avLst/>
          </a:prstGeom>
          <a:solidFill>
            <a:srgbClr val="EBF7F6"/>
          </a:solidFill>
          <a:ln w="12700">
            <a:solidFill>
              <a:srgbClr val="9BD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27000" rtlCol="0" anchor="t"/>
          <a:lstStyle/>
          <a:p>
            <a:pPr>
              <a:spcBef>
                <a:spcPts val="800"/>
              </a:spcBef>
            </a:pPr>
            <a:r>
              <a:rPr lang="zh-CN" altLang="en-US" dirty="0">
                <a:solidFill>
                  <a:srgbClr val="124B48"/>
                </a:solidFill>
                <a:latin typeface="Noto Sans CJK SC"/>
              </a:rPr>
              <a:t>优点：</a:t>
            </a:r>
            <a:r>
              <a:rPr dirty="0" err="1">
                <a:solidFill>
                  <a:srgbClr val="124B48"/>
                </a:solidFill>
                <a:latin typeface="Noto Sans CJK SC"/>
              </a:rPr>
              <a:t>直接匹配容易受视角、外观、遮挡影响；条件二值分割把问题转成“给定目标条件后的前景</a:t>
            </a:r>
            <a:r>
              <a:rPr dirty="0">
                <a:solidFill>
                  <a:srgbClr val="124B48"/>
                </a:solidFill>
                <a:latin typeface="Noto Sans CJK SC"/>
              </a:rPr>
              <a:t>/</a:t>
            </a:r>
            <a:r>
              <a:rPr dirty="0" err="1">
                <a:solidFill>
                  <a:srgbClr val="124B48"/>
                </a:solidFill>
                <a:latin typeface="Noto Sans CJK SC"/>
              </a:rPr>
              <a:t>背景判断</a:t>
            </a:r>
            <a:r>
              <a:rPr dirty="0">
                <a:solidFill>
                  <a:srgbClr val="124B48"/>
                </a:solidFill>
                <a:latin typeface="Noto Sans CJK SC"/>
              </a:rPr>
              <a:t>”。</a:t>
            </a:r>
            <a:endParaRPr dirty="0">
              <a:solidFill>
                <a:srgbClr val="124B48"/>
              </a:solidFill>
              <a:latin typeface="Noto Sans CJK SC"/>
            </a:endParaRPr>
          </a:p>
        </p:txBody>
      </p:sp>
      <p:sp>
        <p:nvSpPr>
          <p:cNvPr id="23" name="Rounded Rectangle 33"/>
          <p:cNvSpPr/>
          <p:nvPr/>
        </p:nvSpPr>
        <p:spPr>
          <a:xfrm>
            <a:off x="6276277" y="2984869"/>
            <a:ext cx="1033240" cy="345963"/>
          </a:xfrm>
          <a:prstGeom prst="roundRect">
            <a:avLst/>
          </a:prstGeom>
          <a:solidFill>
            <a:srgbClr val="F7FCFB"/>
          </a:solidFill>
          <a:ln w="17780"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解码</a:t>
            </a:r>
            <a:r>
              <a:rPr dirty="0"/>
              <a:t>
</a:t>
            </a:r>
            <a:endParaRPr sz="1400" b="1" dirty="0">
              <a:solidFill>
                <a:srgbClr val="124B48"/>
              </a:solidFill>
              <a:latin typeface="Noto Sans CJK SC"/>
            </a:endParaRPr>
          </a:p>
        </p:txBody>
      </p:sp>
      <p:cxnSp>
        <p:nvCxnSpPr>
          <p:cNvPr id="25" name="直线箭头连接符 24"/>
          <p:cNvCxnSpPr>
            <a:stCxn id="10" idx="3"/>
            <a:endCxn id="12" idx="1"/>
          </p:cNvCxnSpPr>
          <p:nvPr/>
        </p:nvCxnSpPr>
        <p:spPr>
          <a:xfrm flipV="1">
            <a:off x="2121236" y="2741057"/>
            <a:ext cx="166491" cy="9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>
            <a:stCxn id="11" idx="3"/>
            <a:endCxn id="13" idx="1"/>
          </p:cNvCxnSpPr>
          <p:nvPr/>
        </p:nvCxnSpPr>
        <p:spPr>
          <a:xfrm>
            <a:off x="1961936" y="3604457"/>
            <a:ext cx="289942" cy="1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/>
          <p:cNvCxnSpPr/>
          <p:nvPr/>
        </p:nvCxnSpPr>
        <p:spPr>
          <a:xfrm>
            <a:off x="3678095" y="2741057"/>
            <a:ext cx="264789" cy="136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/>
          <p:cNvCxnSpPr>
            <a:stCxn id="13" idx="3"/>
          </p:cNvCxnSpPr>
          <p:nvPr/>
        </p:nvCxnSpPr>
        <p:spPr>
          <a:xfrm flipV="1">
            <a:off x="3678095" y="3330832"/>
            <a:ext cx="264789" cy="28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/>
          <p:cNvCxnSpPr>
            <a:stCxn id="14" idx="3"/>
            <a:endCxn id="23" idx="1"/>
          </p:cNvCxnSpPr>
          <p:nvPr/>
        </p:nvCxnSpPr>
        <p:spPr>
          <a:xfrm flipV="1">
            <a:off x="6140677" y="3157851"/>
            <a:ext cx="135600" cy="15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/>
          <p:cNvCxnSpPr>
            <a:stCxn id="23" idx="3"/>
            <a:endCxn id="15" idx="1"/>
          </p:cNvCxnSpPr>
          <p:nvPr/>
        </p:nvCxnSpPr>
        <p:spPr>
          <a:xfrm>
            <a:off x="7309517" y="3157851"/>
            <a:ext cx="192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30" y="1329490"/>
            <a:ext cx="7416824" cy="3746642"/>
          </a:xfrm>
          <a:prstGeom prst="rect">
            <a:avLst/>
          </a:prstGeom>
        </p:spPr>
      </p:pic>
      <p:sp>
        <p:nvSpPr>
          <p:cNvPr id="11" name="Rounded Rectangle 8"/>
          <p:cNvSpPr/>
          <p:nvPr/>
        </p:nvSpPr>
        <p:spPr>
          <a:xfrm>
            <a:off x="532742" y="5076132"/>
            <a:ext cx="7006001" cy="1621436"/>
          </a:xfrm>
          <a:prstGeom prst="roundRect">
            <a:avLst/>
          </a:prstGeom>
          <a:solidFill>
            <a:srgbClr val="EFF9F7"/>
          </a:solidFill>
          <a:ln w="13970">
            <a:solidFill>
              <a:srgbClr val="99C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文本框 9"/>
          <p:cNvSpPr txBox="1"/>
          <p:nvPr/>
        </p:nvSpPr>
        <p:spPr>
          <a:xfrm>
            <a:off x="755576" y="5170327"/>
            <a:ext cx="67222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CN" altLang="zh-CN" sz="1400" dirty="0">
                <a:effectLst/>
                <a:latin typeface="Arial" panose="020B0604020202020204" pitchFamily="34" charset="0"/>
              </a:rPr>
              <a:t>1.Source图像经 ConvNeXt-L 提特征，用源 mask 做目标区域池化，得到条件 token。</a:t>
            </a:r>
            <a:endParaRPr lang="zh-CN" altLang="zh-CN" sz="1400" dirty="0">
              <a:effectLst/>
              <a:latin typeface="Arial" panose="020B0604020202020204" pitchFamily="34" charset="0"/>
            </a:endParaRPr>
          </a:p>
          <a:p>
            <a:pPr marL="0" marR="0">
              <a:buNone/>
            </a:pPr>
            <a:r>
              <a:rPr lang="zh-CN" altLang="zh-CN" sz="1400" dirty="0">
                <a:effectLst/>
                <a:latin typeface="Arial" panose="020B0604020202020204" pitchFamily="34" charset="0"/>
              </a:rPr>
              <a:t>2.Target 图像切成 patches，经 ViT-L 的线性投影得到 visual tokens。</a:t>
            </a:r>
            <a:endParaRPr lang="zh-CN" altLang="zh-CN" sz="1400" dirty="0">
              <a:effectLst/>
              <a:latin typeface="Arial" panose="020B0604020202020204" pitchFamily="34" charset="0"/>
            </a:endParaRPr>
          </a:p>
          <a:p>
            <a:pPr marL="0" marR="0">
              <a:buNone/>
            </a:pPr>
            <a:r>
              <a:rPr lang="zh-CN" altLang="zh-CN" sz="1400" dirty="0">
                <a:effectLst/>
                <a:latin typeface="Arial" panose="020B0604020202020204" pitchFamily="34" charset="0"/>
              </a:rPr>
              <a:t>3.将 CLS、CDT、Target tokens 共同编码，使目标 tokens 携带“与源目标的关系”。</a:t>
            </a:r>
            <a:endParaRPr lang="zh-CN" altLang="zh-CN" sz="1400" dirty="0">
              <a:effectLst/>
              <a:latin typeface="Arial" panose="020B0604020202020204" pitchFamily="34" charset="0"/>
            </a:endParaRPr>
          </a:p>
          <a:p>
            <a:pPr marL="0" marR="0">
              <a:buNone/>
            </a:pPr>
            <a:r>
              <a:rPr lang="zh-CN" altLang="zh-CN" sz="1400" dirty="0">
                <a:effectLst/>
                <a:latin typeface="Arial" panose="020B0604020202020204" pitchFamily="34" charset="0"/>
              </a:rPr>
              <a:t>4.Mask Head 预测目标掩码；CLS Head 判断该目标在 Target 中是否可见。</a:t>
            </a:r>
            <a:endParaRPr lang="zh-CN" altLang="zh-CN" sz="1400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9512" y="764704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核心框架</a:t>
            </a:r>
            <a:endParaRPr lang="zh-CN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50756" y="1143997"/>
            <a:ext cx="7560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dirty="0">
                <a:solidFill>
                  <a:srgbClr val="184844"/>
                </a:solidFill>
                <a:latin typeface="Arial" panose="020B0604020202020204"/>
              </a:rPr>
              <a:t>条件二值分割解码：</a:t>
            </a:r>
            <a:r>
              <a:rPr lang="en-GB" altLang="zh-CN" sz="2600" b="1" dirty="0">
                <a:solidFill>
                  <a:srgbClr val="184844"/>
                </a:solidFill>
                <a:latin typeface="Arial" panose="020B0604020202020204"/>
              </a:rPr>
              <a:t>Token → Target Mask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9977" y="1652183"/>
            <a:ext cx="878497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CN" altLang="zh-CN" sz="1800" b="1" dirty="0">
                <a:effectLst/>
                <a:latin typeface="Arial" panose="020B0604020202020204" pitchFamily="34" charset="0"/>
              </a:rPr>
              <a:t>核心：Transfor</a:t>
            </a:r>
            <a:r>
              <a:rPr lang="en-US" altLang="zh-CN" sz="1800" b="1" dirty="0">
                <a:effectLst/>
                <a:latin typeface="Arial" panose="020B0604020202020204" pitchFamily="34" charset="0"/>
              </a:rPr>
              <a:t>m</a:t>
            </a:r>
            <a:r>
              <a:rPr lang="zh-CN" altLang="zh-CN" sz="1800" b="1" dirty="0">
                <a:effectLst/>
                <a:latin typeface="Arial" panose="020B0604020202020204" pitchFamily="34" charset="0"/>
              </a:rPr>
              <a:t>er已经完成“Source</a:t>
            </a:r>
            <a:r>
              <a:rPr lang="zh-CN" altLang="en-US" sz="1800" b="1" dirty="0">
                <a:effectLst/>
                <a:latin typeface="Arial" panose="020B0604020202020204" pitchFamily="34" charset="0"/>
              </a:rPr>
              <a:t>和</a:t>
            </a:r>
            <a:r>
              <a:rPr lang="zh-CN" altLang="zh-CN" sz="1800" b="1" dirty="0">
                <a:effectLst/>
                <a:latin typeface="Arial" panose="020B0604020202020204" pitchFamily="34" charset="0"/>
              </a:rPr>
              <a:t>目标Target 位置”的交互，解码只负责把这些 token 翻译成 mask。</a:t>
            </a:r>
            <a:endParaRPr lang="zh-CN" altLang="zh-CN" sz="975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14" name="Rounded Rectangle 108"/>
          <p:cNvSpPr/>
          <p:nvPr/>
        </p:nvSpPr>
        <p:spPr>
          <a:xfrm>
            <a:off x="206736" y="3070697"/>
            <a:ext cx="2100000" cy="880000"/>
          </a:xfrm>
          <a:prstGeom prst="roundRect">
            <a:avLst/>
          </a:prstGeom>
          <a:solidFill>
            <a:srgbClr val="EDF9F7"/>
          </a:solidFill>
          <a:ln w="12700">
            <a:solidFill>
              <a:srgbClr val="9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sz="1700" b="1" dirty="0">
                <a:solidFill>
                  <a:srgbClr val="184844"/>
                </a:solidFill>
                <a:latin typeface="Arial" panose="020B0604020202020204"/>
              </a:rPr>
              <a:t>1. </a:t>
            </a:r>
            <a:r>
              <a:rPr sz="1700" b="1" dirty="0" err="1">
                <a:solidFill>
                  <a:srgbClr val="184844"/>
                </a:solidFill>
                <a:latin typeface="Arial" panose="020B0604020202020204"/>
              </a:rPr>
              <a:t>条件化</a:t>
            </a:r>
            <a:r>
              <a:rPr sz="1700" b="1" dirty="0">
                <a:solidFill>
                  <a:srgbClr val="184844"/>
                </a:solidFill>
                <a:latin typeface="Arial" panose="020B0604020202020204"/>
              </a:rPr>
              <a:t> tokens</a:t>
            </a:r>
            <a:br>
              <a:rPr dirty="0"/>
            </a:br>
            <a:r>
              <a:rPr sz="1300" dirty="0" err="1">
                <a:solidFill>
                  <a:srgbClr val="5A6E6E"/>
                </a:solidFill>
                <a:latin typeface="Arial" panose="020B0604020202020204"/>
              </a:rPr>
              <a:t>已融合</a:t>
            </a:r>
            <a:r>
              <a:rPr sz="1300" dirty="0">
                <a:solidFill>
                  <a:srgbClr val="5A6E6E"/>
                </a:solidFill>
                <a:latin typeface="Arial" panose="020B0604020202020204"/>
              </a:rPr>
              <a:t> CDT
[B, N, D]</a:t>
            </a:r>
            <a:endParaRPr sz="1300" dirty="0">
              <a:solidFill>
                <a:srgbClr val="5A6E6E"/>
              </a:solidFill>
              <a:latin typeface="Arial" panose="020B0604020202020204"/>
            </a:endParaRPr>
          </a:p>
        </p:txBody>
      </p:sp>
      <p:sp>
        <p:nvSpPr>
          <p:cNvPr id="15" name="Rounded Rectangle 110"/>
          <p:cNvSpPr/>
          <p:nvPr/>
        </p:nvSpPr>
        <p:spPr>
          <a:xfrm>
            <a:off x="3080263" y="3078545"/>
            <a:ext cx="2100000" cy="880000"/>
          </a:xfrm>
          <a:prstGeom prst="roundRect">
            <a:avLst/>
          </a:prstGeom>
          <a:solidFill>
            <a:srgbClr val="EDF9F7"/>
          </a:solidFill>
          <a:ln w="12700">
            <a:solidFill>
              <a:srgbClr val="9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sz="1700" b="1" dirty="0">
                <a:solidFill>
                  <a:srgbClr val="184844"/>
                </a:solidFill>
                <a:latin typeface="Arial" panose="020B0604020202020204"/>
              </a:rPr>
              <a:t>2. </a:t>
            </a:r>
            <a:r>
              <a:rPr sz="1700" b="1" dirty="0" err="1">
                <a:solidFill>
                  <a:srgbClr val="184844"/>
                </a:solidFill>
                <a:latin typeface="Arial" panose="020B0604020202020204"/>
              </a:rPr>
              <a:t>排回二维特征图</a:t>
            </a:r>
            <a:br>
              <a:rPr dirty="0"/>
            </a:br>
            <a:r>
              <a:rPr sz="1300" dirty="0" err="1">
                <a:solidFill>
                  <a:srgbClr val="5A6E6E"/>
                </a:solidFill>
                <a:latin typeface="Arial" panose="020B0604020202020204"/>
              </a:rPr>
              <a:t>按</a:t>
            </a:r>
            <a:r>
              <a:rPr sz="1300" dirty="0">
                <a:solidFill>
                  <a:srgbClr val="5A6E6E"/>
                </a:solidFill>
                <a:latin typeface="Arial" panose="020B0604020202020204"/>
              </a:rPr>
              <a:t> patch </a:t>
            </a:r>
            <a:r>
              <a:rPr sz="1300" dirty="0" err="1">
                <a:solidFill>
                  <a:srgbClr val="5A6E6E"/>
                </a:solidFill>
                <a:latin typeface="Arial" panose="020B0604020202020204"/>
              </a:rPr>
              <a:t>位置恢复</a:t>
            </a:r>
            <a:r>
              <a:rPr sz="1300" dirty="0">
                <a:solidFill>
                  <a:srgbClr val="5A6E6E"/>
                </a:solidFill>
                <a:latin typeface="Arial" panose="020B0604020202020204"/>
              </a:rPr>
              <a:t>
[B, D, H, W]</a:t>
            </a:r>
            <a:endParaRPr sz="1300" dirty="0">
              <a:solidFill>
                <a:srgbClr val="5A6E6E"/>
              </a:solidFill>
              <a:latin typeface="Arial" panose="020B0604020202020204"/>
            </a:endParaRPr>
          </a:p>
        </p:txBody>
      </p:sp>
      <p:sp>
        <p:nvSpPr>
          <p:cNvPr id="16" name="Rounded Rectangle 112"/>
          <p:cNvSpPr/>
          <p:nvPr/>
        </p:nvSpPr>
        <p:spPr>
          <a:xfrm>
            <a:off x="5994263" y="3036183"/>
            <a:ext cx="2100000" cy="8800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9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sz="1700" b="1" dirty="0">
                <a:solidFill>
                  <a:srgbClr val="184844"/>
                </a:solidFill>
                <a:latin typeface="Arial" panose="020B0604020202020204"/>
              </a:rPr>
              <a:t>3. Mask Head</a:t>
            </a:r>
            <a:br>
              <a:rPr dirty="0"/>
            </a:br>
            <a:r>
              <a:rPr sz="1300" dirty="0">
                <a:solidFill>
                  <a:srgbClr val="5A6E6E"/>
                </a:solidFill>
                <a:latin typeface="Arial" panose="020B0604020202020204"/>
              </a:rPr>
              <a:t>3×3 Conv + 1×1 Conv
</a:t>
            </a:r>
            <a:r>
              <a:rPr sz="1300" dirty="0" err="1">
                <a:solidFill>
                  <a:srgbClr val="5A6E6E"/>
                </a:solidFill>
                <a:latin typeface="Arial" panose="020B0604020202020204"/>
              </a:rPr>
              <a:t>每个位置打分</a:t>
            </a:r>
            <a:endParaRPr sz="1300" dirty="0">
              <a:solidFill>
                <a:srgbClr val="5A6E6E"/>
              </a:solidFill>
              <a:latin typeface="Arial" panose="020B0604020202020204"/>
            </a:endParaRPr>
          </a:p>
        </p:txBody>
      </p:sp>
      <p:cxnSp>
        <p:nvCxnSpPr>
          <p:cNvPr id="19" name="直线箭头连接符 18"/>
          <p:cNvCxnSpPr/>
          <p:nvPr/>
        </p:nvCxnSpPr>
        <p:spPr>
          <a:xfrm>
            <a:off x="2411760" y="3510697"/>
            <a:ext cx="611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/>
          <p:nvPr/>
        </p:nvCxnSpPr>
        <p:spPr>
          <a:xfrm>
            <a:off x="5259238" y="3430173"/>
            <a:ext cx="640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114"/>
          <p:cNvSpPr/>
          <p:nvPr/>
        </p:nvSpPr>
        <p:spPr>
          <a:xfrm>
            <a:off x="5994263" y="4834003"/>
            <a:ext cx="2100000" cy="880000"/>
          </a:xfrm>
          <a:prstGeom prst="roundRect">
            <a:avLst/>
          </a:prstGeom>
          <a:solidFill>
            <a:srgbClr val="EDF9F7"/>
          </a:solidFill>
          <a:ln w="12700">
            <a:solidFill>
              <a:srgbClr val="98D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/>
            <a:r>
              <a:rPr sz="1700" b="1" dirty="0">
                <a:solidFill>
                  <a:srgbClr val="184844"/>
                </a:solidFill>
                <a:latin typeface="Arial" panose="020B0604020202020204"/>
              </a:rPr>
              <a:t>4. </a:t>
            </a:r>
            <a:r>
              <a:rPr sz="1700" b="1" dirty="0" err="1">
                <a:solidFill>
                  <a:srgbClr val="184844"/>
                </a:solidFill>
                <a:latin typeface="Arial" panose="020B0604020202020204"/>
              </a:rPr>
              <a:t>得到二值</a:t>
            </a:r>
            <a:r>
              <a:rPr sz="1700" b="1" dirty="0">
                <a:solidFill>
                  <a:srgbClr val="184844"/>
                </a:solidFill>
                <a:latin typeface="Arial" panose="020B0604020202020204"/>
              </a:rPr>
              <a:t> mask</a:t>
            </a:r>
            <a:r>
              <a:rPr sz="1300" dirty="0">
                <a:solidFill>
                  <a:srgbClr val="5A6E6E"/>
                </a:solidFill>
                <a:latin typeface="Arial" panose="020B0604020202020204"/>
              </a:rPr>
              <a:t>
</a:t>
            </a:r>
            <a:r>
              <a:rPr sz="1300" dirty="0" err="1">
                <a:solidFill>
                  <a:srgbClr val="5A6E6E"/>
                </a:solidFill>
                <a:latin typeface="Arial" panose="020B0604020202020204"/>
              </a:rPr>
              <a:t>输出</a:t>
            </a:r>
            <a:r>
              <a:rPr sz="1300" dirty="0">
                <a:solidFill>
                  <a:srgbClr val="5A6E6E"/>
                </a:solidFill>
                <a:latin typeface="Arial" panose="020B0604020202020204"/>
              </a:rPr>
              <a:t>  </a:t>
            </a:r>
            <a:r>
              <a:rPr sz="1300" dirty="0" err="1">
                <a:solidFill>
                  <a:srgbClr val="5A6E6E"/>
                </a:solidFill>
                <a:latin typeface="Arial" panose="020B0604020202020204"/>
              </a:rPr>
              <a:t>M̂t</a:t>
            </a:r>
            <a:endParaRPr sz="1300" dirty="0">
              <a:solidFill>
                <a:srgbClr val="5A6E6E"/>
              </a:solidFill>
              <a:latin typeface="Arial" panose="020B0604020202020204"/>
            </a:endParaRPr>
          </a:p>
        </p:txBody>
      </p:sp>
      <p:cxnSp>
        <p:nvCxnSpPr>
          <p:cNvPr id="30" name="直线箭头连接符 29"/>
          <p:cNvCxnSpPr/>
          <p:nvPr/>
        </p:nvCxnSpPr>
        <p:spPr>
          <a:xfrm>
            <a:off x="7044263" y="3950697"/>
            <a:ext cx="0" cy="883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132444" y="949369"/>
            <a:ext cx="838842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GB" sz="2600" dirty="0"/>
              <a:t>创新</a:t>
            </a:r>
            <a:r>
              <a:rPr lang="zh-CN" altLang="en-US" sz="2600" dirty="0"/>
              <a:t>点：循环一致性检验</a:t>
            </a:r>
            <a:endParaRPr lang="zh-CN" altLang="en-US" sz="2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9" y="3461992"/>
            <a:ext cx="4899019" cy="175584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2832" y="2800303"/>
            <a:ext cx="82559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循环一致性检验只是把 </a:t>
            </a:r>
            <a:r>
              <a:rPr lang="en-GB" altLang="zh-CN" sz="1800" dirty="0"/>
              <a:t>Source / Target </a:t>
            </a:r>
            <a:r>
              <a:rPr lang="zh-CN" altLang="en-US" sz="1800" dirty="0"/>
              <a:t>交换后再跑一次，并增加重建损失，从而</a:t>
            </a:r>
            <a:r>
              <a:rPr lang="zh-CN" altLang="en-US" dirty="0"/>
              <a:t>约束跨视角“同一实例”关系，而不只是局部外观相似。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67544" y="1985671"/>
            <a:ext cx="8388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zh-CN" altLang="zh-CN" sz="1800" dirty="0">
                <a:effectLst/>
                <a:latin typeface="Arial" panose="020B0604020202020204" pitchFamily="34" charset="0"/>
              </a:rPr>
              <a:t>单向预测可能只选到“看起来像”的物体；闭环要求它反向还能回到原查询目标。</a:t>
            </a:r>
            <a:endParaRPr lang="zh-CN" altLang="zh-CN" sz="975" dirty="0">
              <a:effectLst/>
              <a:latin typeface="PingFang SC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2832" y="148187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为什么加入该模块：</a:t>
            </a:r>
            <a:endParaRPr kumimoji="1" lang="zh-CN" altLang="en-US" dirty="0"/>
          </a:p>
        </p:txBody>
      </p:sp>
      <p:sp>
        <p:nvSpPr>
          <p:cNvPr id="14" name="Rounded Rectangle 9"/>
          <p:cNvSpPr/>
          <p:nvPr/>
        </p:nvSpPr>
        <p:spPr>
          <a:xfrm>
            <a:off x="149805" y="5667321"/>
            <a:ext cx="1600200" cy="48262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A0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80" b="1">
                <a:solidFill>
                  <a:srgbClr val="16433F"/>
                </a:solidFill>
                <a:latin typeface="微软雅黑" panose="020B0503020204020204" charset="-122"/>
              </a:defRPr>
            </a:pPr>
            <a:r>
              <a:rPr dirty="0" err="1"/>
              <a:t>正向预测</a:t>
            </a:r>
            <a:br>
              <a:rPr lang="zh-CN" altLang="en-US" dirty="0"/>
            </a:br>
            <a:r>
              <a:rPr lang="en-US" altLang="zh-CN" dirty="0"/>
              <a:t>(</a:t>
            </a:r>
            <a:r>
              <a:rPr lang="en-GB" dirty="0"/>
              <a:t>Iₛ</a:t>
            </a:r>
            <a:r>
              <a:rPr lang="en-US" altLang="zh-CN" dirty="0"/>
              <a:t>,</a:t>
            </a:r>
            <a:r>
              <a:rPr lang="en-GB" dirty="0"/>
              <a:t>Mₛ</a:t>
            </a:r>
            <a:r>
              <a:rPr lang="en-US" altLang="zh-CN" dirty="0"/>
              <a:t>,</a:t>
            </a:r>
            <a:r>
              <a:rPr lang="en-GB" dirty="0"/>
              <a:t>Iₜ</a:t>
            </a:r>
            <a:r>
              <a:rPr lang="en-US" altLang="zh-CN" dirty="0"/>
              <a:t>)</a:t>
            </a:r>
            <a:r>
              <a:rPr lang="zh-CN" altLang="en-US" dirty="0"/>
              <a:t>→</a:t>
            </a:r>
            <a:r>
              <a:rPr lang="en-GB" dirty="0"/>
              <a:t>M</a:t>
            </a:r>
            <a:r>
              <a:rPr lang="zh-CN" altLang="en-US" dirty="0"/>
              <a:t>̂</a:t>
            </a:r>
            <a:r>
              <a:rPr lang="en-GB" dirty="0"/>
              <a:t>ₜ</a:t>
            </a:r>
            <a:endParaRPr dirty="0"/>
          </a:p>
        </p:txBody>
      </p:sp>
      <p:sp>
        <p:nvSpPr>
          <p:cNvPr id="15" name="Rounded Rectangle 11"/>
          <p:cNvSpPr/>
          <p:nvPr/>
        </p:nvSpPr>
        <p:spPr>
          <a:xfrm>
            <a:off x="2362741" y="5667321"/>
            <a:ext cx="1691640" cy="482620"/>
          </a:xfrm>
          <a:prstGeom prst="roundRect">
            <a:avLst/>
          </a:prstGeom>
          <a:solidFill>
            <a:srgbClr val="FFF1DA"/>
          </a:solidFill>
          <a:ln w="12700">
            <a:solidFill>
              <a:srgbClr val="A0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80" b="1">
                <a:solidFill>
                  <a:srgbClr val="16433F"/>
                </a:solidFill>
                <a:latin typeface="微软雅黑" panose="020B0503020204020204" charset="-122"/>
              </a:defRPr>
            </a:pPr>
            <a:r>
              <a:rPr dirty="0" err="1"/>
              <a:t>反向重建</a:t>
            </a:r>
            <a:br>
              <a:rPr dirty="0"/>
            </a:br>
            <a:r>
              <a:rPr dirty="0"/>
              <a:t>(Iₜ,</a:t>
            </a:r>
            <a:r>
              <a:rPr lang="en-GB" dirty="0"/>
              <a:t>M̂ₜ</a:t>
            </a:r>
            <a:r>
              <a:rPr dirty="0"/>
              <a:t>,Iₛ)→M</a:t>
            </a:r>
            <a:r>
              <a:rPr lang="zh-CN" altLang="en-US" dirty="0"/>
              <a:t>̂</a:t>
            </a:r>
            <a:r>
              <a:rPr lang="en-GB" dirty="0"/>
              <a:t>ₛ</a:t>
            </a:r>
            <a:endParaRPr dirty="0"/>
          </a:p>
        </p:txBody>
      </p:sp>
      <p:sp>
        <p:nvSpPr>
          <p:cNvPr id="16" name="Rounded Rectangle 13"/>
          <p:cNvSpPr/>
          <p:nvPr/>
        </p:nvSpPr>
        <p:spPr>
          <a:xfrm>
            <a:off x="4837832" y="5667321"/>
            <a:ext cx="1325880" cy="482620"/>
          </a:xfrm>
          <a:prstGeom prst="roundRect">
            <a:avLst/>
          </a:prstGeom>
          <a:solidFill>
            <a:srgbClr val="ECF8F6"/>
          </a:solidFill>
          <a:ln w="12700">
            <a:solidFill>
              <a:srgbClr val="A0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80" b="1">
                <a:solidFill>
                  <a:srgbClr val="16433F"/>
                </a:solidFill>
                <a:latin typeface="微软雅黑" panose="020B0503020204020204" charset="-122"/>
              </a:defRPr>
            </a:pPr>
            <a:r>
              <a:rPr dirty="0" err="1"/>
              <a:t>与源掩码比较</a:t>
            </a:r>
            <a:br>
              <a:rPr dirty="0"/>
            </a:br>
            <a:r>
              <a:rPr lang="en-GB" dirty="0"/>
              <a:t>M̂ₛ </a:t>
            </a:r>
            <a:r>
              <a:rPr dirty="0"/>
              <a:t>≈ Mₛ</a:t>
            </a:r>
            <a:endParaRPr dirty="0"/>
          </a:p>
        </p:txBody>
      </p:sp>
      <p:cxnSp>
        <p:nvCxnSpPr>
          <p:cNvPr id="18" name="直线箭头连接符 17"/>
          <p:cNvCxnSpPr/>
          <p:nvPr/>
        </p:nvCxnSpPr>
        <p:spPr>
          <a:xfrm>
            <a:off x="1778000" y="590863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>
            <a:off x="4054381" y="5908631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032" y="3843573"/>
            <a:ext cx="4306168" cy="1115689"/>
          </a:xfrm>
          <a:prstGeom prst="rect">
            <a:avLst/>
          </a:prstGeom>
        </p:spPr>
      </p:pic>
      <p:sp>
        <p:nvSpPr>
          <p:cNvPr id="22" name="TextBox 14"/>
          <p:cNvSpPr txBox="1"/>
          <p:nvPr/>
        </p:nvSpPr>
        <p:spPr>
          <a:xfrm>
            <a:off x="6227083" y="5716297"/>
            <a:ext cx="269225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433F"/>
                </a:solidFill>
                <a:latin typeface="微软雅黑" panose="020B0503020204020204" charset="-122"/>
              </a:defRPr>
            </a:pPr>
            <a:r>
              <a:rPr dirty="0" err="1"/>
              <a:t>Lcycle</a:t>
            </a:r>
            <a:r>
              <a:rPr dirty="0"/>
              <a:t> = BCE(Mₛ, M̂ₛ)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86" y="13207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22000" y="879297"/>
            <a:ext cx="8700000" cy="533479"/>
          </a:xfrm>
          <a:prstGeom prst="rect">
            <a:avLst/>
          </a:prstGeom>
          <a:noFill/>
        </p:spPr>
        <p:txBody>
          <a:bodyPr wrap="square" lIns="101600" tIns="50800" rIns="101600" bIns="50800" anchor="ctr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184844"/>
                </a:solidFill>
                <a:latin typeface="Arial" panose="020B0604020202020204"/>
              </a:rPr>
              <a:t>TTT:</a:t>
            </a:r>
            <a:r>
              <a:rPr lang="zh-CN" altLang="en-US" sz="2800" b="1" dirty="0">
                <a:solidFill>
                  <a:srgbClr val="184844"/>
                </a:solidFill>
                <a:latin typeface="Arial" panose="020B0604020202020204"/>
              </a:rPr>
              <a:t>测试时训练</a:t>
            </a:r>
            <a:endParaRPr sz="2800" b="1" dirty="0">
              <a:solidFill>
                <a:srgbClr val="184844"/>
              </a:solidFill>
              <a:latin typeface="Arial" panose="020B0604020202020204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239368" y="1412776"/>
            <a:ext cx="11150000" cy="228800"/>
          </a:xfrm>
          <a:prstGeom prst="rect">
            <a:avLst/>
          </a:prstGeom>
          <a:noFill/>
        </p:spPr>
        <p:txBody>
          <a:bodyPr wrap="square" lIns="101600" tIns="50800" rIns="101600" bIns="50800" anchor="ctr">
            <a:spAutoFit/>
          </a:bodyPr>
          <a:lstStyle/>
          <a:p>
            <a:pPr algn="l"/>
            <a:r>
              <a:rPr sz="1500" b="0" dirty="0" err="1">
                <a:solidFill>
                  <a:srgbClr val="009688"/>
                </a:solidFill>
                <a:latin typeface="Arial" panose="020B0604020202020204"/>
              </a:rPr>
              <a:t>基础模型可以直接预测；TTT</a:t>
            </a:r>
            <a:r>
              <a:rPr sz="1500" b="0" dirty="0">
                <a:solidFill>
                  <a:srgbClr val="009688"/>
                </a:solidFill>
                <a:latin typeface="Arial" panose="020B0604020202020204"/>
              </a:rPr>
              <a:t> </a:t>
            </a:r>
            <a:r>
              <a:rPr sz="1500" b="0" dirty="0" err="1">
                <a:solidFill>
                  <a:srgbClr val="009688"/>
                </a:solidFill>
                <a:latin typeface="Arial" panose="020B0604020202020204"/>
              </a:rPr>
              <a:t>针对每个</a:t>
            </a:r>
            <a:r>
              <a:rPr sz="1500" b="0" dirty="0">
                <a:solidFill>
                  <a:srgbClr val="009688"/>
                </a:solidFill>
                <a:latin typeface="Arial" panose="020B0604020202020204"/>
              </a:rPr>
              <a:t> test pair </a:t>
            </a:r>
            <a:r>
              <a:rPr sz="1500" b="0" dirty="0" err="1">
                <a:solidFill>
                  <a:srgbClr val="009688"/>
                </a:solidFill>
                <a:latin typeface="Arial" panose="020B0604020202020204"/>
              </a:rPr>
              <a:t>临时微调少量末端层，通常更准，但推理更慢</a:t>
            </a:r>
            <a:r>
              <a:rPr sz="1500" b="0" dirty="0">
                <a:solidFill>
                  <a:srgbClr val="009688"/>
                </a:solidFill>
                <a:latin typeface="Arial" panose="020B0604020202020204"/>
              </a:rPr>
              <a:t>。</a:t>
            </a:r>
            <a:endParaRPr sz="1500" b="0" dirty="0">
              <a:solidFill>
                <a:srgbClr val="009688"/>
              </a:solidFill>
              <a:latin typeface="Arial" panose="020B0604020202020204"/>
            </a:endParaRPr>
          </a:p>
        </p:txBody>
      </p:sp>
      <p:sp>
        <p:nvSpPr>
          <p:cNvPr id="5" name="Rounded Rectangle 8"/>
          <p:cNvSpPr/>
          <p:nvPr/>
        </p:nvSpPr>
        <p:spPr>
          <a:xfrm>
            <a:off x="215392" y="1899988"/>
            <a:ext cx="4312704" cy="507437"/>
          </a:xfrm>
          <a:prstGeom prst="roundRect">
            <a:avLst/>
          </a:prstGeom>
          <a:solidFill>
            <a:srgbClr val="EBF7F4"/>
          </a:solidFill>
          <a:ln>
            <a:solidFill>
              <a:srgbClr val="A5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63500" rIns="152400" bIns="63500" rtlCol="0" anchor="ctr"/>
          <a:lstStyle/>
          <a:p>
            <a:pPr algn="ctr"/>
            <a:r>
              <a:rPr sz="1500" b="1">
                <a:solidFill>
                  <a:srgbClr val="184844"/>
                </a:solidFill>
                <a:latin typeface="Arial" panose="020B0604020202020204"/>
              </a:rPr>
              <a:t>直接预测：  (Iₛ, Mₛ, Iₜ) → M̂ₜ
不做 TTT 到这里结束</a:t>
            </a:r>
            <a:endParaRPr sz="1500" b="1">
              <a:solidFill>
                <a:srgbClr val="184844"/>
              </a:solidFill>
              <a:latin typeface="Arial" panose="020B0604020202020204"/>
            </a:endParaRPr>
          </a:p>
        </p:txBody>
      </p:sp>
      <p:sp>
        <p:nvSpPr>
          <p:cNvPr id="6" name="Rounded Rectangle 11"/>
          <p:cNvSpPr/>
          <p:nvPr/>
        </p:nvSpPr>
        <p:spPr>
          <a:xfrm>
            <a:off x="199016" y="2835102"/>
            <a:ext cx="4325920" cy="507436"/>
          </a:xfrm>
          <a:prstGeom prst="roundRect">
            <a:avLst/>
          </a:prstGeom>
          <a:solidFill>
            <a:srgbClr val="EBF7F4"/>
          </a:solidFill>
          <a:ln>
            <a:solidFill>
              <a:srgbClr val="A5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63500" rIns="152400" bIns="63500" rtlCol="0" anchor="ctr"/>
          <a:lstStyle/>
          <a:p>
            <a:pPr algn="ctr"/>
            <a:r>
              <a:rPr sz="1700" b="1">
                <a:solidFill>
                  <a:srgbClr val="184844"/>
                </a:solidFill>
                <a:latin typeface="Arial" panose="020B0604020202020204"/>
              </a:rPr>
              <a:t>反向找回：  (Iₜ, M̂ₜ, Iₛ)  →  M̂ₛ</a:t>
            </a:r>
            <a:endParaRPr sz="1700" b="1">
              <a:solidFill>
                <a:srgbClr val="184844"/>
              </a:solidFill>
              <a:latin typeface="Arial" panose="020B0604020202020204"/>
            </a:endParaRPr>
          </a:p>
        </p:txBody>
      </p:sp>
      <p:sp>
        <p:nvSpPr>
          <p:cNvPr id="7" name="Rounded Rectangle 14"/>
          <p:cNvSpPr/>
          <p:nvPr/>
        </p:nvSpPr>
        <p:spPr>
          <a:xfrm>
            <a:off x="172553" y="3878053"/>
            <a:ext cx="4382752" cy="507436"/>
          </a:xfrm>
          <a:prstGeom prst="roundRect">
            <a:avLst/>
          </a:prstGeom>
          <a:solidFill>
            <a:srgbClr val="EBF7F4"/>
          </a:solidFill>
          <a:ln>
            <a:solidFill>
              <a:srgbClr val="A5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63500" rIns="152400" bIns="63500" rtlCol="0" anchor="ctr"/>
          <a:lstStyle/>
          <a:p>
            <a:pPr algn="ctr"/>
            <a:r>
              <a:rPr sz="1500" b="1" dirty="0" err="1">
                <a:solidFill>
                  <a:srgbClr val="184844"/>
                </a:solidFill>
                <a:latin typeface="Arial" panose="020B0604020202020204"/>
              </a:rPr>
              <a:t>计算</a:t>
            </a:r>
            <a:r>
              <a:rPr sz="1500" b="1" dirty="0">
                <a:solidFill>
                  <a:srgbClr val="184844"/>
                </a:solidFill>
                <a:latin typeface="Arial" panose="020B0604020202020204"/>
              </a:rPr>
              <a:t> Cycle Loss：  </a:t>
            </a:r>
            <a:r>
              <a:rPr sz="1500" b="1" dirty="0" err="1">
                <a:solidFill>
                  <a:srgbClr val="184844"/>
                </a:solidFill>
                <a:latin typeface="Arial" panose="020B0604020202020204"/>
              </a:rPr>
              <a:t>Lcycle</a:t>
            </a:r>
            <a:r>
              <a:rPr sz="1500" b="1" dirty="0">
                <a:solidFill>
                  <a:srgbClr val="184844"/>
                </a:solidFill>
                <a:latin typeface="Arial" panose="020B0604020202020204"/>
              </a:rPr>
              <a:t> = BCE(Mₛ, M̂ₛ)
</a:t>
            </a:r>
            <a:r>
              <a:rPr sz="1500" b="1" dirty="0" err="1">
                <a:solidFill>
                  <a:srgbClr val="184844"/>
                </a:solidFill>
                <a:latin typeface="Arial" panose="020B0604020202020204"/>
              </a:rPr>
              <a:t>只用已知</a:t>
            </a:r>
            <a:r>
              <a:rPr sz="1500" b="1" dirty="0">
                <a:solidFill>
                  <a:srgbClr val="184844"/>
                </a:solidFill>
                <a:latin typeface="Arial" panose="020B0604020202020204"/>
              </a:rPr>
              <a:t> Source mask</a:t>
            </a:r>
            <a:endParaRPr sz="1500" b="1" dirty="0">
              <a:solidFill>
                <a:srgbClr val="184844"/>
              </a:solidFill>
              <a:latin typeface="Arial" panose="020B0604020202020204"/>
            </a:endParaRPr>
          </a:p>
        </p:txBody>
      </p:sp>
      <p:sp>
        <p:nvSpPr>
          <p:cNvPr id="8" name="Rounded Rectangle 17"/>
          <p:cNvSpPr/>
          <p:nvPr/>
        </p:nvSpPr>
        <p:spPr>
          <a:xfrm>
            <a:off x="218449" y="5030467"/>
            <a:ext cx="4345456" cy="648264"/>
          </a:xfrm>
          <a:prstGeom prst="roundRect">
            <a:avLst/>
          </a:prstGeom>
          <a:solidFill>
            <a:srgbClr val="FDF2E5"/>
          </a:solidFill>
          <a:ln>
            <a:solidFill>
              <a:srgbClr val="A5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63500" rIns="152400" bIns="63500" rtlCol="0" anchor="ctr"/>
          <a:lstStyle/>
          <a:p>
            <a:pPr algn="ctr"/>
            <a:r>
              <a:rPr sz="1600" b="1">
                <a:solidFill>
                  <a:srgbClr val="184844"/>
                </a:solidFill>
                <a:latin typeface="Arial" panose="020B0604020202020204"/>
              </a:rPr>
              <a:t>临时更新 + 重预测：  微调末端层 → 最终 M̂ₜ</a:t>
            </a:r>
            <a:endParaRPr sz="1600" b="1">
              <a:solidFill>
                <a:srgbClr val="184844"/>
              </a:solidFill>
              <a:latin typeface="Arial" panose="020B0604020202020204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698" y="1641576"/>
            <a:ext cx="4613901" cy="2793738"/>
          </a:xfrm>
          <a:prstGeom prst="rect">
            <a:avLst/>
          </a:prstGeom>
        </p:spPr>
      </p:pic>
      <p:cxnSp>
        <p:nvCxnSpPr>
          <p:cNvPr id="11" name="直线箭头连接符 10"/>
          <p:cNvCxnSpPr/>
          <p:nvPr/>
        </p:nvCxnSpPr>
        <p:spPr>
          <a:xfrm>
            <a:off x="2361976" y="2407425"/>
            <a:ext cx="0" cy="427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/>
          <p:nvPr/>
        </p:nvCxnSpPr>
        <p:spPr>
          <a:xfrm>
            <a:off x="2371744" y="3342538"/>
            <a:ext cx="0" cy="450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/>
          <p:cNvCxnSpPr/>
          <p:nvPr/>
        </p:nvCxnSpPr>
        <p:spPr>
          <a:xfrm>
            <a:off x="2380624" y="4435314"/>
            <a:ext cx="0" cy="495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920" y="4857929"/>
            <a:ext cx="4345456" cy="1120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278052"/>
            <a:ext cx="7299338" cy="268223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382" y="908720"/>
            <a:ext cx="8047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在 Ego-Exo4D correspondence benchmark v2 测试集上的评估结果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00" y="4316036"/>
            <a:ext cx="4176464" cy="244337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51520" y="3946704"/>
            <a:ext cx="459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HANDAL-X 基准上的评估结果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71630"/>
            <a:ext cx="5575300" cy="1409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318510"/>
            <a:ext cx="5575300" cy="1130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50" y="4985990"/>
            <a:ext cx="5575300" cy="11303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15050" y="9796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优化组件的消融实验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3528" y="291638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不同主干网络对结果的影响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6296" y="45327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线性探测阶段的消融实验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830"/>
            <a:ext cx="9144000" cy="31000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779520" y="422116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800" b="1">
                <a:solidFill>
                  <a:schemeClr val="tx1"/>
                </a:solidFill>
                <a:uFillTx/>
              </a:rPr>
              <a:t>ICLR 2026</a:t>
            </a:r>
            <a:endParaRPr lang="en-US" altLang="zh-CN" sz="1800" b="1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-82829" y="793877"/>
            <a:ext cx="259228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研究背景</a:t>
            </a:r>
            <a:endParaRPr lang="zh-CN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Text 4"/>
          <p:cNvSpPr/>
          <p:nvPr/>
        </p:nvSpPr>
        <p:spPr>
          <a:xfrm>
            <a:off x="251520" y="1680800"/>
            <a:ext cx="8129226" cy="41605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r>
              <a:rPr lang="zh-CN" altLang="zh-CN" sz="1600" b="1" dirty="0"/>
              <a:t>过去的无人机视觉语言导航，通常给得很细：第几个路口怎么转、沿哪条路走。</a:t>
            </a:r>
            <a:endParaRPr lang="zh-CN" altLang="zh-CN" sz="1600" dirty="0"/>
          </a:p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24" name="Text 5"/>
          <p:cNvSpPr/>
          <p:nvPr/>
        </p:nvSpPr>
        <p:spPr>
          <a:xfrm>
            <a:off x="687767" y="2590260"/>
            <a:ext cx="2384213" cy="665683"/>
          </a:xfrm>
          <a:prstGeom prst="rect">
            <a:avLst/>
          </a:prstGeom>
          <a:solidFill>
            <a:srgbClr val="E8EFEE"/>
          </a:solidFill>
          <a:ln w="11430">
            <a:solidFill>
              <a:srgbClr val="C9D8D5"/>
            </a:solidFill>
          </a:ln>
          <a:effectLst>
            <a:outerShdw blurRad="12700" dist="10160" dir="2700000" algn="bl" rotWithShape="0">
              <a:srgbClr val="6D8580">
                <a:alpha val="12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/>
            <a:r>
              <a:rPr lang="zh-CN" altLang="zh-CN" sz="1600" b="1" dirty="0"/>
              <a:t>传统VLN路线已经被指令写好</a:t>
            </a:r>
            <a:endParaRPr lang="zh-CN" altLang="zh-CN" sz="1600" dirty="0"/>
          </a:p>
        </p:txBody>
      </p:sp>
      <p:pic>
        <p:nvPicPr>
          <p:cNvPr id="25" name="Image 0" descr="/mnt/data/autofly_extract/ppt/media/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35" y="4200218"/>
            <a:ext cx="6281864" cy="2170267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5170631" y="2566820"/>
            <a:ext cx="2495168" cy="665683"/>
          </a:xfrm>
          <a:prstGeom prst="rect">
            <a:avLst/>
          </a:prstGeom>
          <a:solidFill>
            <a:srgbClr val="DDF1EF"/>
          </a:solidFill>
          <a:ln w="11430">
            <a:solidFill>
              <a:srgbClr val="9CCBC4"/>
            </a:solidFill>
          </a:ln>
          <a:effectLst>
            <a:outerShdw blurRad="12700" dist="10160" dir="2700000" algn="bl" rotWithShape="0">
              <a:srgbClr val="6D8580">
                <a:alpha val="12000"/>
              </a:srgbClr>
            </a:outerShdw>
          </a:effectLst>
        </p:spPr>
        <p:txBody>
          <a:bodyPr wrap="square" lIns="1270" tIns="1270" rIns="1270" bIns="1270" rtlCol="0" anchor="ctr">
            <a:normAutofit lnSpcReduction="10000"/>
          </a:bodyPr>
          <a:lstStyle/>
          <a:p>
            <a:pPr algn="ctr"/>
            <a:endParaRPr lang="en-US" altLang="zh-CN" sz="1600" b="1" dirty="0"/>
          </a:p>
          <a:p>
            <a:pPr algn="ctr"/>
            <a:r>
              <a:rPr lang="zh-CN" altLang="zh-CN" sz="1600" b="1" dirty="0"/>
              <a:t>AutoFly只给目标和大致方向</a:t>
            </a:r>
            <a:endParaRPr lang="zh-CN" altLang="zh-CN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Text 6"/>
          <p:cNvSpPr/>
          <p:nvPr/>
        </p:nvSpPr>
        <p:spPr>
          <a:xfrm>
            <a:off x="827584" y="3427842"/>
            <a:ext cx="2286000" cy="49926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80" dirty="0" err="1">
                <a:solidFill>
                  <a:srgbClr val="4B63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问题：更像按说明书飞</a:t>
            </a:r>
            <a:r>
              <a:rPr lang="en-US" sz="1380" dirty="0">
                <a:solidFill>
                  <a:srgbClr val="4B63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4B63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不是无人机自己判断路线。</a:t>
            </a:r>
            <a:endParaRPr lang="en-US" sz="1380" dirty="0"/>
          </a:p>
        </p:txBody>
      </p:sp>
      <p:sp>
        <p:nvSpPr>
          <p:cNvPr id="28" name="Text 9"/>
          <p:cNvSpPr/>
          <p:nvPr/>
        </p:nvSpPr>
        <p:spPr>
          <a:xfrm>
            <a:off x="5501248" y="3465255"/>
            <a:ext cx="2286000" cy="49926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4B63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模型根据当前画面，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4B636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自己决定下一步怎么飞。</a:t>
            </a:r>
            <a:endParaRPr lang="en-US" sz="1380" dirty="0"/>
          </a:p>
        </p:txBody>
      </p:sp>
      <p:sp>
        <p:nvSpPr>
          <p:cNvPr id="29" name="Text 7"/>
          <p:cNvSpPr/>
          <p:nvPr/>
        </p:nvSpPr>
        <p:spPr>
          <a:xfrm>
            <a:off x="2774044" y="2665838"/>
            <a:ext cx="2805478" cy="507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cxnSp>
        <p:nvCxnSpPr>
          <p:cNvPr id="32" name="直线箭头连接符 31"/>
          <p:cNvCxnSpPr/>
          <p:nvPr/>
        </p:nvCxnSpPr>
        <p:spPr>
          <a:xfrm>
            <a:off x="3419872" y="2899661"/>
            <a:ext cx="1152128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464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1"/>
          <p:cNvSpPr/>
          <p:nvPr/>
        </p:nvSpPr>
        <p:spPr>
          <a:xfrm>
            <a:off x="323528" y="147021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dirty="0" err="1"/>
              <a:t>一次任务给一条固定指令；模型每个观测时刻预测当前速度，连续调用后形成轨迹</a:t>
            </a:r>
            <a:r>
              <a:rPr dirty="0"/>
              <a:t>。</a:t>
            </a:r>
            <a:endParaRPr dirty="0"/>
          </a:p>
        </p:txBody>
      </p:sp>
      <p:sp>
        <p:nvSpPr>
          <p:cNvPr id="6" name="Rounded Rectangle 17"/>
          <p:cNvSpPr/>
          <p:nvPr/>
        </p:nvSpPr>
        <p:spPr>
          <a:xfrm>
            <a:off x="537210" y="2392810"/>
            <a:ext cx="2163234" cy="773873"/>
          </a:xfrm>
          <a:prstGeom prst="roundRect">
            <a:avLst/>
          </a:prstGeom>
          <a:solidFill>
            <a:srgbClr val="E8F0FC"/>
          </a:solidFill>
          <a:ln w="13970">
            <a:solidFill>
              <a:srgbClr val="2B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700" b="0" dirty="0" err="1">
                <a:solidFill>
                  <a:srgbClr val="232D41"/>
                </a:solidFill>
                <a:latin typeface="微软雅黑" panose="020B0503020204020204" charset="-122"/>
              </a:rPr>
              <a:t>语言目标</a:t>
            </a:r>
            <a:r>
              <a:rPr sz="1700" b="0" dirty="0">
                <a:solidFill>
                  <a:srgbClr val="232D41"/>
                </a:solidFill>
                <a:latin typeface="微软雅黑" panose="020B0503020204020204" charset="-122"/>
              </a:rPr>
              <a:t> L
</a:t>
            </a:r>
            <a:r>
              <a:rPr sz="1700" b="0" dirty="0" err="1">
                <a:solidFill>
                  <a:srgbClr val="232D41"/>
                </a:solidFill>
                <a:latin typeface="微软雅黑" panose="020B0503020204020204" charset="-122"/>
              </a:rPr>
              <a:t>例如：到达黑色展示板</a:t>
            </a:r>
            <a:endParaRPr sz="1700" b="0" dirty="0">
              <a:solidFill>
                <a:srgbClr val="232D4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18"/>
          <p:cNvSpPr/>
          <p:nvPr/>
        </p:nvSpPr>
        <p:spPr>
          <a:xfrm>
            <a:off x="550545" y="3351530"/>
            <a:ext cx="2137410" cy="632460"/>
          </a:xfrm>
          <a:prstGeom prst="roundRect">
            <a:avLst/>
          </a:prstGeom>
          <a:solidFill>
            <a:srgbClr val="E8F0FC"/>
          </a:solidFill>
          <a:ln w="13970">
            <a:solidFill>
              <a:srgbClr val="2B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700" b="0" dirty="0" err="1">
                <a:solidFill>
                  <a:srgbClr val="232D41"/>
                </a:solidFill>
                <a:latin typeface="微软雅黑" panose="020B0503020204020204" charset="-122"/>
              </a:rPr>
              <a:t>当前图像</a:t>
            </a:r>
            <a:r>
              <a:rPr sz="1700" b="0" dirty="0">
                <a:solidFill>
                  <a:srgbClr val="232D41"/>
                </a:solidFill>
                <a:latin typeface="微软雅黑" panose="020B0503020204020204" charset="-122"/>
              </a:rPr>
              <a:t> oₜ
</a:t>
            </a:r>
            <a:r>
              <a:rPr sz="1700" b="0" dirty="0" err="1">
                <a:solidFill>
                  <a:srgbClr val="232D41"/>
                </a:solidFill>
                <a:latin typeface="微软雅黑" panose="020B0503020204020204" charset="-122"/>
              </a:rPr>
              <a:t>相机持续更新</a:t>
            </a:r>
            <a:endParaRPr sz="1700" b="0" dirty="0">
              <a:solidFill>
                <a:srgbClr val="232D4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9"/>
          <p:cNvSpPr/>
          <p:nvPr/>
        </p:nvSpPr>
        <p:spPr>
          <a:xfrm>
            <a:off x="537210" y="4159885"/>
            <a:ext cx="2137410" cy="632460"/>
          </a:xfrm>
          <a:prstGeom prst="roundRect">
            <a:avLst/>
          </a:prstGeom>
          <a:solidFill>
            <a:srgbClr val="E8F0FC"/>
          </a:solidFill>
          <a:ln w="13970">
            <a:solidFill>
              <a:srgbClr val="2B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700" b="0">
                <a:solidFill>
                  <a:srgbClr val="232D41"/>
                </a:solidFill>
                <a:latin typeface="微软雅黑" panose="020B0503020204020204" charset="-122"/>
              </a:rPr>
              <a:t>初始大致方向</a:t>
            </a:r>
            <a:r>
              <a:rPr sz="1700" b="0" dirty="0">
                <a:solidFill>
                  <a:srgbClr val="232D41"/>
                </a:solidFill>
                <a:latin typeface="微软雅黑" panose="020B0503020204020204" charset="-122"/>
              </a:rPr>
              <a:t> a₀
</a:t>
            </a:r>
            <a:r>
              <a:rPr sz="1700" b="0" dirty="0" err="1">
                <a:solidFill>
                  <a:srgbClr val="232D41"/>
                </a:solidFill>
                <a:latin typeface="微软雅黑" panose="020B0503020204020204" charset="-122"/>
              </a:rPr>
              <a:t>只提供粗略先验</a:t>
            </a:r>
            <a:endParaRPr sz="1700" b="0" dirty="0">
              <a:solidFill>
                <a:srgbClr val="232D4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21"/>
          <p:cNvSpPr/>
          <p:nvPr/>
        </p:nvSpPr>
        <p:spPr>
          <a:xfrm>
            <a:off x="3210658" y="1849654"/>
            <a:ext cx="2514600" cy="374447"/>
          </a:xfrm>
          <a:prstGeom prst="roundRect">
            <a:avLst/>
          </a:prstGeom>
          <a:solidFill>
            <a:srgbClr val="F6F8FC"/>
          </a:solidFill>
          <a:ln w="13970">
            <a:solidFill>
              <a:srgbClr val="2B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900" b="1" dirty="0" err="1">
                <a:solidFill>
                  <a:srgbClr val="2B5EAA"/>
                </a:solidFill>
                <a:latin typeface="微软雅黑" panose="020B0503020204020204" charset="-122"/>
              </a:rPr>
              <a:t>AutoFly</a:t>
            </a:r>
            <a:r>
              <a:rPr sz="1900" b="1" dirty="0">
                <a:solidFill>
                  <a:srgbClr val="2B5EAA"/>
                </a:solidFill>
                <a:latin typeface="微软雅黑" panose="020B0503020204020204" charset="-122"/>
              </a:rPr>
              <a:t> </a:t>
            </a:r>
            <a:r>
              <a:rPr sz="1900" b="1" dirty="0" err="1">
                <a:solidFill>
                  <a:srgbClr val="2B5EAA"/>
                </a:solidFill>
                <a:latin typeface="微软雅黑" panose="020B0503020204020204" charset="-122"/>
              </a:rPr>
              <a:t>策略</a:t>
            </a:r>
            <a:r>
              <a:rPr sz="1900" b="1" dirty="0">
                <a:solidFill>
                  <a:srgbClr val="2B5EAA"/>
                </a:solidFill>
                <a:latin typeface="微软雅黑" panose="020B0503020204020204" charset="-122"/>
              </a:rPr>
              <a:t> </a:t>
            </a:r>
            <a:endParaRPr sz="1900" b="1" dirty="0">
              <a:solidFill>
                <a:srgbClr val="2B5EA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22"/>
          <p:cNvSpPr/>
          <p:nvPr/>
        </p:nvSpPr>
        <p:spPr>
          <a:xfrm>
            <a:off x="3264492" y="2851606"/>
            <a:ext cx="2514600" cy="1231514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ctr"/>
          <a:lstStyle/>
          <a:p>
            <a:pPr algn="ctr">
              <a:spcAft>
                <a:spcPts val="200"/>
              </a:spcAft>
            </a:pPr>
            <a:r>
              <a:rPr sz="1600" dirty="0" err="1">
                <a:solidFill>
                  <a:srgbClr val="232D41"/>
                </a:solidFill>
                <a:latin typeface="微软雅黑" panose="020B0503020204020204" charset="-122"/>
              </a:rPr>
              <a:t>看当前是否接近目标判断障碍和空间关系只决定“现在怎么飞</a:t>
            </a:r>
            <a:r>
              <a:rPr sz="1600" dirty="0">
                <a:solidFill>
                  <a:srgbClr val="232D41"/>
                </a:solidFill>
                <a:latin typeface="微软雅黑" panose="020B0503020204020204" charset="-122"/>
              </a:rPr>
              <a:t>”</a:t>
            </a:r>
            <a:endParaRPr sz="1600" dirty="0">
              <a:solidFill>
                <a:srgbClr val="232D41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29"/>
          <p:cNvSpPr/>
          <p:nvPr/>
        </p:nvSpPr>
        <p:spPr>
          <a:xfrm>
            <a:off x="6085153" y="1875806"/>
            <a:ext cx="2670048" cy="349484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08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dirty="0" err="1">
                <a:solidFill>
                  <a:srgbClr val="2B5EAA"/>
                </a:solidFill>
                <a:latin typeface="微软雅黑" panose="020B0503020204020204" charset="-122"/>
              </a:rPr>
              <a:t>输出速度</a:t>
            </a:r>
            <a:r>
              <a:rPr sz="1800" b="1" dirty="0">
                <a:solidFill>
                  <a:srgbClr val="2B5EAA"/>
                </a:solidFill>
                <a:latin typeface="微软雅黑" panose="020B0503020204020204" charset="-122"/>
              </a:rPr>
              <a:t>  aₜ</a:t>
            </a:r>
            <a:endParaRPr sz="1800" b="1" dirty="0">
              <a:solidFill>
                <a:srgbClr val="2B5EA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30"/>
          <p:cNvSpPr/>
          <p:nvPr/>
        </p:nvSpPr>
        <p:spPr>
          <a:xfrm>
            <a:off x="6100779" y="2851606"/>
            <a:ext cx="2834640" cy="1264798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F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n-US" sz="1650" b="0" dirty="0">
                <a:solidFill>
                  <a:srgbClr val="232D41"/>
                </a:solidFill>
                <a:latin typeface="微软雅黑" panose="020B0503020204020204" charset="-122"/>
              </a:rPr>
              <a:t>   </a:t>
            </a:r>
            <a:r>
              <a:rPr sz="1650" b="0" dirty="0" err="1">
                <a:solidFill>
                  <a:srgbClr val="232D41"/>
                </a:solidFill>
                <a:latin typeface="微软雅黑" panose="020B0503020204020204" charset="-122"/>
              </a:rPr>
              <a:t>前进速度</a:t>
            </a:r>
            <a:r>
              <a:rPr lang="zh-CN" altLang="en-US" sz="1650" b="0" dirty="0">
                <a:solidFill>
                  <a:srgbClr val="232D41"/>
                </a:solidFill>
                <a:latin typeface="微软雅黑" panose="020B0503020204020204" charset="-122"/>
              </a:rPr>
              <a:t> </a:t>
            </a:r>
            <a:r>
              <a:rPr lang="en-US" altLang="zh-CN" sz="1650" b="0" dirty="0">
                <a:solidFill>
                  <a:srgbClr val="232D41"/>
                </a:solidFill>
                <a:latin typeface="微软雅黑" panose="020B0503020204020204" charset="-122"/>
              </a:rPr>
              <a:t>  </a:t>
            </a:r>
            <a:r>
              <a:rPr lang="en-US" altLang="zh-CN" sz="1650" b="0" dirty="0" err="1">
                <a:solidFill>
                  <a:srgbClr val="232D41"/>
                </a:solidFill>
                <a:latin typeface="微软雅黑" panose="020B0503020204020204" charset="-122"/>
              </a:rPr>
              <a:t>v</a:t>
            </a:r>
            <a:r>
              <a:rPr lang="en-US" altLang="zh-CN" sz="1650" b="0" baseline="-25000" dirty="0" err="1">
                <a:solidFill>
                  <a:srgbClr val="232D41"/>
                </a:solidFill>
                <a:latin typeface="微软雅黑" panose="020B0503020204020204" charset="-122"/>
              </a:rPr>
              <a:t>xy</a:t>
            </a:r>
            <a:endParaRPr sz="1650" b="0" dirty="0">
              <a:solidFill>
                <a:srgbClr val="232D41"/>
              </a:solidFill>
              <a:latin typeface="微软雅黑" panose="020B0503020204020204" charset="-122"/>
            </a:endParaRPr>
          </a:p>
          <a:p>
            <a:pPr algn="ctr"/>
            <a:r>
              <a:rPr lang="en-US" sz="1650" b="0" dirty="0">
                <a:solidFill>
                  <a:srgbClr val="232D41"/>
                </a:solidFill>
                <a:latin typeface="微软雅黑" panose="020B0503020204020204" charset="-122"/>
              </a:rPr>
              <a:t>  </a:t>
            </a:r>
            <a:r>
              <a:rPr sz="1650" b="0" dirty="0" err="1">
                <a:solidFill>
                  <a:srgbClr val="232D41"/>
                </a:solidFill>
                <a:latin typeface="微软雅黑" panose="020B0503020204020204" charset="-122"/>
              </a:rPr>
              <a:t>上下速度</a:t>
            </a:r>
            <a:r>
              <a:rPr sz="1650" b="0" dirty="0">
                <a:solidFill>
                  <a:srgbClr val="232D41"/>
                </a:solidFill>
                <a:latin typeface="微软雅黑" panose="020B0503020204020204" charset="-122"/>
              </a:rPr>
              <a:t>  </a:t>
            </a:r>
            <a:r>
              <a:rPr lang="en-US" sz="1650" b="0" dirty="0">
                <a:solidFill>
                  <a:srgbClr val="232D41"/>
                </a:solidFill>
                <a:latin typeface="微软雅黑" panose="020B0503020204020204" charset="-122"/>
              </a:rPr>
              <a:t> </a:t>
            </a:r>
            <a:r>
              <a:rPr lang="en-US" sz="1650" dirty="0" err="1">
                <a:solidFill>
                  <a:srgbClr val="232D41"/>
                </a:solidFill>
                <a:latin typeface="微软雅黑" panose="020B0503020204020204" charset="-122"/>
              </a:rPr>
              <a:t>v</a:t>
            </a:r>
            <a:r>
              <a:rPr lang="en-US" sz="1650" baseline="-25000" dirty="0" err="1">
                <a:solidFill>
                  <a:srgbClr val="232D41"/>
                </a:solidFill>
                <a:latin typeface="微软雅黑" panose="020B0503020204020204" charset="-122"/>
              </a:rPr>
              <a:t>z</a:t>
            </a:r>
            <a:endParaRPr sz="1650" b="0" dirty="0">
              <a:solidFill>
                <a:srgbClr val="232D41"/>
              </a:solidFill>
              <a:latin typeface="微软雅黑" panose="020B0503020204020204" charset="-122"/>
            </a:endParaRPr>
          </a:p>
          <a:p>
            <a:pPr algn="ctr"/>
            <a:r>
              <a:rPr lang="en-US" sz="1650" b="0" dirty="0">
                <a:solidFill>
                  <a:srgbClr val="232D41"/>
                </a:solidFill>
                <a:latin typeface="微软雅黑" panose="020B0503020204020204" charset="-122"/>
              </a:rPr>
              <a:t>      </a:t>
            </a:r>
            <a:r>
              <a:rPr sz="1650" b="0" dirty="0" err="1">
                <a:solidFill>
                  <a:srgbClr val="232D41"/>
                </a:solidFill>
                <a:latin typeface="微软雅黑" panose="020B0503020204020204" charset="-122"/>
              </a:rPr>
              <a:t>偏航速度</a:t>
            </a:r>
            <a:r>
              <a:rPr sz="1650" b="0" dirty="0">
                <a:solidFill>
                  <a:srgbClr val="232D41"/>
                </a:solidFill>
                <a:latin typeface="微软雅黑" panose="020B0503020204020204" charset="-122"/>
              </a:rPr>
              <a:t>  </a:t>
            </a:r>
            <a:r>
              <a:rPr lang="en-US" sz="1650" b="0" dirty="0">
                <a:solidFill>
                  <a:srgbClr val="232D41"/>
                </a:solidFill>
                <a:latin typeface="微软雅黑" panose="020B0503020204020204" charset="-122"/>
              </a:rPr>
              <a:t> </a:t>
            </a:r>
            <a:r>
              <a:rPr sz="1650" b="0" dirty="0" err="1">
                <a:solidFill>
                  <a:srgbClr val="232D41"/>
                </a:solidFill>
                <a:latin typeface="微软雅黑" panose="020B0503020204020204" charset="-122"/>
              </a:rPr>
              <a:t>ω</a:t>
            </a:r>
            <a:r>
              <a:rPr lang="en-US" sz="1650" b="0" baseline="-25000" dirty="0" err="1">
                <a:solidFill>
                  <a:srgbClr val="232D41"/>
                </a:solidFill>
                <a:latin typeface="微软雅黑" panose="020B0503020204020204" charset="-122"/>
              </a:rPr>
              <a:t>yaw</a:t>
            </a:r>
            <a:endParaRPr sz="1650" b="0" dirty="0">
              <a:solidFill>
                <a:srgbClr val="232D4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26"/>
          <p:cNvSpPr/>
          <p:nvPr/>
        </p:nvSpPr>
        <p:spPr>
          <a:xfrm>
            <a:off x="971600" y="5104990"/>
            <a:ext cx="7452360" cy="374447"/>
          </a:xfrm>
          <a:prstGeom prst="roundRect">
            <a:avLst/>
          </a:prstGeom>
          <a:solidFill>
            <a:srgbClr val="FAFAFA"/>
          </a:solidFill>
          <a:ln w="13970">
            <a:solidFill>
              <a:srgbClr val="2B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800" b="1">
                <a:solidFill>
                  <a:srgbClr val="232D41"/>
                </a:solidFill>
                <a:latin typeface="微软雅黑" panose="020B0503020204020204" charset="-122"/>
              </a:rPr>
              <a:t>执行一小段时间后得到新画面 </a:t>
            </a:r>
            <a:r>
              <a:rPr lang="en-US" sz="1800" b="1">
                <a:solidFill>
                  <a:srgbClr val="232D41"/>
                </a:solidFill>
                <a:latin typeface="微软雅黑" panose="020B0503020204020204" charset="-122"/>
              </a:rPr>
              <a:t>o</a:t>
            </a:r>
            <a:r>
              <a:rPr lang="en-US" sz="1800" b="1" baseline="-25000">
                <a:solidFill>
                  <a:srgbClr val="232D41"/>
                </a:solidFill>
                <a:uFillTx/>
                <a:latin typeface="微软雅黑" panose="020B0503020204020204" charset="-122"/>
              </a:rPr>
              <a:t>t+1</a:t>
            </a:r>
            <a:r>
              <a:rPr sz="1800" b="1">
                <a:solidFill>
                  <a:srgbClr val="232D41"/>
                </a:solidFill>
                <a:latin typeface="微软雅黑" panose="020B0503020204020204" charset="-122"/>
              </a:rPr>
              <a:t>，再重新预测 a</a:t>
            </a:r>
            <a:r>
              <a:rPr lang="en-US" sz="1800" b="1" baseline="-25000">
                <a:solidFill>
                  <a:srgbClr val="232D41"/>
                </a:solidFill>
                <a:uFillTx/>
                <a:latin typeface="微软雅黑" panose="020B0503020204020204" charset="-122"/>
              </a:rPr>
              <a:t>t+1</a:t>
            </a:r>
            <a:endParaRPr lang="en-US" sz="1800" b="1" baseline="-25000">
              <a:solidFill>
                <a:srgbClr val="232D41"/>
              </a:solidFill>
              <a:uFillTx/>
              <a:latin typeface="微软雅黑" panose="020B0503020204020204" charset="-122"/>
            </a:endParaRPr>
          </a:p>
        </p:txBody>
      </p:sp>
      <p:sp>
        <p:nvSpPr>
          <p:cNvPr id="17" name="Rounded Rectangle 21"/>
          <p:cNvSpPr/>
          <p:nvPr/>
        </p:nvSpPr>
        <p:spPr>
          <a:xfrm>
            <a:off x="385942" y="1855853"/>
            <a:ext cx="2514600" cy="374447"/>
          </a:xfrm>
          <a:prstGeom prst="roundRect">
            <a:avLst/>
          </a:prstGeom>
          <a:solidFill>
            <a:srgbClr val="F6F8FC"/>
          </a:solidFill>
          <a:ln w="13970">
            <a:solidFill>
              <a:srgbClr val="2B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900" b="1" dirty="0" err="1">
                <a:solidFill>
                  <a:srgbClr val="2B5EAA"/>
                </a:solidFill>
                <a:latin typeface="微软雅黑" panose="020B0503020204020204" charset="-122"/>
              </a:rPr>
              <a:t>AutoFly</a:t>
            </a:r>
            <a:r>
              <a:rPr sz="1900" b="1" dirty="0">
                <a:solidFill>
                  <a:srgbClr val="2B5EAA"/>
                </a:solidFill>
                <a:latin typeface="微软雅黑" panose="020B0503020204020204" charset="-122"/>
              </a:rPr>
              <a:t> </a:t>
            </a:r>
            <a:r>
              <a:rPr lang="en-US" sz="1900" b="1" dirty="0" err="1">
                <a:solidFill>
                  <a:srgbClr val="2B5EAA"/>
                </a:solidFill>
                <a:latin typeface="微软雅黑" panose="020B0503020204020204" charset="-122"/>
              </a:rPr>
              <a:t>输入</a:t>
            </a:r>
            <a:r>
              <a:rPr sz="1900" b="1" dirty="0">
                <a:solidFill>
                  <a:srgbClr val="2B5EAA"/>
                </a:solidFill>
                <a:latin typeface="微软雅黑" panose="020B0503020204020204" charset="-122"/>
              </a:rPr>
              <a:t> </a:t>
            </a:r>
            <a:endParaRPr sz="1900" b="1" dirty="0">
              <a:solidFill>
                <a:srgbClr val="2B5EAA"/>
              </a:solidFill>
              <a:latin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7504" y="742010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实现策略</a:t>
            </a:r>
            <a:endParaRPr lang="zh-CN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42" y="1712716"/>
            <a:ext cx="7272808" cy="3246692"/>
          </a:xfrm>
          <a:prstGeom prst="rect">
            <a:avLst/>
          </a:prstGeom>
        </p:spPr>
      </p:pic>
      <p:sp>
        <p:nvSpPr>
          <p:cNvPr id="5" name="Rounded Rectangle 8"/>
          <p:cNvSpPr/>
          <p:nvPr/>
        </p:nvSpPr>
        <p:spPr>
          <a:xfrm>
            <a:off x="680353" y="4959408"/>
            <a:ext cx="6444716" cy="1781868"/>
          </a:xfrm>
          <a:prstGeom prst="roundRect">
            <a:avLst/>
          </a:prstGeom>
          <a:solidFill>
            <a:srgbClr val="EFF9F7"/>
          </a:solidFill>
          <a:ln w="13970">
            <a:solidFill>
              <a:srgbClr val="99C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10"/>
          <p:cNvSpPr txBox="1"/>
          <p:nvPr/>
        </p:nvSpPr>
        <p:spPr>
          <a:xfrm>
            <a:off x="899592" y="5229200"/>
            <a:ext cx="5841836" cy="17818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1 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语义分支：RGB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→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SigLIP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/ DINOv2，提取目标、障碍、场景语义</a:t>
            </a:r>
            <a:endParaRPr sz="1080" b="0" dirty="0">
              <a:solidFill>
                <a:srgbClr val="143732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2 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几何分支：RGB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→ Depth Anything V2 →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伪深度，补充距离和空间布局</a:t>
            </a:r>
            <a:endParaRPr sz="1080" b="0" dirty="0">
              <a:solidFill>
                <a:srgbClr val="143732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3 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对齐融合：视觉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/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深度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token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经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MLP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投到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LLM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表示空间，再与文本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token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拼接</a:t>
            </a:r>
            <a:endParaRPr sz="1080" b="0" dirty="0">
              <a:solidFill>
                <a:srgbClr val="143732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4  动作预测：LLaMA2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自回归预测动作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token</a:t>
            </a:r>
            <a:endParaRPr sz="1080" b="0" dirty="0">
              <a:solidFill>
                <a:srgbClr val="143732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5 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速度还原：De-tokenizer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将动作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token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转成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[</a:t>
            </a:r>
            <a:r>
              <a:rPr lang="en-US" altLang="zh-CN" sz="1080" b="0" dirty="0" err="1">
                <a:solidFill>
                  <a:srgbClr val="143732"/>
                </a:solidFill>
                <a:latin typeface="微软雅黑" panose="020B0503020204020204" charset="-122"/>
              </a:rPr>
              <a:t>v</a:t>
            </a:r>
            <a:r>
              <a:rPr lang="en-US" altLang="zh-CN" sz="1080" b="0" baseline="-25000" dirty="0" err="1">
                <a:solidFill>
                  <a:srgbClr val="143732"/>
                </a:solidFill>
                <a:latin typeface="微软雅黑" panose="020B0503020204020204" charset="-122"/>
              </a:rPr>
              <a:t>xy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, </a:t>
            </a:r>
            <a:r>
              <a:rPr lang="en-US" sz="1080" b="0" dirty="0" err="1">
                <a:solidFill>
                  <a:srgbClr val="143732"/>
                </a:solidFill>
                <a:latin typeface="微软雅黑" panose="020B0503020204020204" charset="-122"/>
              </a:rPr>
              <a:t>v</a:t>
            </a:r>
            <a:r>
              <a:rPr lang="en-US" sz="1080" b="0" baseline="-25000" dirty="0" err="1">
                <a:solidFill>
                  <a:srgbClr val="143732"/>
                </a:solidFill>
                <a:latin typeface="微软雅黑" panose="020B0503020204020204" charset="-122"/>
              </a:rPr>
              <a:t>z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 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ω</a:t>
            </a:r>
            <a:r>
              <a:rPr lang="en-US" sz="1080" b="0" baseline="-25000" dirty="0" err="1">
                <a:solidFill>
                  <a:srgbClr val="143732"/>
                </a:solidFill>
                <a:latin typeface="微软雅黑" panose="020B0503020204020204" charset="-122"/>
              </a:rPr>
              <a:t>yaw</a:t>
            </a:r>
            <a:r>
              <a:rPr sz="1080" b="0" dirty="0">
                <a:solidFill>
                  <a:srgbClr val="143732"/>
                </a:solidFill>
                <a:latin typeface="微软雅黑" panose="020B0503020204020204" charset="-122"/>
              </a:rPr>
              <a:t>]，</a:t>
            </a:r>
            <a:r>
              <a:rPr sz="1080" b="0" dirty="0" err="1">
                <a:solidFill>
                  <a:srgbClr val="143732"/>
                </a:solidFill>
                <a:latin typeface="微软雅黑" panose="020B0503020204020204" charset="-122"/>
              </a:rPr>
              <a:t>下一帧继续更新</a:t>
            </a:r>
            <a:endParaRPr sz="1080" b="0" dirty="0">
              <a:solidFill>
                <a:srgbClr val="143732"/>
              </a:solidFill>
              <a:latin typeface="微软雅黑" panose="020B0503020204020204" charset="-122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179512" y="1452437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400" b="0" dirty="0" err="1">
                <a:solidFill>
                  <a:srgbClr val="006E64"/>
                </a:solidFill>
                <a:latin typeface="微软雅黑" panose="020B0503020204020204" charset="-122"/>
              </a:rPr>
              <a:t>模型如何把当前图像、目标指令和初始方向，转换成无人机速度控制</a:t>
            </a:r>
            <a:r>
              <a:rPr sz="1400" b="0" dirty="0">
                <a:solidFill>
                  <a:srgbClr val="006E64"/>
                </a:solidFill>
                <a:latin typeface="微软雅黑" panose="020B0503020204020204" charset="-122"/>
              </a:rPr>
              <a:t>。</a:t>
            </a:r>
            <a:endParaRPr sz="1400" b="0" dirty="0">
              <a:solidFill>
                <a:srgbClr val="006E64"/>
              </a:solidFill>
              <a:latin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790207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核心框架</a:t>
            </a:r>
            <a:endParaRPr lang="zh-CN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6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7"/>
              <p:cNvSpPr txBox="1"/>
              <p:nvPr/>
            </p:nvSpPr>
            <p:spPr>
              <a:xfrm>
                <a:off x="102235" y="1917065"/>
                <a:ext cx="4320540" cy="24765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lvl="0"/>
                <a:r>
                  <a:rPr lang="zh-CN" altLang="zh-CN" sz="1400" b="1" dirty="0"/>
                  <a:t>输入</a:t>
                </a:r>
                <a:r>
                  <a:rPr lang="zh-CN" altLang="zh-CN" sz="1400" b="1" dirty="0"/>
                  <a:t>输出：</a:t>
                </a:r>
                <a:r>
                  <a:rPr lang="zh-CN" altLang="zh-CN" sz="1400" dirty="0"/>
                  <a:t> 深度观测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/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400" dirty="0"/>
                  <a:t> ，Actor 根据当前状态预测速度动作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/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400" dirty="0"/>
                  <a:t>。 </a:t>
                </a:r>
                <a:endParaRPr lang="zh-CN" altLang="zh-CN" sz="1400" dirty="0"/>
              </a:p>
              <a:p>
                <a:pPr lvl="0"/>
                <a:r>
                  <a:rPr lang="zh-CN" altLang="zh-CN" sz="1400" b="1" dirty="0"/>
                  <a:t>交互学习：</a:t>
                </a:r>
                <a:r>
                  <a:rPr lang="zh-CN" altLang="zh-CN" sz="1400" dirty="0"/>
                  <a:t> AirSim 执行动作后返回奖励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/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charset="0"/>
                          </a:rPr>
                          <m:t>𝑟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400" dirty="0"/>
                  <a:t>和下一状态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i="1"/>
                        </m:ctrlPr>
                      </m:sSubPr>
                      <m:e>
                        <m:r>
                          <a:rPr lang="zh-CN" altLang="en-US" sz="1400" i="1">
                            <a:latin typeface="Cambria Math" panose="02040503050406030204" charset="0"/>
                          </a:rPr>
                          <m:t>𝑠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charset="0"/>
                          </a:rPr>
                          <m:t>𝑡</m:t>
                        </m:r>
                        <m:r>
                          <a:rPr lang="en-US" altLang="zh-CN" sz="1400">
                            <a:latin typeface="Cambria Math" panose="02040503050406030204" charset="0"/>
                          </a:rPr>
                          <m:t>+</m:t>
                        </m:r>
                        <m:r>
                          <a:rPr lang="en-US" altLang="zh-CN" sz="1400">
                            <a:latin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sz="1400" dirty="0"/>
                  <a:t>。 </a:t>
                </a:r>
                <a:endParaRPr lang="zh-CN" altLang="zh-CN" sz="1400" dirty="0"/>
              </a:p>
              <a:p>
                <a:pPr lvl="0"/>
                <a:r>
                  <a:rPr lang="zh-CN" altLang="zh-CN" sz="1400" b="1" dirty="0">
                    <a:sym typeface="+mn-ea"/>
                  </a:rPr>
                  <a:t>经验回放：</a:t>
                </a:r>
                <a:r>
                  <a:rPr lang="zh-CN" altLang="zh-CN" sz="1400" dirty="0">
                    <a:sym typeface="+mn-ea"/>
                  </a:rPr>
                  <a:t> 将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zh-CN" altLang="en-US" sz="1400" i="1"/>
                        </m:ctrlPr>
                      </m:dPr>
                      <m:e>
                        <m:sSub>
                          <m:sSubPr>
                            <m:ctrlPr>
                              <a:rPr lang="zh-CN" altLang="en-US" sz="1400" i="1"/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sz="1400" i="1">
                                <a:latin typeface="Cambria Math" panose="02040503050406030204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1400" i="1"/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1400" i="1">
                                <a:latin typeface="Cambria Math" panose="02040503050406030204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1400" i="1"/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1400" i="1">
                                <a:latin typeface="Cambria Math" panose="02040503050406030204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1400" i="1"/>
                            </m:ctrlPr>
                          </m:sSubPr>
                          <m:e>
                            <m:r>
                              <a:rPr lang="zh-CN" altLang="en-US" sz="1400" i="1">
                                <a:latin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CN" altLang="en-US" sz="1400" i="1">
                                <a:latin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1400">
                                <a:latin typeface="Cambria Math" panose="02040503050406030204" charset="0"/>
                              </a:rPr>
                              <m:t>+</m:t>
                            </m:r>
                            <m:r>
                              <a:rPr lang="en-US" altLang="zh-CN" sz="1400"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400" dirty="0">
                    <a:sym typeface="+mn-ea"/>
                  </a:rPr>
                  <a:t>存入 Replay Buffer，</a:t>
                </a:r>
                <a:r>
                  <a:rPr lang="zh-CN" altLang="en-US" sz="1400" dirty="0">
                    <a:sym typeface="+mn-ea"/>
                  </a:rPr>
                  <a:t>之后随机采样用于训练</a:t>
                </a:r>
                <a:endParaRPr lang="zh-CN" altLang="zh-CN" sz="1400" dirty="0"/>
              </a:p>
              <a:p>
                <a:pPr lvl="0"/>
                <a:r>
                  <a:rPr lang="en-US" altLang="zh-CN" sz="1400" dirty="0"/>
                  <a:t>Critic </a:t>
                </a:r>
                <a:r>
                  <a:rPr lang="zh-CN" altLang="en-US" sz="1400" dirty="0"/>
                  <a:t>，</a:t>
                </a:r>
                <a:r>
                  <a:rPr lang="en-US" altLang="zh-CN" sz="1400" dirty="0"/>
                  <a:t>Actor</a:t>
                </a:r>
                <a:r>
                  <a:rPr lang="zh-CN" altLang="en-US" sz="1400" dirty="0"/>
                  <a:t>更新： </a:t>
                </a:r>
                <a:r>
                  <a:rPr lang="en-US" altLang="zh-CN" sz="1400" dirty="0"/>
                  <a:t>Critic </a:t>
                </a:r>
                <a:r>
                  <a:rPr lang="zh-CN" altLang="en-US" sz="1400" dirty="0"/>
                  <a:t>根据奖励学习判断“当前动作好不好</a:t>
                </a:r>
                <a:r>
                  <a:rPr lang="en-US" altLang="zh-CN" sz="1400" dirty="0"/>
                  <a:t>”</a:t>
                </a:r>
                <a:r>
                  <a:rPr lang="zh-CN" altLang="en-US" sz="1400" dirty="0"/>
                  <a:t>， </a:t>
                </a:r>
                <a:r>
                  <a:rPr lang="en-US" altLang="zh-CN" sz="1400" dirty="0"/>
                  <a:t>Actor </a:t>
                </a:r>
                <a:r>
                  <a:rPr lang="zh-CN" altLang="en-US" sz="1400" dirty="0"/>
                  <a:t>根据</a:t>
                </a:r>
                <a:r>
                  <a:rPr lang="en-US" altLang="zh-CN" sz="1400" dirty="0"/>
                  <a:t>Critic </a:t>
                </a:r>
                <a:r>
                  <a:rPr lang="zh-CN" altLang="en-US" sz="1400" dirty="0"/>
                  <a:t>的评价调整自身参数，使高价值动作更容易被选择。</a:t>
                </a:r>
                <a:endParaRPr lang="zh-CN" altLang="en-US" sz="1400" dirty="0"/>
              </a:p>
              <a:p>
                <a:pPr lvl="0"/>
                <a:r>
                  <a:rPr lang="zh-CN" altLang="zh-CN" sz="1400" b="1" dirty="0"/>
                  <a:t>训练目标：</a:t>
                </a:r>
                <a:r>
                  <a:rPr lang="zh-CN" altLang="zh-CN" sz="1400" dirty="0"/>
                  <a:t> 在对应场景中学会稳定的点到点导航与避障，直到评估成功率约 95%。</a:t>
                </a:r>
                <a:endParaRPr lang="zh-CN" altLang="zh-CN" sz="1400" dirty="0"/>
              </a:p>
            </p:txBody>
          </p:sp>
        </mc:Choice>
        <mc:Fallback>
          <p:sp>
            <p:nvSpPr>
              <p:cNvPr id="2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35" y="1917065"/>
                <a:ext cx="4320540" cy="24765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6"/>
          <p:cNvSpPr/>
          <p:nvPr/>
        </p:nvSpPr>
        <p:spPr>
          <a:xfrm>
            <a:off x="102235" y="1518285"/>
            <a:ext cx="4264660" cy="327025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t"/>
          <a:lstStyle/>
          <a:p>
            <a:pPr algn="l"/>
            <a:r>
              <a:rPr sz="1600" b="1" dirty="0">
                <a:solidFill>
                  <a:srgbClr val="1E293B"/>
                </a:solidFill>
                <a:latin typeface="微软雅黑" panose="020B0503020204020204" charset="-122"/>
              </a:rPr>
              <a:t>SAC </a:t>
            </a:r>
            <a:r>
              <a:rPr sz="1600" b="1" dirty="0" err="1">
                <a:solidFill>
                  <a:srgbClr val="1E293B"/>
                </a:solidFill>
                <a:latin typeface="微软雅黑" panose="020B0503020204020204" charset="-122"/>
              </a:rPr>
              <a:t>专家怎么训练</a:t>
            </a:r>
            <a:r>
              <a:rPr sz="1600" b="1" dirty="0">
                <a:solidFill>
                  <a:srgbClr val="1E293B"/>
                </a:solidFill>
                <a:latin typeface="微软雅黑" panose="020B0503020204020204" charset="-122"/>
              </a:rPr>
              <a:t>？</a:t>
            </a:r>
            <a:endParaRPr sz="1600" b="1" dirty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4" name="TextBox 10"/>
          <p:cNvSpPr txBox="1"/>
          <p:nvPr/>
        </p:nvSpPr>
        <p:spPr>
          <a:xfrm>
            <a:off x="4572186" y="2061222"/>
            <a:ext cx="4425696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zh-CN" sz="1300" b="0" dirty="0">
                <a:solidFill>
                  <a:srgbClr val="374151"/>
                </a:solidFill>
                <a:latin typeface="微软雅黑" panose="020B0503020204020204" charset="-122"/>
              </a:rPr>
              <a:t>1.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训练好的 SAC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专家在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AirSim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中自动飞行，批量采集仿真轨迹</a:t>
            </a:r>
            <a:endParaRPr sz="1300" b="0" dirty="0">
              <a:solidFill>
                <a:srgbClr val="374151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lang="en-US" altLang="zh-CN" sz="1300" b="0" dirty="0">
                <a:solidFill>
                  <a:srgbClr val="374151"/>
                </a:solidFill>
                <a:latin typeface="微软雅黑" panose="020B0503020204020204" charset="-122"/>
              </a:rPr>
              <a:t>2.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记录每时刻的 RGB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图像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oₜ、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语言指令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L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和专家动作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aₜ</a:t>
            </a:r>
            <a:endParaRPr sz="1300" b="0" dirty="0">
              <a:solidFill>
                <a:srgbClr val="374151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lang="en-US" altLang="zh-CN" sz="1300" b="0" dirty="0">
                <a:solidFill>
                  <a:srgbClr val="374151"/>
                </a:solidFill>
                <a:latin typeface="微软雅黑" panose="020B0503020204020204" charset="-122"/>
              </a:rPr>
              <a:t>3.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另外加入约 1K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条真实飞行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episode，用于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sim-to-real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增强</a:t>
            </a:r>
            <a:endParaRPr sz="1300" b="0" dirty="0">
              <a:solidFill>
                <a:srgbClr val="374151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lang="en-US" altLang="zh-CN" sz="1300" b="0" dirty="0">
                <a:solidFill>
                  <a:srgbClr val="374151"/>
                </a:solidFill>
                <a:latin typeface="微软雅黑" panose="020B0503020204020204" charset="-122"/>
              </a:rPr>
              <a:t>4.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最终形成约 13K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条轨迹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/ 250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万</a:t>
            </a:r>
            <a:r>
              <a:rPr sz="1300" b="0" dirty="0">
                <a:solidFill>
                  <a:srgbClr val="374151"/>
                </a:solidFill>
                <a:latin typeface="微软雅黑" panose="020B0503020204020204" charset="-122"/>
              </a:rPr>
              <a:t> image-language-action </a:t>
            </a:r>
            <a:r>
              <a:rPr sz="1300" b="0" dirty="0" err="1">
                <a:solidFill>
                  <a:srgbClr val="374151"/>
                </a:solidFill>
                <a:latin typeface="微软雅黑" panose="020B0503020204020204" charset="-122"/>
              </a:rPr>
              <a:t>三元组</a:t>
            </a:r>
            <a:endParaRPr sz="1300" b="0" dirty="0">
              <a:solidFill>
                <a:srgbClr val="374151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9"/>
          <p:cNvSpPr/>
          <p:nvPr/>
        </p:nvSpPr>
        <p:spPr>
          <a:xfrm>
            <a:off x="4572000" y="1557293"/>
            <a:ext cx="4389120" cy="3162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t"/>
          <a:lstStyle/>
          <a:p>
            <a:pPr algn="l"/>
            <a:r>
              <a:rPr sz="1600" b="1" dirty="0">
                <a:solidFill>
                  <a:srgbClr val="1E293B"/>
                </a:solidFill>
                <a:latin typeface="微软雅黑" panose="020B0503020204020204" charset="-122"/>
              </a:rPr>
              <a:t>B. </a:t>
            </a:r>
            <a:r>
              <a:rPr sz="1600" b="1" dirty="0" err="1">
                <a:solidFill>
                  <a:srgbClr val="1E293B"/>
                </a:solidFill>
                <a:latin typeface="微软雅黑" panose="020B0503020204020204" charset="-122"/>
              </a:rPr>
              <a:t>AutoFly</a:t>
            </a:r>
            <a:r>
              <a:rPr sz="1600" b="1" dirty="0">
                <a:solidFill>
                  <a:srgbClr val="1E293B"/>
                </a:solidFill>
                <a:latin typeface="微软雅黑" panose="020B0503020204020204" charset="-122"/>
              </a:rPr>
              <a:t> </a:t>
            </a:r>
            <a:r>
              <a:rPr sz="1600" b="1" dirty="0" err="1">
                <a:solidFill>
                  <a:srgbClr val="1E293B"/>
                </a:solidFill>
                <a:latin typeface="微软雅黑" panose="020B0503020204020204" charset="-122"/>
              </a:rPr>
              <a:t>的训练数据怎么来</a:t>
            </a:r>
            <a:r>
              <a:rPr sz="1600" b="1" dirty="0">
                <a:solidFill>
                  <a:srgbClr val="1E293B"/>
                </a:solidFill>
                <a:latin typeface="微软雅黑" panose="020B0503020204020204" charset="-122"/>
              </a:rPr>
              <a:t>？</a:t>
            </a:r>
            <a:endParaRPr sz="1600" b="1" dirty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11"/>
          <p:cNvSpPr/>
          <p:nvPr/>
        </p:nvSpPr>
        <p:spPr>
          <a:xfrm>
            <a:off x="34699" y="4494108"/>
            <a:ext cx="1805531" cy="2299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/>
            <a:r>
              <a:rPr sz="1150" b="0">
                <a:solidFill>
                  <a:srgbClr val="1E293B"/>
                </a:solidFill>
                <a:latin typeface="微软雅黑" panose="020B0503020204020204" charset="-122"/>
              </a:rPr>
              <a:t>AirSim 场景</a:t>
            </a:r>
            <a:endParaRPr sz="11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2195149" y="4494743"/>
            <a:ext cx="1638268" cy="2299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/>
            <a:r>
              <a:rPr sz="1150" b="1">
                <a:solidFill>
                  <a:srgbClr val="1E293B"/>
                </a:solidFill>
                <a:latin typeface="微软雅黑" panose="020B0503020204020204" charset="-122"/>
              </a:rPr>
              <a:t>SAC 专家</a:t>
            </a:r>
            <a:endParaRPr sz="115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5"/>
          <p:cNvSpPr/>
          <p:nvPr/>
        </p:nvSpPr>
        <p:spPr>
          <a:xfrm>
            <a:off x="4219173" y="4477122"/>
            <a:ext cx="1732337" cy="2299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/>
            <a:r>
              <a:rPr sz="1150" b="0">
                <a:solidFill>
                  <a:srgbClr val="1E293B"/>
                </a:solidFill>
                <a:latin typeface="微软雅黑" panose="020B0503020204020204" charset="-122"/>
              </a:rPr>
              <a:t>仿真轨迹</a:t>
            </a:r>
            <a:endParaRPr sz="11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7"/>
          <p:cNvSpPr/>
          <p:nvPr/>
        </p:nvSpPr>
        <p:spPr>
          <a:xfrm>
            <a:off x="6466093" y="4491727"/>
            <a:ext cx="1920240" cy="2299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/>
            <a:r>
              <a:rPr sz="1150" b="0">
                <a:solidFill>
                  <a:srgbClr val="1E293B"/>
                </a:solidFill>
                <a:latin typeface="微软雅黑" panose="020B0503020204020204" charset="-122"/>
              </a:rPr>
              <a:t>+ 1K 真机数据</a:t>
            </a:r>
            <a:endParaRPr sz="115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9"/>
          <p:cNvSpPr/>
          <p:nvPr/>
        </p:nvSpPr>
        <p:spPr>
          <a:xfrm>
            <a:off x="6875890" y="5229192"/>
            <a:ext cx="1270190" cy="2299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/>
            <a:r>
              <a:rPr sz="1150" b="1">
                <a:solidFill>
                  <a:srgbClr val="1E293B"/>
                </a:solidFill>
                <a:latin typeface="微软雅黑" panose="020B0503020204020204" charset="-122"/>
              </a:rPr>
              <a:t>AutoFly 训练集</a:t>
            </a:r>
            <a:endParaRPr sz="115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2"/>
          <p:cNvSpPr txBox="1"/>
          <p:nvPr/>
        </p:nvSpPr>
        <p:spPr>
          <a:xfrm>
            <a:off x="102173" y="935795"/>
            <a:ext cx="1726627" cy="332399"/>
          </a:xfrm>
          <a:prstGeom prst="rect">
            <a:avLst/>
          </a:prstGeom>
          <a:noFill/>
        </p:spPr>
        <p:txBody>
          <a:bodyPr wrap="none" lIns="54864" tIns="27432" rIns="54864" bIns="27432" anchor="ctr">
            <a:spAutoFit/>
          </a:bodyPr>
          <a:lstStyle/>
          <a:p>
            <a:r>
              <a:rPr lang="zh-CN" altLang="en-US" dirty="0"/>
              <a:t>数据集采集方法</a:t>
            </a:r>
            <a:endParaRPr dirty="0"/>
          </a:p>
        </p:txBody>
      </p:sp>
      <p:sp>
        <p:nvSpPr>
          <p:cNvPr id="20" name="文本框 19"/>
          <p:cNvSpPr txBox="1"/>
          <p:nvPr/>
        </p:nvSpPr>
        <p:spPr>
          <a:xfrm>
            <a:off x="102235" y="1188246"/>
            <a:ext cx="5604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SAC </a:t>
            </a:r>
            <a:r>
              <a:rPr lang="zh-CN" altLang="en-US" dirty="0"/>
              <a:t>采仿真数据，</a:t>
            </a:r>
            <a:r>
              <a:rPr lang="en-US" altLang="zh-CN" dirty="0"/>
              <a:t>1</a:t>
            </a:r>
            <a:r>
              <a:rPr lang="en-GB" altLang="zh-CN" dirty="0"/>
              <a:t>K</a:t>
            </a:r>
            <a:r>
              <a:rPr lang="zh-CN" altLang="en-GB" dirty="0"/>
              <a:t>条</a:t>
            </a:r>
            <a:r>
              <a:rPr lang="zh-CN" altLang="en-US" dirty="0"/>
              <a:t>真机数据补充</a:t>
            </a:r>
            <a:endParaRPr lang="zh-CN" altLang="en-US" dirty="0"/>
          </a:p>
        </p:txBody>
      </p:sp>
      <p:cxnSp>
        <p:nvCxnSpPr>
          <p:cNvPr id="22" name="直线箭头连接符 21"/>
          <p:cNvCxnSpPr>
            <a:endCxn id="9" idx="1"/>
          </p:cNvCxnSpPr>
          <p:nvPr/>
        </p:nvCxnSpPr>
        <p:spPr>
          <a:xfrm>
            <a:off x="1835222" y="4609737"/>
            <a:ext cx="3599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/>
          <p:cNvCxnSpPr/>
          <p:nvPr/>
        </p:nvCxnSpPr>
        <p:spPr>
          <a:xfrm>
            <a:off x="3818177" y="4609662"/>
            <a:ext cx="400774" cy="13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/>
          <p:nvPr/>
        </p:nvCxnSpPr>
        <p:spPr>
          <a:xfrm>
            <a:off x="5993420" y="4581321"/>
            <a:ext cx="431974" cy="8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/>
          <p:nvPr/>
        </p:nvCxnSpPr>
        <p:spPr>
          <a:xfrm>
            <a:off x="7524328" y="4798550"/>
            <a:ext cx="0" cy="353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" y="4754040"/>
            <a:ext cx="6458347" cy="19659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12598" y="978645"/>
            <a:ext cx="6583680" cy="267766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1650" dirty="0" err="1">
                <a:solidFill>
                  <a:srgbClr val="0F172A"/>
                </a:solidFill>
                <a:latin typeface="微软雅黑" panose="020B0503020204020204" charset="-122"/>
              </a:rPr>
              <a:t>轨迹重平衡</a:t>
            </a:r>
            <a:endParaRPr sz="1650" dirty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9754" y="1449787"/>
            <a:ext cx="8092440" cy="173990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1050" dirty="0" err="1">
                <a:solidFill>
                  <a:srgbClr val="475569"/>
                </a:solidFill>
                <a:latin typeface="微软雅黑" panose="020B0503020204020204" charset="-122"/>
              </a:rPr>
              <a:t>核心不是</a:t>
            </a:r>
            <a:r>
              <a:rPr lang="zh-CN" sz="1050" dirty="0" err="1">
                <a:solidFill>
                  <a:srgbClr val="475569"/>
                </a:solidFill>
                <a:latin typeface="微软雅黑" panose="020B0503020204020204" charset="-122"/>
              </a:rPr>
              <a:t>修</a:t>
            </a:r>
            <a:r>
              <a:rPr sz="1050" dirty="0" err="1">
                <a:solidFill>
                  <a:srgbClr val="475569"/>
                </a:solidFill>
                <a:latin typeface="微软雅黑" panose="020B0503020204020204" charset="-122"/>
              </a:rPr>
              <a:t>改网络，而是先把每条轨迹切成“避障段</a:t>
            </a:r>
            <a:r>
              <a:rPr sz="1050" dirty="0">
                <a:solidFill>
                  <a:srgbClr val="475569"/>
                </a:solidFill>
                <a:latin typeface="微软雅黑" panose="020B0503020204020204" charset="-122"/>
              </a:rPr>
              <a:t> / </a:t>
            </a:r>
            <a:r>
              <a:rPr sz="1050" dirty="0" err="1">
                <a:solidFill>
                  <a:srgbClr val="475569"/>
                </a:solidFill>
                <a:latin typeface="微软雅黑" panose="020B0503020204020204" charset="-122"/>
              </a:rPr>
              <a:t>接近目标段</a:t>
            </a:r>
            <a:r>
              <a:rPr sz="1050" dirty="0">
                <a:solidFill>
                  <a:srgbClr val="475569"/>
                </a:solidFill>
                <a:latin typeface="微软雅黑" panose="020B0503020204020204" charset="-122"/>
              </a:rPr>
              <a:t>”，</a:t>
            </a:r>
            <a:r>
              <a:rPr sz="1050" dirty="0" err="1">
                <a:solidFill>
                  <a:srgbClr val="475569"/>
                </a:solidFill>
                <a:latin typeface="微软雅黑" panose="020B0503020204020204" charset="-122"/>
              </a:rPr>
              <a:t>再改变训练时抽样比例</a:t>
            </a:r>
            <a:r>
              <a:rPr sz="1050" dirty="0">
                <a:solidFill>
                  <a:srgbClr val="475569"/>
                </a:solidFill>
                <a:latin typeface="微软雅黑" panose="020B0503020204020204" charset="-122"/>
              </a:rPr>
              <a:t>。</a:t>
            </a:r>
            <a:endParaRPr sz="1050" dirty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212598" y="1700808"/>
            <a:ext cx="82296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9660" y="1874799"/>
            <a:ext cx="1062990" cy="218427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 dirty="0">
                <a:solidFill>
                  <a:srgbClr val="1E40AF"/>
                </a:solidFill>
                <a:latin typeface="微软雅黑" panose="020B0503020204020204" charset="-122"/>
              </a:rPr>
              <a:t>Step 1：切轨迹</a:t>
            </a:r>
            <a:endParaRPr sz="900" b="1" dirty="0">
              <a:solidFill>
                <a:srgbClr val="1E40A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0" y="1904467"/>
            <a:ext cx="1131570" cy="218427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00" b="1" dirty="0">
                <a:solidFill>
                  <a:srgbClr val="15803D"/>
                </a:solidFill>
                <a:latin typeface="微软雅黑" panose="020B0503020204020204" charset="-122"/>
              </a:rPr>
              <a:t>Step 2：重采样</a:t>
            </a:r>
            <a:endParaRPr sz="900" b="1" dirty="0">
              <a:solidFill>
                <a:srgbClr val="15803D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7763" y="2224281"/>
            <a:ext cx="3881630" cy="22361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2370951"/>
            <a:ext cx="3072384" cy="186974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1125" b="1" dirty="0" err="1">
                <a:solidFill>
                  <a:srgbClr val="0F172A"/>
                </a:solidFill>
                <a:latin typeface="微软雅黑" panose="020B0503020204020204" charset="-122"/>
              </a:rPr>
              <a:t>用</a:t>
            </a:r>
            <a:r>
              <a:rPr sz="1125" b="1" dirty="0">
                <a:solidFill>
                  <a:srgbClr val="0F172A"/>
                </a:solidFill>
                <a:latin typeface="微软雅黑" panose="020B0503020204020204" charset="-122"/>
              </a:rPr>
              <a:t> Grounding DINO </a:t>
            </a:r>
            <a:r>
              <a:rPr sz="1125" b="1" dirty="0" err="1">
                <a:solidFill>
                  <a:srgbClr val="0F172A"/>
                </a:solidFill>
                <a:latin typeface="微软雅黑" panose="020B0503020204020204" charset="-122"/>
              </a:rPr>
              <a:t>找“第一次看到目标</a:t>
            </a:r>
            <a:r>
              <a:rPr sz="1125" b="1" dirty="0">
                <a:solidFill>
                  <a:srgbClr val="0F172A"/>
                </a:solidFill>
                <a:latin typeface="微软雅黑" panose="020B0503020204020204" charset="-122"/>
              </a:rPr>
              <a:t>”</a:t>
            </a:r>
            <a:endParaRPr sz="1125" b="1" dirty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9788" y="2633221"/>
            <a:ext cx="3497580" cy="146643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865" dirty="0" err="1">
                <a:solidFill>
                  <a:srgbClr val="475569"/>
                </a:solidFill>
                <a:latin typeface="微软雅黑" panose="020B0503020204020204" charset="-122"/>
              </a:rPr>
              <a:t>每帧用语言目标当查询：检测到目标且置信度</a:t>
            </a:r>
            <a:r>
              <a:rPr sz="865" dirty="0">
                <a:solidFill>
                  <a:srgbClr val="475569"/>
                </a:solidFill>
                <a:latin typeface="微软雅黑" panose="020B0503020204020204" charset="-122"/>
              </a:rPr>
              <a:t> &gt; 0.7，就作为分界点。</a:t>
            </a:r>
            <a:endParaRPr sz="865" dirty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5684" y="3092771"/>
            <a:ext cx="411480" cy="140808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825" b="1" dirty="0" err="1">
                <a:solidFill>
                  <a:srgbClr val="475569"/>
                </a:solidFill>
                <a:latin typeface="微软雅黑" panose="020B0503020204020204" charset="-122"/>
              </a:rPr>
              <a:t>起点</a:t>
            </a:r>
            <a:endParaRPr sz="825" b="1" dirty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1628" y="3194484"/>
            <a:ext cx="411480" cy="140808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825" b="1">
                <a:solidFill>
                  <a:srgbClr val="475569"/>
                </a:solidFill>
                <a:latin typeface="微软雅黑" panose="020B0503020204020204" charset="-122"/>
              </a:rPr>
              <a:t>目标</a:t>
            </a:r>
            <a:endParaRPr sz="825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8670" y="3288096"/>
            <a:ext cx="2434590" cy="205946"/>
          </a:xfrm>
          <a:prstGeom prst="roundRect">
            <a:avLst>
              <a:gd name="adj" fmla="val 2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36976" y="3288096"/>
            <a:ext cx="809244" cy="205946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051810" y="2994780"/>
            <a:ext cx="329184" cy="280835"/>
          </a:xfrm>
          <a:prstGeom prst="triangl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0904" y="2807556"/>
            <a:ext cx="1028700" cy="152349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微软雅黑" panose="020B0503020204020204" charset="-122"/>
              </a:rPr>
              <a:t>首次看到目标</a:t>
            </a:r>
            <a:endParaRPr sz="900" b="1">
              <a:solidFill>
                <a:srgbClr val="DC262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68730" y="3550208"/>
            <a:ext cx="1440180" cy="152349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900" b="1">
                <a:solidFill>
                  <a:srgbClr val="1E40AF"/>
                </a:solidFill>
                <a:latin typeface="微软雅黑" panose="020B0503020204020204" charset="-122"/>
              </a:rPr>
              <a:t>避障阶段 ≈ 73%</a:t>
            </a:r>
            <a:endParaRPr sz="900" b="1">
              <a:solidFill>
                <a:srgbClr val="1E40A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68396" y="3550208"/>
            <a:ext cx="1131570" cy="152349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900" b="1">
                <a:solidFill>
                  <a:srgbClr val="15803D"/>
                </a:solidFill>
                <a:latin typeface="微软雅黑" panose="020B0503020204020204" charset="-122"/>
              </a:rPr>
              <a:t>接近目标 ≈ 27%</a:t>
            </a:r>
            <a:endParaRPr sz="900" b="1">
              <a:solidFill>
                <a:srgbClr val="15803D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1510" y="3880969"/>
            <a:ext cx="1680210" cy="38692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65">
                <a:solidFill>
                  <a:srgbClr val="1E40AF"/>
                </a:solidFill>
                <a:latin typeface="微软雅黑" panose="020B0503020204020204" charset="-122"/>
              </a:rPr>
              <a:t>未看到目标
→ 主要学习避障/搜索</a:t>
            </a:r>
            <a:endParaRPr sz="865">
              <a:solidFill>
                <a:srgbClr val="1E40A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551176" y="3880969"/>
            <a:ext cx="1508760" cy="386928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65">
                <a:solidFill>
                  <a:srgbClr val="15803D"/>
                </a:solidFill>
                <a:latin typeface="微软雅黑" panose="020B0503020204020204" charset="-122"/>
              </a:rPr>
              <a:t>看到目标后
→ 学习靠近并到达</a:t>
            </a:r>
            <a:endParaRPr sz="865">
              <a:solidFill>
                <a:srgbClr val="15803D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19422" y="2224281"/>
            <a:ext cx="4011930" cy="22370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9340" y="2370012"/>
            <a:ext cx="2606040" cy="186974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1125" b="1" dirty="0" err="1">
                <a:solidFill>
                  <a:srgbClr val="0F172A"/>
                </a:solidFill>
                <a:latin typeface="微软雅黑" panose="020B0503020204020204" charset="-122"/>
              </a:rPr>
              <a:t>按阶段分组，然后重新抽样</a:t>
            </a:r>
            <a:endParaRPr sz="1125" b="1" dirty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0685" y="2693087"/>
            <a:ext cx="3566160" cy="146643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865" dirty="0" err="1">
                <a:solidFill>
                  <a:srgbClr val="475569"/>
                </a:solidFill>
                <a:latin typeface="微软雅黑" panose="020B0503020204020204" charset="-122"/>
              </a:rPr>
              <a:t>让训练时“避障”和“接近目标”被看到的机会接近</a:t>
            </a:r>
            <a:r>
              <a:rPr sz="865" dirty="0">
                <a:solidFill>
                  <a:srgbClr val="475569"/>
                </a:solidFill>
                <a:latin typeface="微软雅黑" panose="020B0503020204020204" charset="-122"/>
              </a:rPr>
              <a:t> 1:1。</a:t>
            </a:r>
            <a:endParaRPr sz="865" dirty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00600" y="3206965"/>
            <a:ext cx="534924" cy="135102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790" b="1" dirty="0" err="1">
                <a:solidFill>
                  <a:srgbClr val="475569"/>
                </a:solidFill>
                <a:latin typeface="微软雅黑" panose="020B0503020204020204" charset="-122"/>
              </a:rPr>
              <a:t>原始</a:t>
            </a:r>
            <a:endParaRPr sz="790" b="1" dirty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294376" y="3182003"/>
            <a:ext cx="2297430" cy="1508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91806" y="3182003"/>
            <a:ext cx="850392" cy="1508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72360" y="3207816"/>
            <a:ext cx="685800" cy="117725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675" b="1">
                <a:solidFill>
                  <a:srgbClr val="FFFFFF"/>
                </a:solidFill>
                <a:latin typeface="微软雅黑" panose="020B0503020204020204" charset="-122"/>
              </a:rPr>
              <a:t>73%</a:t>
            </a:r>
            <a:endParaRPr sz="675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57986" y="3207816"/>
            <a:ext cx="480060" cy="117725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675" b="1" dirty="0">
                <a:solidFill>
                  <a:srgbClr val="FFFFFF"/>
                </a:solidFill>
                <a:latin typeface="微软雅黑" panose="020B0503020204020204" charset="-122"/>
              </a:rPr>
              <a:t>27%</a:t>
            </a:r>
            <a:endParaRPr sz="675" b="1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0600" y="3475319"/>
            <a:ext cx="534924" cy="135102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790" b="1">
                <a:solidFill>
                  <a:srgbClr val="475569"/>
                </a:solidFill>
                <a:latin typeface="微软雅黑" panose="020B0503020204020204" charset="-122"/>
              </a:rPr>
              <a:t>权重</a:t>
            </a:r>
            <a:endParaRPr sz="79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294376" y="3419152"/>
            <a:ext cx="1097280" cy="22466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715" b="1">
                <a:solidFill>
                  <a:srgbClr val="1E40AF"/>
                </a:solidFill>
                <a:latin typeface="微软雅黑" panose="020B0503020204020204" charset="-122"/>
              </a:rPr>
              <a:t>避障少采
w≈0.68</a:t>
            </a:r>
            <a:endParaRPr sz="715" b="1">
              <a:solidFill>
                <a:srgbClr val="1E40AF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015734" y="3419152"/>
            <a:ext cx="1200150" cy="224668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715" b="1">
                <a:solidFill>
                  <a:srgbClr val="15803D"/>
                </a:solidFill>
                <a:latin typeface="微软雅黑" panose="020B0503020204020204" charset="-122"/>
              </a:rPr>
              <a:t>接近多采
w≈1.85</a:t>
            </a:r>
            <a:endParaRPr sz="715" b="1">
              <a:solidFill>
                <a:srgbClr val="15803D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67094" y="3462838"/>
            <a:ext cx="308610" cy="221599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1350" b="1">
                <a:solidFill>
                  <a:srgbClr val="64748B"/>
                </a:solidFill>
                <a:latin typeface="微软雅黑" panose="020B0503020204020204" charset="-122"/>
              </a:rPr>
              <a:t>→</a:t>
            </a:r>
            <a:endParaRPr sz="1350" b="1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0600" y="3880969"/>
            <a:ext cx="534924" cy="135102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790" b="1">
                <a:solidFill>
                  <a:srgbClr val="475569"/>
                </a:solidFill>
                <a:latin typeface="微软雅黑" panose="020B0503020204020204" charset="-122"/>
              </a:rPr>
              <a:t>训练</a:t>
            </a:r>
            <a:endParaRPr sz="790" b="1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294376" y="3868488"/>
            <a:ext cx="1577340" cy="1783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71716" y="3868488"/>
            <a:ext cx="1577340" cy="1783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0733" y="3897152"/>
            <a:ext cx="445770" cy="129266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微软雅黑" panose="020B0503020204020204" charset="-122"/>
              </a:rPr>
              <a:t>50%</a:t>
            </a:r>
            <a:endParaRPr sz="750" b="1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392924" y="3909519"/>
            <a:ext cx="445770" cy="129266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微软雅黑" panose="020B0503020204020204" charset="-122"/>
              </a:rPr>
              <a:t>50%</a:t>
            </a:r>
            <a:endParaRPr sz="750" b="1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81178" y="5105298"/>
            <a:ext cx="8037576" cy="7488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5684" y="5311238"/>
            <a:ext cx="1851660" cy="335280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1050" b="1" dirty="0">
                <a:solidFill>
                  <a:srgbClr val="0F172A"/>
                </a:solidFill>
                <a:latin typeface="微软雅黑" panose="020B0503020204020204" charset="-122"/>
              </a:rPr>
              <a:t>不是“</a:t>
            </a:r>
            <a:r>
              <a:rPr sz="1050" b="1" dirty="0" err="1">
                <a:solidFill>
                  <a:srgbClr val="0F172A"/>
                </a:solidFill>
                <a:latin typeface="微软雅黑" panose="020B0503020204020204" charset="-122"/>
              </a:rPr>
              <a:t>更会</a:t>
            </a:r>
            <a:r>
              <a:rPr lang="zh-CN" sz="1050" b="1" dirty="0" err="1">
                <a:solidFill>
                  <a:srgbClr val="0F172A"/>
                </a:solidFill>
                <a:latin typeface="微软雅黑" panose="020B0503020204020204" charset="-122"/>
              </a:rPr>
              <a:t>避障</a:t>
            </a:r>
            <a:r>
              <a:rPr sz="1050" b="1" dirty="0">
                <a:solidFill>
                  <a:srgbClr val="0F172A"/>
                </a:solidFill>
                <a:latin typeface="微软雅黑" panose="020B0503020204020204" charset="-122"/>
              </a:rPr>
              <a:t>”，</a:t>
            </a:r>
            <a:r>
              <a:rPr sz="1050" b="1" dirty="0" err="1">
                <a:solidFill>
                  <a:srgbClr val="0F172A"/>
                </a:solidFill>
                <a:latin typeface="微软雅黑" panose="020B0503020204020204" charset="-122"/>
              </a:rPr>
              <a:t>而是更会完成任务</a:t>
            </a:r>
            <a:endParaRPr sz="1050" b="1" dirty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5311238"/>
            <a:ext cx="1885950" cy="43349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896612" y="5254628"/>
            <a:ext cx="3257550" cy="158185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940" b="1" dirty="0" err="1">
                <a:solidFill>
                  <a:srgbClr val="0F172A"/>
                </a:solidFill>
                <a:latin typeface="微软雅黑" panose="020B0503020204020204" charset="-122"/>
              </a:rPr>
              <a:t>论文</a:t>
            </a:r>
            <a:r>
              <a:rPr sz="940" b="1" dirty="0">
                <a:solidFill>
                  <a:srgbClr val="0F172A"/>
                </a:solidFill>
                <a:latin typeface="微软雅黑" panose="020B0503020204020204" charset="-122"/>
              </a:rPr>
              <a:t> Table 6：重平衡 SR=47.9，w/o SR=16.6</a:t>
            </a:r>
            <a:endParaRPr sz="940" b="1" dirty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63019" y="5483431"/>
            <a:ext cx="3257550" cy="279435"/>
          </a:xfrm>
          <a:prstGeom prst="rect">
            <a:avLst/>
          </a:prstGeom>
          <a:noFill/>
        </p:spPr>
        <p:txBody>
          <a:bodyPr wrap="square" lIns="13716" tIns="6858" rIns="13716" bIns="6858" anchor="t">
            <a:spAutoFit/>
          </a:bodyPr>
          <a:lstStyle/>
          <a:p>
            <a:pPr algn="l"/>
            <a:r>
              <a:rPr sz="865" dirty="0">
                <a:solidFill>
                  <a:srgbClr val="475569"/>
                </a:solidFill>
                <a:latin typeface="微软雅黑" panose="020B0503020204020204" charset="-122"/>
              </a:rPr>
              <a:t>如果训练样本大多来自避障阶段，模型可能“</a:t>
            </a:r>
            <a:r>
              <a:rPr sz="865" dirty="0" err="1">
                <a:solidFill>
                  <a:srgbClr val="475569"/>
                </a:solidFill>
                <a:latin typeface="微软雅黑" panose="020B0503020204020204" charset="-122"/>
              </a:rPr>
              <a:t>不撞</a:t>
            </a:r>
            <a:r>
              <a:rPr sz="865" dirty="0">
                <a:solidFill>
                  <a:srgbClr val="475569"/>
                </a:solidFill>
                <a:latin typeface="微软雅黑" panose="020B0503020204020204" charset="-122"/>
              </a:rPr>
              <a:t>”，</a:t>
            </a:r>
            <a:r>
              <a:rPr sz="865" dirty="0" err="1">
                <a:solidFill>
                  <a:srgbClr val="475569"/>
                </a:solidFill>
                <a:latin typeface="微软雅黑" panose="020B0503020204020204" charset="-122"/>
              </a:rPr>
              <a:t>但不一定会接近目标</a:t>
            </a:r>
            <a:r>
              <a:rPr sz="865" dirty="0">
                <a:solidFill>
                  <a:srgbClr val="475569"/>
                </a:solidFill>
                <a:latin typeface="微软雅黑" panose="020B0503020204020204" charset="-122"/>
              </a:rPr>
              <a:t>。</a:t>
            </a:r>
            <a:endParaRPr sz="865" dirty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" y="1589317"/>
            <a:ext cx="7772400" cy="143044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86" y="3429000"/>
            <a:ext cx="7308428" cy="318637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467" y="311124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不同导航目标类别上的性能指标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6467" y="110769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无人机的总体性能</a:t>
            </a:r>
            <a:r>
              <a:rPr lang="zh-CN" altLang="en-US" dirty="0"/>
              <a:t>指标对比：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40550" y="11427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深度编码器的消融</a:t>
            </a:r>
            <a:r>
              <a:rPr lang="zh-CN" altLang="en-US" dirty="0"/>
              <a:t>实验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0" y="1856144"/>
            <a:ext cx="4114800" cy="1244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0550" y="378874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数据集重平衡实验结果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50" y="4395172"/>
            <a:ext cx="4229100" cy="11684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376464" y="11232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深度—视觉—语言对齐实验结果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964" y="1748194"/>
            <a:ext cx="4699000" cy="146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2873</Words>
  <Application>WPS 演示</Application>
  <PresentationFormat>全屏显示(4:3)</PresentationFormat>
  <Paragraphs>235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4" baseType="lpstr">
      <vt:lpstr>Arial</vt:lpstr>
      <vt:lpstr>宋体</vt:lpstr>
      <vt:lpstr>Wingdings</vt:lpstr>
      <vt:lpstr>Noto Sans CJK SC</vt:lpstr>
      <vt:lpstr>FFont-Family</vt:lpstr>
      <vt:lpstr>Helvetica Neue</vt:lpstr>
      <vt:lpstr>Arial</vt:lpstr>
      <vt:lpstr>PingFang SC</vt:lpstr>
      <vt:lpstr>微软雅黑</vt:lpstr>
      <vt:lpstr>Noto Sans CJK SC</vt:lpstr>
      <vt:lpstr>Noto Sans CJK SC</vt:lpstr>
      <vt:lpstr>Noto Sans CJK SC</vt:lpstr>
      <vt:lpstr>Cambria Math</vt:lpstr>
      <vt:lpstr>Arial Unicode MS</vt:lpstr>
      <vt:lpstr>Calibri</vt:lpstr>
      <vt:lpstr>MingLiU-ExtB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xy w</cp:lastModifiedBy>
  <cp:revision>15</cp:revision>
  <dcterms:created xsi:type="dcterms:W3CDTF">2014-03-21T19:02:00Z</dcterms:created>
  <dcterms:modified xsi:type="dcterms:W3CDTF">2026-09-10T08:06:49Z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C405066B904742AFA3B0F35973DD12B3_13</vt:lpwstr>
  </property>
  <property fmtid="{D5CDD505-2E9C-101B-9397-08002B2CF9AE}" pid="3" name="KSOProductBuildVer">
    <vt:lpwstr>2052-12.1.0.28485</vt:lpwstr>
  </property>
</Properties>
</file>