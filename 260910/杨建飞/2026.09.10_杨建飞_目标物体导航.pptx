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5"/>
  </p:handoutMasterIdLst>
  <p:sldIdLst>
    <p:sldId id="265" r:id="rId3"/>
    <p:sldId id="266" r:id="rId4"/>
    <p:sldId id="267" r:id="rId5"/>
    <p:sldId id="270" r:id="rId6"/>
    <p:sldId id="271" r:id="rId7"/>
    <p:sldId id="272" r:id="rId8"/>
    <p:sldId id="284" r:id="rId9"/>
    <p:sldId id="273" r:id="rId10"/>
    <p:sldId id="274" r:id="rId11"/>
    <p:sldId id="275" r:id="rId12"/>
    <p:sldId id="276" r:id="rId13"/>
    <p:sldId id="277" r:id="rId14"/>
    <p:sldId id="278" r:id="rId15"/>
    <p:sldId id="281" r:id="rId16"/>
    <p:sldId id="285" r:id="rId17"/>
    <p:sldId id="283" r:id="rId18"/>
    <p:sldId id="279" r:id="rId19"/>
    <p:sldId id="282" r:id="rId20"/>
    <p:sldId id="256" r:id="rId21"/>
    <p:sldId id="262" r:id="rId23"/>
    <p:sldId id="26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3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5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image" Target="../media/image22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9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0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81.xml"/><Relationship Id="rId4" Type="http://schemas.openxmlformats.org/officeDocument/2006/relationships/image" Target="../media/image28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29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064000" y="5883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arxiv 8.10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4220"/>
            <a:ext cx="12192000" cy="2829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83540" y="928370"/>
            <a:ext cx="11389995" cy="2210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动机</a:t>
            </a:r>
            <a:r>
              <a:rPr lang="en-US" altLang="zh-CN"/>
              <a:t>：</a:t>
            </a:r>
            <a:br>
              <a:rPr lang="zh-CN" altLang="en-US"/>
            </a:br>
            <a:r>
              <a:rPr lang="en-US" altLang="zh-CN"/>
              <a:t>      </a:t>
            </a:r>
            <a:r>
              <a:rPr lang="zh-CN" altLang="en-US"/>
              <a:t>零样本具身导航中</a:t>
            </a:r>
            <a:r>
              <a:rPr lang="en-US" altLang="zh-CN"/>
              <a:t>，</a:t>
            </a:r>
            <a:r>
              <a:rPr lang="zh-CN" altLang="en-US"/>
              <a:t>现有方法普遍存在</a:t>
            </a:r>
            <a:r>
              <a:rPr lang="en-US" altLang="zh-CN"/>
              <a:t>2</a:t>
            </a:r>
            <a:r>
              <a:rPr lang="zh-CN" altLang="en-US"/>
              <a:t>个问题</a:t>
            </a:r>
            <a:r>
              <a:rPr lang="en-US" altLang="zh-CN"/>
              <a:t>：</a:t>
            </a:r>
            <a:endParaRPr lang="en-US" altLang="zh-CN"/>
          </a:p>
          <a:p>
            <a:pPr indent="457200"/>
            <a:r>
              <a:rPr lang="en-US" altLang="zh-CN"/>
              <a:t>1.</a:t>
            </a:r>
            <a:r>
              <a:rPr lang="zh-CN" altLang="en-US"/>
              <a:t>探索</a:t>
            </a:r>
            <a:r>
              <a:rPr lang="zh-CN" altLang="en-US"/>
              <a:t>效率</a:t>
            </a:r>
            <a:endParaRPr lang="zh-CN" altLang="en-US"/>
          </a:p>
          <a:p>
            <a:pPr marL="457200" lvl="1" indent="457200"/>
            <a:r>
              <a:rPr lang="zh-CN" altLang="en-US"/>
              <a:t>探索时间</a:t>
            </a:r>
            <a:r>
              <a:rPr lang="en-US" altLang="zh-CN"/>
              <a:t>：</a:t>
            </a:r>
            <a:r>
              <a:rPr lang="zh-CN" altLang="en-US"/>
              <a:t>证据门控的感知机制</a:t>
            </a:r>
            <a:r>
              <a:rPr lang="en-US" altLang="zh-CN"/>
              <a:t>，</a:t>
            </a:r>
            <a:r>
              <a:rPr lang="zh-CN" altLang="en-US"/>
              <a:t>减少计算量</a:t>
            </a:r>
            <a:r>
              <a:rPr lang="en-US" altLang="zh-CN"/>
              <a:t>、</a:t>
            </a:r>
            <a:r>
              <a:rPr lang="zh-CN" altLang="en-US"/>
              <a:t>保证了原始语义一致性</a:t>
            </a:r>
            <a:endParaRPr lang="en-US" altLang="zh-CN"/>
          </a:p>
          <a:p>
            <a:pPr marL="457200" lvl="1" indent="457200"/>
            <a:r>
              <a:rPr lang="zh-CN" altLang="en-US"/>
              <a:t>探索路径</a:t>
            </a:r>
            <a:r>
              <a:rPr lang="en-US" altLang="zh-CN"/>
              <a:t>：frontier</a:t>
            </a:r>
            <a:r>
              <a:rPr lang="zh-CN" altLang="en-US"/>
              <a:t>选择利用</a:t>
            </a:r>
            <a:r>
              <a:rPr lang="en-US" altLang="zh-CN"/>
              <a:t>3</a:t>
            </a:r>
            <a:r>
              <a:rPr lang="zh-CN" altLang="en-US"/>
              <a:t>种信息获得最佳前沿点</a:t>
            </a:r>
            <a:r>
              <a:rPr lang="en-US" altLang="zh-CN"/>
              <a:t>（</a:t>
            </a:r>
            <a:r>
              <a:rPr lang="zh-CN" altLang="en-US"/>
              <a:t>语义相关性</a:t>
            </a:r>
            <a:r>
              <a:rPr lang="en-US" altLang="zh-CN"/>
              <a:t>，</a:t>
            </a:r>
            <a:r>
              <a:rPr lang="zh-CN" altLang="en-US"/>
              <a:t>可获取信息量</a:t>
            </a:r>
            <a:r>
              <a:rPr lang="en-US" altLang="zh-CN"/>
              <a:t>，</a:t>
            </a:r>
            <a:r>
              <a:rPr lang="zh-CN" altLang="en-US"/>
              <a:t>路径长度</a:t>
            </a:r>
            <a:r>
              <a:rPr lang="en-US" altLang="zh-CN"/>
              <a:t>）</a:t>
            </a:r>
            <a:endParaRPr lang="zh-CN" altLang="en-US"/>
          </a:p>
          <a:p>
            <a:pPr indent="457200"/>
            <a:r>
              <a:rPr lang="en-US" altLang="zh-CN"/>
              <a:t>2.</a:t>
            </a:r>
            <a:r>
              <a:rPr lang="zh-CN" altLang="en-US"/>
              <a:t>目标</a:t>
            </a:r>
            <a:r>
              <a:rPr lang="zh-CN" altLang="en-US"/>
              <a:t>确认</a:t>
            </a:r>
            <a:endParaRPr lang="zh-CN" altLang="en-US"/>
          </a:p>
          <a:p>
            <a:pPr marL="457200" lvl="1" indent="457200"/>
            <a:r>
              <a:rPr lang="zh-CN" altLang="en-US"/>
              <a:t>设计一种证据融合机制</a:t>
            </a:r>
            <a:r>
              <a:rPr lang="en-US" altLang="zh-CN"/>
              <a:t>，</a:t>
            </a:r>
            <a:r>
              <a:rPr lang="zh-CN" altLang="en-US"/>
              <a:t>解决单次误检</a:t>
            </a:r>
            <a:r>
              <a:rPr lang="en-US" altLang="zh-CN"/>
              <a:t>，</a:t>
            </a:r>
            <a:r>
              <a:rPr lang="zh-CN" altLang="en-US"/>
              <a:t>视觉相似干扰物导致置信度虚高的</a:t>
            </a:r>
            <a:r>
              <a:rPr lang="zh-CN" altLang="en-US"/>
              <a:t>问题</a:t>
            </a:r>
            <a:endParaRPr lang="zh-CN" altLang="en-US"/>
          </a:p>
          <a:p>
            <a:pPr marL="457200" lvl="1" indent="457200"/>
            <a:endParaRPr lang="zh-CN" altLang="en-US"/>
          </a:p>
          <a:p>
            <a:pPr indent="457200"/>
            <a:br>
              <a:rPr lang="zh-CN" altLang="en-US"/>
            </a:br>
            <a:r>
              <a:rPr lang="en-US" altLang="zh-CN"/>
              <a:t>	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570" y="2976245"/>
            <a:ext cx="7501890" cy="3632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" y="1058545"/>
            <a:ext cx="11309985" cy="56781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302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475" y="2003425"/>
            <a:ext cx="5504815" cy="32962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65" y="2625090"/>
            <a:ext cx="3694430" cy="8515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63115"/>
            <a:ext cx="5267325" cy="561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" y="3404870"/>
            <a:ext cx="5283200" cy="12147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70" y="4769485"/>
            <a:ext cx="4458335" cy="5302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90" y="970915"/>
            <a:ext cx="10400030" cy="52216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" y="6223635"/>
            <a:ext cx="4735830" cy="4311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885" y="6268720"/>
            <a:ext cx="4536440" cy="3860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158875"/>
            <a:ext cx="7048500" cy="54959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740"/>
            <a:ext cx="12192000" cy="45872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155" y="1223010"/>
            <a:ext cx="6410325" cy="2628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755" y="4091305"/>
            <a:ext cx="5191125" cy="19716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425"/>
            <a:ext cx="12192000" cy="61245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064000" y="5883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ICRA 2026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45" y="1819275"/>
            <a:ext cx="11039475" cy="32194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18110" y="928370"/>
            <a:ext cx="11941175" cy="5845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动机</a:t>
            </a:r>
            <a:r>
              <a:rPr lang="en-US" altLang="zh-CN"/>
              <a:t>：</a:t>
            </a:r>
            <a:br>
              <a:rPr lang="zh-CN" altLang="en-US"/>
            </a:br>
            <a:r>
              <a:rPr lang="en-US" altLang="zh-CN"/>
              <a:t>      </a:t>
            </a:r>
            <a:r>
              <a:rPr lang="zh-CN" altLang="en-US"/>
              <a:t>零样本具身导航中</a:t>
            </a:r>
            <a:r>
              <a:rPr lang="en-US" altLang="zh-CN"/>
              <a:t>，</a:t>
            </a:r>
            <a:r>
              <a:rPr lang="zh-CN" altLang="en-US"/>
              <a:t>现有方法普遍存在</a:t>
            </a:r>
            <a:r>
              <a:rPr lang="en-US" altLang="zh-CN"/>
              <a:t>3</a:t>
            </a:r>
            <a:r>
              <a:rPr lang="zh-CN" altLang="en-US"/>
              <a:t>个问题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pPr indent="457200"/>
            <a:r>
              <a:rPr lang="en-US" altLang="zh-CN"/>
              <a:t>1.</a:t>
            </a:r>
            <a:r>
              <a:rPr lang="zh-CN" altLang="en-US"/>
              <a:t>环境理解缺乏全局结构</a:t>
            </a:r>
            <a:endParaRPr lang="zh-CN" altLang="en-US"/>
          </a:p>
          <a:p>
            <a:pPr marL="457200" lvl="1" indent="457200"/>
            <a:r>
              <a:rPr lang="zh-CN" altLang="en-US"/>
              <a:t>现有方法主要依赖局部观测，难以联合利用物体关系、房间布局和探索历史，导致导航决策短视</a:t>
            </a:r>
            <a:endParaRPr lang="zh-CN" altLang="en-US"/>
          </a:p>
          <a:p>
            <a:pPr marL="457200" lvl="1" indent="457200"/>
            <a:endParaRPr lang="zh-CN" altLang="en-US"/>
          </a:p>
          <a:p>
            <a:pPr marL="457200" lvl="1" indent="457200"/>
            <a:r>
              <a:rPr lang="zh-CN" altLang="en-US">
                <a:sym typeface="+mn-ea"/>
              </a:rPr>
              <a:t>提出</a:t>
            </a:r>
            <a:r>
              <a:rPr lang="en-US" altLang="zh-CN">
                <a:sym typeface="+mn-ea"/>
              </a:rPr>
              <a:t>：</a:t>
            </a:r>
            <a:r>
              <a:rPr lang="en-US" altLang="zh-CN"/>
              <a:t>“</a:t>
            </a:r>
            <a:r>
              <a:rPr lang="zh-CN" altLang="en-US"/>
              <a:t>物体</a:t>
            </a:r>
            <a:r>
              <a:rPr lang="en-US" altLang="zh-CN"/>
              <a:t>—</a:t>
            </a:r>
            <a:r>
              <a:rPr lang="zh-CN" altLang="en-US"/>
              <a:t>视点</a:t>
            </a:r>
            <a:r>
              <a:rPr lang="en-US" altLang="zh-CN"/>
              <a:t>—</a:t>
            </a:r>
            <a:r>
              <a:rPr lang="zh-CN" altLang="en-US"/>
              <a:t>房间</a:t>
            </a:r>
            <a:r>
              <a:rPr lang="en-US" altLang="zh-CN"/>
              <a:t>”</a:t>
            </a:r>
            <a:r>
              <a:rPr lang="zh-CN" altLang="en-US"/>
              <a:t>三层环境表示</a:t>
            </a:r>
            <a:r>
              <a:rPr lang="zh-CN" altLang="en-US"/>
              <a:t>方法</a:t>
            </a:r>
            <a:endParaRPr lang="zh-CN" altLang="en-US"/>
          </a:p>
          <a:p>
            <a:pPr marL="457200" lvl="1" indent="457200"/>
            <a:endParaRPr lang="zh-CN" altLang="en-US"/>
          </a:p>
          <a:p>
            <a:pPr indent="457200"/>
            <a:r>
              <a:rPr lang="en-US" altLang="zh-CN"/>
              <a:t>2.</a:t>
            </a:r>
            <a:r>
              <a:rPr lang="zh-CN" altLang="en-US"/>
              <a:t>探索</a:t>
            </a:r>
            <a:r>
              <a:rPr lang="zh-CN" altLang="en-US"/>
              <a:t>效率</a:t>
            </a:r>
            <a:endParaRPr lang="zh-CN" altLang="en-US"/>
          </a:p>
          <a:p>
            <a:pPr marL="457200" lvl="1" indent="457200"/>
            <a:r>
              <a:rPr lang="zh-CN" altLang="en-US">
                <a:sym typeface="+mn-ea"/>
              </a:rPr>
              <a:t>探索路径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过度依赖局部语义，忽略探索进度与移动代价，容易反复回退、重复探索</a:t>
            </a:r>
            <a:endParaRPr lang="zh-CN" altLang="en-US"/>
          </a:p>
          <a:p>
            <a:pPr marL="457200" lvl="1" indent="457200"/>
            <a:r>
              <a:rPr lang="zh-CN" altLang="en-US"/>
              <a:t>推理开销</a:t>
            </a:r>
            <a:r>
              <a:rPr lang="en-US" altLang="zh-CN"/>
              <a:t>：</a:t>
            </a:r>
            <a:r>
              <a:rPr lang="zh-CN" altLang="en-US"/>
              <a:t>逐步调用</a:t>
            </a:r>
            <a:r>
              <a:rPr lang="en-US" altLang="zh-CN"/>
              <a:t>VLM</a:t>
            </a:r>
            <a:r>
              <a:rPr lang="zh-CN" altLang="en-US"/>
              <a:t>选择前沿点，存在不必要的模型调用</a:t>
            </a:r>
            <a:endParaRPr lang="zh-CN" altLang="en-US"/>
          </a:p>
          <a:p>
            <a:pPr marL="457200" lvl="1" indent="457200"/>
            <a:endParaRPr lang="zh-CN" altLang="en-US"/>
          </a:p>
          <a:p>
            <a:pPr marL="457200" lvl="1" indent="457200"/>
            <a:r>
              <a:rPr lang="zh-CN" altLang="en-US"/>
              <a:t>提出</a:t>
            </a:r>
            <a:r>
              <a:rPr lang="en-US" altLang="zh-CN"/>
              <a:t>：</a:t>
            </a:r>
            <a:r>
              <a:rPr lang="zh-CN" altLang="en-US"/>
              <a:t>采用</a:t>
            </a:r>
            <a:r>
              <a:rPr lang="en-US" altLang="zh-CN"/>
              <a:t>“</a:t>
            </a:r>
            <a:r>
              <a:rPr lang="zh-CN" altLang="en-US"/>
              <a:t>房间级</a:t>
            </a:r>
            <a:r>
              <a:rPr lang="en-US" altLang="zh-CN"/>
              <a:t>VLM</a:t>
            </a:r>
            <a:r>
              <a:rPr lang="zh-CN" altLang="en-US"/>
              <a:t>规划＋房间内前沿探索</a:t>
            </a:r>
            <a:r>
              <a:rPr lang="en-US" altLang="zh-CN"/>
              <a:t>”</a:t>
            </a:r>
            <a:r>
              <a:rPr lang="zh-CN" altLang="en-US"/>
              <a:t>的分层策略，在关键决策时调用</a:t>
            </a:r>
            <a:r>
              <a:rPr lang="en-US" altLang="zh-CN"/>
              <a:t>VLM</a:t>
            </a:r>
            <a:r>
              <a:rPr lang="zh-CN" altLang="en-US"/>
              <a:t>，并判断是否提前结束当前房间的探索。</a:t>
            </a:r>
            <a:endParaRPr lang="zh-CN" altLang="en-US"/>
          </a:p>
          <a:p>
            <a:pPr marL="457200" lvl="1" indent="457200"/>
            <a:endParaRPr lang="zh-CN" altLang="en-US"/>
          </a:p>
          <a:p>
            <a:pPr indent="457200"/>
            <a:r>
              <a:rPr lang="en-US" altLang="zh-CN"/>
              <a:t>2.</a:t>
            </a:r>
            <a:r>
              <a:rPr lang="zh-CN" altLang="en-US"/>
              <a:t>目标</a:t>
            </a:r>
            <a:r>
              <a:rPr lang="zh-CN" altLang="en-US"/>
              <a:t>确认</a:t>
            </a:r>
            <a:endParaRPr lang="zh-CN" altLang="en-US"/>
          </a:p>
          <a:p>
            <a:pPr indent="457200"/>
            <a:endParaRPr lang="zh-CN" altLang="en-US"/>
          </a:p>
          <a:p>
            <a:pPr marL="457200" lvl="1" indent="457200"/>
            <a:r>
              <a:rPr lang="zh-CN" altLang="en-US"/>
              <a:t>仅依赖检测结果容易产生误检；远距离、遮挡和不佳视角进一步降低判断可靠性</a:t>
            </a:r>
            <a:endParaRPr lang="zh-CN" altLang="en-US"/>
          </a:p>
          <a:p>
            <a:pPr marL="457200" lvl="1" indent="457200"/>
            <a:endParaRPr lang="zh-CN" altLang="en-US"/>
          </a:p>
          <a:p>
            <a:pPr marL="457200" lvl="1" indent="457200"/>
            <a:r>
              <a:rPr lang="zh-CN" altLang="en-US"/>
              <a:t>提出</a:t>
            </a:r>
            <a:r>
              <a:rPr lang="en-US" altLang="zh-CN"/>
              <a:t>：vlm</a:t>
            </a:r>
            <a:r>
              <a:rPr lang="zh-CN" altLang="en-US"/>
              <a:t>辅助确定目标</a:t>
            </a:r>
            <a:r>
              <a:rPr lang="en-US" altLang="zh-CN"/>
              <a:t>，</a:t>
            </a:r>
            <a:r>
              <a:rPr lang="zh-CN" altLang="en-US"/>
              <a:t>接近目标路径选择更好的观察位置</a:t>
            </a:r>
            <a:r>
              <a:rPr lang="en-US" altLang="zh-CN"/>
              <a:t>，</a:t>
            </a:r>
            <a:r>
              <a:rPr lang="zh-CN" altLang="en-US"/>
              <a:t>选择性复</a:t>
            </a:r>
            <a:r>
              <a:rPr lang="zh-CN" altLang="en-US"/>
              <a:t>检</a:t>
            </a:r>
            <a:endParaRPr lang="zh-CN" altLang="en-US"/>
          </a:p>
          <a:p>
            <a:pPr indent="457200"/>
            <a:br>
              <a:rPr lang="zh-CN" altLang="en-US"/>
            </a:br>
            <a:r>
              <a:rPr lang="en-US" altLang="zh-CN"/>
              <a:t>	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595"/>
            <a:ext cx="12192000" cy="45573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" y="1113790"/>
            <a:ext cx="5094605" cy="3862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605" y="977265"/>
            <a:ext cx="4970145" cy="39992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810" y="5198745"/>
            <a:ext cx="6511290" cy="16910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010"/>
            <a:ext cx="12192000" cy="45573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4145" y="5458460"/>
            <a:ext cx="1117155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True Frontier</a:t>
            </a:r>
            <a:r>
              <a:rPr lang="zh-CN" altLang="en-US" sz="1600"/>
              <a:t>：位于房间边界附近，后面可能连接走廊、门口或其他尚未探索的空间。</a:t>
            </a:r>
            <a:endParaRPr lang="zh-CN" altLang="en-US" sz="1600"/>
          </a:p>
          <a:p>
            <a:r>
              <a:rPr lang="en-US" altLang="zh-CN" sz="1600"/>
              <a:t>Inner Frontier</a:t>
            </a:r>
            <a:r>
              <a:rPr lang="zh-CN" altLang="en-US" sz="1600"/>
              <a:t>：位于房间内部，通常是沙发、桌子等家具遮挡后产生的小块未知区域。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144145" y="6051550"/>
            <a:ext cx="797814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先进行房间分割，再根据</a:t>
            </a:r>
            <a:r>
              <a:rPr lang="en-US" altLang="zh-CN" sz="1600"/>
              <a:t>frontier</a:t>
            </a:r>
            <a:r>
              <a:rPr lang="zh-CN" altLang="en-US" sz="1600"/>
              <a:t>的位置进行分类：</a:t>
            </a:r>
            <a:r>
              <a:rPr lang="en-US" altLang="zh-CN" sz="1600"/>
              <a:t>	</a:t>
            </a:r>
            <a:endParaRPr lang="zh-CN" altLang="en-US" sz="1600"/>
          </a:p>
          <a:p>
            <a:pPr lvl="1">
              <a:buFont typeface="Arial" panose="020B0604020202090204"/>
              <a:buChar char="•"/>
            </a:pPr>
            <a:r>
              <a:rPr lang="zh-CN" altLang="en-US" sz="1600"/>
              <a:t>超过</a:t>
            </a:r>
            <a:r>
              <a:rPr lang="en-US" altLang="zh-CN" sz="1600"/>
              <a:t>60%</a:t>
            </a:r>
            <a:r>
              <a:rPr lang="zh-CN" altLang="en-US" sz="1600"/>
              <a:t>的点位于房间内部，判为 </a:t>
            </a:r>
            <a:r>
              <a:rPr lang="en-US" altLang="zh-CN" sz="1600"/>
              <a:t>Inner Frontier</a:t>
            </a:r>
            <a:r>
              <a:rPr lang="zh-CN" altLang="en-US" sz="1600"/>
              <a:t>，通常来自家具遮挡。</a:t>
            </a:r>
            <a:endParaRPr lang="zh-CN" altLang="en-US" sz="1600"/>
          </a:p>
          <a:p>
            <a:pPr lvl="1">
              <a:buFont typeface="Arial" panose="020B0604020202090204"/>
              <a:buChar char="•"/>
            </a:pPr>
            <a:r>
              <a:rPr lang="zh-CN" altLang="en-US" sz="1600"/>
              <a:t>否则判为 </a:t>
            </a:r>
            <a:r>
              <a:rPr lang="en-US" altLang="zh-CN" sz="1600"/>
              <a:t>True Frontier</a:t>
            </a:r>
            <a:r>
              <a:rPr lang="zh-CN" altLang="en-US" sz="1600"/>
              <a:t>，通常位于房间边界，可能通向未探索区域。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" y="1284605"/>
            <a:ext cx="10666095" cy="49599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045"/>
            <a:ext cx="12192000" cy="45573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12192000" cy="31127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30040"/>
            <a:ext cx="12192000" cy="24269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485"/>
            <a:ext cx="12192000" cy="4168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" y="5009515"/>
            <a:ext cx="5092065" cy="16624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435" y="5001260"/>
            <a:ext cx="5759450" cy="18351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5120" y="786765"/>
            <a:ext cx="1186624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目标物体导航任务</a:t>
            </a:r>
            <a:r>
              <a:rPr lang="en-US" altLang="zh-CN"/>
              <a:t>：</a:t>
            </a:r>
            <a:r>
              <a:rPr lang="zh-CN" altLang="en-US"/>
              <a:t>目标物体的判断决定了任务的最终成功率</a:t>
            </a:r>
            <a:endParaRPr lang="zh-CN" altLang="en-US"/>
          </a:p>
          <a:p>
            <a:pPr marL="450215" indent="0" fontAlgn="auto"/>
            <a:br>
              <a:rPr lang="zh-CN" altLang="en-US"/>
            </a:br>
            <a:r>
              <a:rPr lang="en-US" altLang="zh-CN"/>
              <a:t>baseline</a:t>
            </a:r>
            <a:r>
              <a:rPr lang="zh-CN" altLang="en-US"/>
              <a:t>为了解决对目标判断采用历史最大置信度导致的单帧误检问题</a:t>
            </a:r>
            <a:r>
              <a:rPr lang="en-US" altLang="zh-CN"/>
              <a:t>，</a:t>
            </a:r>
            <a:r>
              <a:rPr lang="zh-CN" altLang="en-US"/>
              <a:t>引入了目标中心的语义融合机制</a:t>
            </a:r>
            <a:r>
              <a:rPr lang="en-US" altLang="zh-CN"/>
              <a:t>；mask-</a:t>
            </a:r>
            <a:r>
              <a:rPr lang="zh-CN" altLang="en-US"/>
              <a:t>点云</a:t>
            </a:r>
            <a:r>
              <a:rPr lang="en-US" altLang="zh-CN"/>
              <a:t>-</a:t>
            </a:r>
            <a:r>
              <a:rPr lang="zh-CN" altLang="en-US"/>
              <a:t>关联历史实例</a:t>
            </a:r>
            <a:r>
              <a:rPr lang="en-US" altLang="zh-CN"/>
              <a:t>-</a:t>
            </a:r>
            <a:r>
              <a:rPr lang="zh-CN" altLang="en-US"/>
              <a:t>历史实例累计观测次数</a:t>
            </a:r>
            <a:r>
              <a:rPr lang="en-US" altLang="zh-CN"/>
              <a:t>-</a:t>
            </a:r>
            <a:r>
              <a:rPr lang="zh-CN" altLang="en-US"/>
              <a:t>最终判定目标</a:t>
            </a:r>
            <a:r>
              <a:rPr lang="en-US" altLang="zh-CN"/>
              <a:t>；</a:t>
            </a:r>
            <a:endParaRPr lang="en-US" altLang="zh-CN"/>
          </a:p>
          <a:p>
            <a:pPr indent="457200"/>
            <a:endParaRPr lang="en-US" altLang="zh-CN"/>
          </a:p>
          <a:p>
            <a:pPr indent="457200"/>
            <a:r>
              <a:rPr lang="zh-CN" altLang="en-US"/>
              <a:t>虽然解决了单帧偶发误检</a:t>
            </a:r>
            <a:r>
              <a:rPr lang="en-US" altLang="zh-CN"/>
              <a:t>，</a:t>
            </a:r>
            <a:r>
              <a:rPr lang="zh-CN" altLang="en-US"/>
              <a:t>但是存在一个隐含假设</a:t>
            </a:r>
            <a:r>
              <a:rPr lang="en-US" altLang="zh-CN"/>
              <a:t>，</a:t>
            </a:r>
            <a:r>
              <a:rPr lang="zh-CN" altLang="en-US"/>
              <a:t>不同时间的多帧观测</a:t>
            </a:r>
            <a:r>
              <a:rPr lang="en-US" altLang="zh-CN"/>
              <a:t>，</a:t>
            </a:r>
            <a:r>
              <a:rPr lang="zh-CN" altLang="en-US"/>
              <a:t>可以作为多份新的证据</a:t>
            </a:r>
            <a:r>
              <a:rPr lang="en-US" altLang="zh-CN"/>
              <a:t>。</a:t>
            </a:r>
            <a:endParaRPr lang="en-US" altLang="zh-CN"/>
          </a:p>
          <a:p>
            <a:pPr indent="457200"/>
            <a:r>
              <a:rPr lang="zh-CN" altLang="en-US"/>
              <a:t>导致</a:t>
            </a:r>
            <a:r>
              <a:rPr lang="en-US" altLang="zh-CN"/>
              <a:t>，</a:t>
            </a:r>
            <a:r>
              <a:rPr lang="zh-CN" altLang="en-US" sz="2000">
                <a:solidFill>
                  <a:srgbClr val="FF0000"/>
                </a:solidFill>
              </a:rPr>
              <a:t>错误的物体在近似方向反复被识别成目标物体</a:t>
            </a:r>
            <a:r>
              <a:rPr lang="en-US" altLang="zh-CN" sz="2000">
                <a:solidFill>
                  <a:srgbClr val="FF0000"/>
                </a:solidFill>
              </a:rPr>
              <a:t>，</a:t>
            </a:r>
            <a:r>
              <a:rPr lang="zh-CN" altLang="en-US" sz="2000">
                <a:solidFill>
                  <a:srgbClr val="FF0000"/>
                </a:solidFill>
              </a:rPr>
              <a:t>最终导致任务失败</a:t>
            </a:r>
            <a:r>
              <a:rPr lang="en-US" altLang="zh-CN"/>
              <a:t>。</a:t>
            </a:r>
            <a:endParaRPr lang="en-US" altLang="zh-CN"/>
          </a:p>
          <a:p>
            <a:pPr indent="457200"/>
            <a:endParaRPr lang="en-US" altLang="zh-CN"/>
          </a:p>
          <a:p>
            <a:pPr indent="457200"/>
            <a:r>
              <a:rPr lang="zh-CN" altLang="en-US"/>
              <a:t>提出多角度累计机制</a:t>
            </a:r>
            <a:r>
              <a:rPr lang="en-US" altLang="zh-CN"/>
              <a:t>，</a:t>
            </a:r>
            <a:r>
              <a:rPr lang="zh-CN" altLang="en-US"/>
              <a:t>为每个历史实例内部增加一套角度证据</a:t>
            </a:r>
            <a:r>
              <a:rPr lang="en-US" altLang="zh-CN"/>
              <a:t>。</a:t>
            </a:r>
            <a:r>
              <a:rPr lang="zh-CN" altLang="en-US"/>
              <a:t>从而抑制这种单角度带来的误检问题</a:t>
            </a:r>
            <a:endParaRPr lang="zh-CN" altLang="en-US"/>
          </a:p>
          <a:p>
            <a:pPr indent="457200"/>
            <a:endParaRPr lang="en-US" altLang="zh-CN"/>
          </a:p>
          <a:p>
            <a:pPr marL="457200" lvl="1" indent="457200"/>
            <a:endParaRPr lang="en-US" altLang="zh-CN"/>
          </a:p>
        </p:txBody>
      </p:sp>
      <p:pic>
        <p:nvPicPr>
          <p:cNvPr id="2" name="idx888_baseline_fp_vs_schema13_success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2575" y="3429000"/>
            <a:ext cx="9086850" cy="33807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 descr="ChatGPT Image 2026年8月27日 19_21_24"/>
          <p:cNvPicPr>
            <a:picLocks noChangeAspect="1"/>
          </p:cNvPicPr>
          <p:nvPr/>
        </p:nvPicPr>
        <p:blipFill>
          <a:blip r:embed="rId2"/>
          <a:srcRect t="5472" b="20296"/>
          <a:stretch>
            <a:fillRect/>
          </a:stretch>
        </p:blipFill>
        <p:spPr>
          <a:xfrm>
            <a:off x="0" y="1236345"/>
            <a:ext cx="12185015" cy="50907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000" cy="6891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0" y="1064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实验结果</a:t>
            </a:r>
            <a:r>
              <a:rPr lang="en-US" altLang="zh-CN"/>
              <a:t>1000episode：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1660"/>
            <a:ext cx="12192000" cy="6578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655" y="3262630"/>
            <a:ext cx="7298690" cy="9759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</Words>
  <Application>WPS 演示</Application>
  <PresentationFormat>宽屏</PresentationFormat>
  <Paragraphs>52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PingFang SC Semibold</vt:lpstr>
      <vt:lpstr>苹方-简</vt:lpstr>
      <vt:lpstr>微软雅黑</vt:lpstr>
      <vt:lpstr>汉仪旗黑</vt:lpstr>
      <vt:lpstr>宋体</vt:lpstr>
      <vt:lpstr>Arial Unicode MS</vt:lpstr>
      <vt:lpstr>汉仪书宋二KW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Fiee</cp:lastModifiedBy>
  <cp:revision>185</cp:revision>
  <dcterms:created xsi:type="dcterms:W3CDTF">2026-09-10T09:00:53Z</dcterms:created>
  <dcterms:modified xsi:type="dcterms:W3CDTF">2026-09-10T09:00:53Z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57EE65C887252B791926906AC23CD683_43</vt:lpwstr>
  </property>
</Properties>
</file>